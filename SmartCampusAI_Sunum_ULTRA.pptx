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457200"/>
            <a:ext cx="2743200" cy="0"/>
          </a:xfrm>
          <a:prstGeom prst="line">
            <a:avLst/>
          </a:prstGeom>
          <a:ln w="508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457200" y="457200"/>
            <a:ext cx="0" cy="1828800"/>
          </a:xfrm>
          <a:prstGeom prst="line">
            <a:avLst/>
          </a:prstGeom>
          <a:ln w="508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961120" y="365760"/>
            <a:ext cx="2743200" cy="365760"/>
          </a:xfrm>
          <a:prstGeom prst="roundRect">
            <a:avLst>
              <a:gd name="adj" fmla="val 5000"/>
            </a:avLst>
          </a:prstGeom>
          <a:solidFill>
            <a:srgbClr val="D97706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0" y="365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FFFFFF"/>
                </a:solidFill>
                <a:latin typeface="Segoe UI"/>
              </a:defRPr>
            </a:pPr>
            <a:r>
              <a:t>🔒  GIZLI &amp; OZEL DOKUMAN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6000" b="1">
                <a:solidFill>
                  <a:srgbClr val="FFFFFF"/>
                </a:solidFill>
                <a:latin typeface="Segoe UI Black"/>
              </a:defRPr>
            </a:pPr>
            <a:r>
              <a:t>SmartCampus AI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14800" y="2926080"/>
            <a:ext cx="3962095" cy="0"/>
          </a:xfrm>
          <a:prstGeom prst="line">
            <a:avLst/>
          </a:prstGeom>
          <a:ln w="508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14400" y="3200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800" b="1">
                <a:solidFill>
                  <a:srgbClr val="F59E0B"/>
                </a:solidFill>
                <a:latin typeface="Segoe UI Light"/>
              </a:defRPr>
            </a:pPr>
            <a:r>
              <a:t>Egitimin Gelecegi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9319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94A3B8"/>
                </a:solidFill>
                <a:latin typeface="Segoe UI"/>
              </a:defRPr>
            </a:pPr>
            <a:r>
              <a:t>Turkiye'nin en kapsamli, yapay zeka destekli egitim yonetim platformu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4846320"/>
            <a:ext cx="2286000" cy="731520"/>
          </a:xfrm>
          <a:prstGeom prst="roundRect">
            <a:avLst>
              <a:gd name="adj" fmla="val 5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49194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400" b="1">
                <a:solidFill>
                  <a:srgbClr val="F59E0B"/>
                </a:solidFill>
                <a:latin typeface="Segoe UI Black"/>
              </a:defRPr>
            </a:pPr>
            <a:r>
              <a:t>30+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52578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94A3B8"/>
                </a:solidFill>
                <a:latin typeface="Segoe UI"/>
              </a:defRPr>
            </a:pPr>
            <a:r>
              <a:t>Web Modul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31920" y="4846320"/>
            <a:ext cx="2286000" cy="731520"/>
          </a:xfrm>
          <a:prstGeom prst="roundRect">
            <a:avLst>
              <a:gd name="adj" fmla="val 5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31920" y="49194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400" b="1">
                <a:solidFill>
                  <a:srgbClr val="F59E0B"/>
                </a:solidFill>
                <a:latin typeface="Segoe UI Black"/>
              </a:defRPr>
            </a:pPr>
            <a:r>
              <a:t>99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52578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94A3B8"/>
                </a:solidFill>
                <a:latin typeface="Segoe UI"/>
              </a:defRPr>
            </a:pPr>
            <a:r>
              <a:t>Mobil Sayfa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92240" y="4846320"/>
            <a:ext cx="2286000" cy="731520"/>
          </a:xfrm>
          <a:prstGeom prst="roundRect">
            <a:avLst>
              <a:gd name="adj" fmla="val 5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49194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400" b="1">
                <a:solidFill>
                  <a:srgbClr val="F59E0B"/>
                </a:solidFill>
                <a:latin typeface="Segoe UI Black"/>
              </a:defRPr>
            </a:pPr>
            <a:r>
              <a:t>143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52578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94A3B8"/>
                </a:solidFill>
                <a:latin typeface="Segoe UI"/>
              </a:defRPr>
            </a:pPr>
            <a:r>
              <a:t>API Route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60" y="4846320"/>
            <a:ext cx="2286000" cy="731520"/>
          </a:xfrm>
          <a:prstGeom prst="roundRect">
            <a:avLst>
              <a:gd name="adj" fmla="val 5000"/>
            </a:avLst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60" y="49194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400" b="1">
                <a:solidFill>
                  <a:srgbClr val="F59E0B"/>
                </a:solidFill>
                <a:latin typeface="Segoe UI Black"/>
              </a:defRPr>
            </a:pPr>
            <a: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52578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94A3B8"/>
                </a:solidFill>
                <a:latin typeface="Segoe UI"/>
              </a:defRPr>
            </a:pPr>
            <a:r>
              <a:t>Kullanici Rolu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760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64748B"/>
                </a:solidFill>
                <a:latin typeface="Segoe UI"/>
              </a:defRPr>
            </a:pPr>
            <a:r>
              <a:t>Nisan 2026  |  v3.0  |  Yatirimci Sunumu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991295" y="6035040"/>
            <a:ext cx="2743200" cy="0"/>
          </a:xfrm>
          <a:prstGeom prst="line">
            <a:avLst/>
          </a:prstGeom>
          <a:ln w="508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734495" y="4206240"/>
            <a:ext cx="0" cy="1828800"/>
          </a:xfrm>
          <a:prstGeom prst="line">
            <a:avLst/>
          </a:prstGeom>
          <a:ln w="508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9E0B"/>
                </a:solidFill>
                <a:latin typeface="Segoe UI Semibold"/>
              </a:defRPr>
            </a:pPr>
            <a:r>
              <a:t>PROBLEM TESPITI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Segoe UI Black"/>
              </a:defRPr>
            </a:pPr>
            <a:r>
              <a:t>Neden SmartCampus AI?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1005840"/>
            <a:ext cx="338328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10972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4A3B8"/>
                </a:solidFill>
                <a:latin typeface="Segoe UI"/>
              </a:defRPr>
            </a:pPr>
            <a:r>
              <a:t>Ozel okullarin yasadigi 5 kritik problem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86000"/>
            <a:ext cx="1965960" cy="3200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2331720"/>
            <a:ext cx="187452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4688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400" b="0">
                <a:solidFill>
                  <a:srgbClr val="FFFFFF"/>
                </a:solidFill>
                <a:latin typeface="Segoe UI Emoji"/>
              </a:defRPr>
            </a:pPr>
            <a:r>
              <a:t>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9260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Segoe UI"/>
              </a:defRPr>
            </a:pPr>
            <a:r>
              <a:t>Verimsizlik &amp; Zaman Kaybi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474720"/>
            <a:ext cx="1691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Ogretmenler gunde 2+ saat idari isle ugrasir. Not girisi, yoklama, raporlama hep manuel.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97480" y="2286000"/>
            <a:ext cx="1965960" cy="3200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0" y="2331720"/>
            <a:ext cx="187452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34640" y="24688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400" b="0">
                <a:solidFill>
                  <a:srgbClr val="FFFFFF"/>
                </a:solidFill>
                <a:latin typeface="Segoe UI Emoji"/>
              </a:defRPr>
            </a:pPr>
            <a:r>
              <a:t>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29260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Segoe UI"/>
              </a:defRPr>
            </a:pPr>
            <a:r>
              <a:t>Kagit Isler &amp; Maliyet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3474720"/>
            <a:ext cx="1691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Sinav basimi, form doldurmasi, arsivleme. Yillik binlerce sayfa kagit israfi.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46320" y="2286000"/>
            <a:ext cx="1965960" cy="3200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92040" y="2331720"/>
            <a:ext cx="1874520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3480" y="24688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400" b="0">
                <a:solidFill>
                  <a:srgbClr val="FFFFFF"/>
                </a:solidFill>
                <a:latin typeface="Segoe UI Emoji"/>
              </a:defRPr>
            </a:pPr>
            <a:r>
              <a:t>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3480" y="29260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Segoe UI"/>
              </a:defRPr>
            </a:pPr>
            <a:r>
              <a:t>Iletisim Kopuklugu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83480" y="3474720"/>
            <a:ext cx="1691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Veli-okul iletisimi tek yonlu. Veliler bilgiye gec ulasir. SMS maliyeti yuksek.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95160" y="2286000"/>
            <a:ext cx="1965960" cy="3200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40880" y="2331720"/>
            <a:ext cx="187452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0" y="24688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400" b="0">
                <a:solidFill>
                  <a:srgbClr val="FFFFFF"/>
                </a:solidFill>
                <a:latin typeface="Segoe UI Emoji"/>
              </a:defRPr>
            </a:pPr>
            <a:r>
              <a:t>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29260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Takip Eksikligi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3474720"/>
            <a:ext cx="1691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Ogrenci basarisi, devamsizlik, risk analizleri yapilamaz. Veri daginiik.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0" y="2286000"/>
            <a:ext cx="1965960" cy="3200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89720" y="2331720"/>
            <a:ext cx="187452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81160" y="24688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400" b="0">
                <a:solidFill>
                  <a:srgbClr val="FFFFFF"/>
                </a:solidFill>
                <a:latin typeface="Segoe UI Emoji"/>
              </a:defRPr>
            </a:pPr>
            <a:r>
              <a:t>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81160" y="29260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Segoe UI"/>
              </a:defRPr>
            </a:pPr>
            <a:r>
              <a:t>Dijitallesme Baskisi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81160" y="3474720"/>
            <a:ext cx="1691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Rakip kurumlar dijitallesirken geride kalmak kayit kaybina neden olur.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9E0B"/>
                </a:solidFill>
                <a:latin typeface="Segoe UI Semibold"/>
              </a:defRPr>
            </a:pPr>
            <a:r>
              <a:t>COZUM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Segoe UI Black"/>
              </a:defRPr>
            </a:pPr>
            <a:r>
              <a:t>Tek Platform, Sinirsiz Guc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1005840"/>
            <a:ext cx="338328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F59E0B"/>
                </a:solidFill>
                <a:latin typeface="Segoe UI"/>
              </a:defRPr>
            </a:pPr>
            <a:r>
              <a:t>Web + Mobil + API = Tam Entegre Egitim Ekosistemi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01168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2402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0">
                <a:solidFill>
                  <a:srgbClr val="FFFFFF"/>
                </a:solidFill>
                <a:latin typeface="Segoe UI Emoji"/>
              </a:defRPr>
            </a:pPr>
            <a:r>
              <a:t>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889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FFFFFF"/>
                </a:solidFill>
                <a:latin typeface="Segoe UI Black"/>
              </a:defRPr>
            </a:pPr>
            <a:r>
              <a:t>WEB PLATFORMU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83080" y="3200400"/>
            <a:ext cx="1371600" cy="274320"/>
          </a:xfrm>
          <a:prstGeom prst="roundRect">
            <a:avLst>
              <a:gd name="adj" fmla="val 5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83080" y="32004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FFFFFF"/>
                </a:solidFill>
                <a:latin typeface="Segoe UI"/>
              </a:defRPr>
            </a:pPr>
            <a:r>
              <a:t>Streamlit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65760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  <a:defRPr sz="1200" b="0">
                <a:solidFill>
                  <a:srgbClr val="94A3B8"/>
                </a:solidFill>
                <a:latin typeface="Segoe UI"/>
              </a:defRPr>
            </a:pPr>
            <a:r>
              <a:t>30+ modul, 390+ sekme</a:t>
            </a:r>
            <a:br/>
            <a:r>
              <a:t>Yonetici &amp; ogretmen paneli</a:t>
            </a:r>
            <a:br/>
            <a:r>
              <a:t>Analitik dashboard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34840" y="201168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22402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0">
                <a:solidFill>
                  <a:srgbClr val="FFFFFF"/>
                </a:solidFill>
                <a:latin typeface="Segoe UI Emoji"/>
              </a:defRPr>
            </a:pPr>
            <a:r>
              <a:t>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7889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FFFFFF"/>
                </a:solidFill>
                <a:latin typeface="Segoe UI Black"/>
              </a:defRPr>
            </a:pPr>
            <a:r>
              <a:t>MOBIL UYGULAMA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94960" y="3200400"/>
            <a:ext cx="1371600" cy="274320"/>
          </a:xfrm>
          <a:prstGeom prst="roundRect">
            <a:avLst>
              <a:gd name="adj" fmla="val 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0" y="32004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FFFFFF"/>
                </a:solidFill>
                <a:latin typeface="Segoe UI"/>
              </a:defRPr>
            </a:pPr>
            <a:r>
              <a:t>Flutter Android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60" y="365760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  <a:defRPr sz="1200" b="0">
                <a:solidFill>
                  <a:srgbClr val="94A3B8"/>
                </a:solidFill>
                <a:latin typeface="Segoe UI"/>
              </a:defRPr>
            </a:pPr>
            <a:r>
              <a:t>99 sayfa, 5 rol</a:t>
            </a:r>
            <a:br/>
            <a:r>
              <a:t>Offline mod, bildirimler</a:t>
            </a:r>
            <a:br/>
            <a:r>
              <a:t>Ultra premium tasarim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201168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0" y="22402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0">
                <a:solidFill>
                  <a:srgbClr val="FFFFFF"/>
                </a:solidFill>
                <a:latin typeface="Segoe UI Emoji"/>
              </a:defRPr>
            </a:pPr>
            <a:r>
              <a:t>⚙️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7889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FFFFFF"/>
                </a:solidFill>
                <a:latin typeface="Segoe UI Black"/>
              </a:defRPr>
            </a:pPr>
            <a:r>
              <a:t>BACKEND API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06840" y="3200400"/>
            <a:ext cx="1371600" cy="274320"/>
          </a:xfrm>
          <a:prstGeom prst="roundRect">
            <a:avLst>
              <a:gd name="adj" fmla="val 5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06840" y="32004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FFFFFF"/>
                </a:solidFill>
                <a:latin typeface="Segoe UI"/>
              </a:defRPr>
            </a:pPr>
            <a:r>
              <a:t>FastAPI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365760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  <a:defRPr sz="1200" b="0">
                <a:solidFill>
                  <a:srgbClr val="94A3B8"/>
                </a:solidFill>
                <a:latin typeface="Segoe UI"/>
              </a:defRPr>
            </a:pPr>
            <a:r>
              <a:t>143 route, JWT guvenlik</a:t>
            </a:r>
            <a:br/>
            <a:r>
              <a:t>Multi-tenant mimari</a:t>
            </a:r>
            <a:br/>
            <a:r>
              <a:t>SMS/Email entegrasyon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468880.0" y="5212080"/>
            <a:ext cx="0.0" cy="274320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80760.0" y="5212080"/>
            <a:ext cx="0.0" cy="274320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692640.0" y="5212080"/>
            <a:ext cx="0.0" cy="274320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468880.0" y="5486400"/>
            <a:ext cx="7223760.0" cy="0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9E0B"/>
                </a:solidFill>
                <a:latin typeface="Segoe UI Semibold"/>
              </a:defRPr>
            </a:pPr>
            <a:r>
              <a:t>BUYUK RESIM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Segoe UI Black"/>
              </a:defRPr>
            </a:pPr>
            <a:r>
              <a:t>Rakamlarla SmartCampus AI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1005840"/>
            <a:ext cx="338328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5800" y="1645920"/>
            <a:ext cx="2377440" cy="14630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288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4200" b="1">
                <a:solidFill>
                  <a:srgbClr val="F59E0B"/>
                </a:solidFill>
                <a:latin typeface="Segoe UI Black"/>
              </a:defRPr>
            </a:pPr>
            <a:r>
              <a:t>30+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146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94A3B8"/>
                </a:solidFill>
                <a:latin typeface="Segoe UI"/>
              </a:defRPr>
            </a:pPr>
            <a:r>
              <a:t>Web Modul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1645920"/>
            <a:ext cx="2377440" cy="14630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0" y="18288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4200" b="1">
                <a:solidFill>
                  <a:srgbClr val="F59E0B"/>
                </a:solidFill>
                <a:latin typeface="Segoe UI Black"/>
              </a:defRPr>
            </a:pPr>
            <a:r>
              <a:t>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5146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94A3B8"/>
                </a:solidFill>
                <a:latin typeface="Segoe UI"/>
              </a:defRPr>
            </a:pPr>
            <a:r>
              <a:t>Mobil Sayfa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97880" y="1645920"/>
            <a:ext cx="2377440" cy="14630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7880" y="18288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4200" b="1">
                <a:solidFill>
                  <a:srgbClr val="F59E0B"/>
                </a:solidFill>
                <a:latin typeface="Segoe UI Black"/>
              </a:defRPr>
            </a:pPr>
            <a:r>
              <a:t>143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7880" y="25146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94A3B8"/>
                </a:solidFill>
                <a:latin typeface="Segoe UI"/>
              </a:defRPr>
            </a:pPr>
            <a:r>
              <a:t>API Route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03920" y="1645920"/>
            <a:ext cx="2377440" cy="14630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18288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4200" b="1">
                <a:solidFill>
                  <a:srgbClr val="F59E0B"/>
                </a:solidFill>
                <a:latin typeface="Segoe UI Black"/>
              </a:defRPr>
            </a:pPr>
            <a:r>
              <a:t>390+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25146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94A3B8"/>
                </a:solidFill>
                <a:latin typeface="Segoe UI"/>
              </a:defRPr>
            </a:pPr>
            <a:r>
              <a:t>Toplam Sekme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383280"/>
            <a:ext cx="2377440" cy="14630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566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4200" b="1">
                <a:solidFill>
                  <a:srgbClr val="FBBF24"/>
                </a:solidFill>
                <a:latin typeface="Segoe UI Black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2519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94A3B8"/>
                </a:solidFill>
                <a:latin typeface="Segoe UI"/>
              </a:defRPr>
            </a:pPr>
            <a:r>
              <a:t>Kullanici Rolu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91840" y="3383280"/>
            <a:ext cx="2377440" cy="14630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0" y="3566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4200" b="1">
                <a:solidFill>
                  <a:srgbClr val="FBBF24"/>
                </a:solidFill>
                <a:latin typeface="Segoe UI Black"/>
              </a:defRPr>
            </a:pPr>
            <a:r>
              <a:t>687+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42519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94A3B8"/>
                </a:solidFill>
                <a:latin typeface="Segoe UI"/>
              </a:defRPr>
            </a:pPr>
            <a:r>
              <a:t>Veri Dosyasi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97880" y="3383280"/>
            <a:ext cx="2377440" cy="14630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97880" y="3566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4200" b="1">
                <a:solidFill>
                  <a:srgbClr val="FBBF24"/>
                </a:solidFill>
                <a:latin typeface="Segoe UI Black"/>
              </a:defRPr>
            </a:pPr>
            <a: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7880" y="42519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94A3B8"/>
                </a:solidFill>
                <a:latin typeface="Segoe UI"/>
              </a:defRPr>
            </a:pPr>
            <a:r>
              <a:t>Sidebar Grubu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03920" y="3383280"/>
            <a:ext cx="2377440" cy="14630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0" y="3566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4200" b="1">
                <a:solidFill>
                  <a:srgbClr val="FBBF24"/>
                </a:solidFill>
                <a:latin typeface="Segoe UI Black"/>
              </a:defRPr>
            </a:pPr>
            <a: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42519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94A3B8"/>
                </a:solidFill>
                <a:latin typeface="Segoe UI"/>
              </a:defRPr>
            </a:pPr>
            <a:r>
              <a:t>Sertifika Sablonu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F59E0B"/>
                </a:solidFill>
                <a:latin typeface="Segoe UI Light"/>
              </a:defRPr>
            </a:pPr>
            <a:r>
              <a:t>"Turkiye'nin en kapsamli egitim yonetim sistemi"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7607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64748B"/>
                </a:solidFill>
                <a:latin typeface="Segoe UI"/>
              </a:defRPr>
            </a:pPr>
            <a:r>
              <a:t>Web + Mobil + API  |  Yapay Zeka Destekli  |  Multi-Tenant  |  Enterprise Kalite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9E0B"/>
                </a:solidFill>
                <a:latin typeface="Segoe UI Semibold"/>
              </a:defRPr>
            </a:pPr>
            <a:r>
              <a:t>KULLANICI ROLLERI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Segoe UI Black"/>
              </a:defRPr>
            </a:pPr>
            <a:r>
              <a:t>5 Rol, Tek Platform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1005840"/>
            <a:ext cx="338328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1645920"/>
            <a:ext cx="2011680" cy="34747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192024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FFFFFF"/>
                </a:solidFill>
                <a:latin typeface="Segoe UI Emoji"/>
              </a:rPr>
              <a:t>👑  </a:t>
            </a:r>
            <a:r>
              <a:rPr sz="1500" b="1">
                <a:solidFill>
                  <a:srgbClr val="FFFFFF"/>
                </a:solidFill>
                <a:latin typeface="Segoe UI Black"/>
              </a:rPr>
              <a:t>YONETICI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31720"/>
            <a:ext cx="1737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•  </a:t>
            </a:r>
            <a:r>
              <a:rPr sz="1000">
                <a:solidFill>
                  <a:srgbClr val="94A3B8"/>
                </a:solidFill>
                <a:latin typeface="Segoe UI"/>
              </a:rPr>
              <a:t>Tum modullere erisim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•  </a:t>
            </a:r>
            <a:r>
              <a:rPr sz="1000">
                <a:solidFill>
                  <a:srgbClr val="94A3B8"/>
                </a:solidFill>
                <a:latin typeface="Segoe UI"/>
              </a:rPr>
              <a:t>Dashboard &amp; analitik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•  </a:t>
            </a:r>
            <a:r>
              <a:rPr sz="1000">
                <a:solidFill>
                  <a:srgbClr val="94A3B8"/>
                </a:solidFill>
                <a:latin typeface="Segoe UI"/>
              </a:rPr>
              <a:t>Butce &amp; odeme takip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•  </a:t>
            </a:r>
            <a:r>
              <a:rPr sz="1000">
                <a:solidFill>
                  <a:srgbClr val="94A3B8"/>
                </a:solidFill>
                <a:latin typeface="Segoe UI"/>
              </a:rPr>
              <a:t>Personel yonetimi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•  </a:t>
            </a:r>
            <a:r>
              <a:rPr sz="1000">
                <a:solidFill>
                  <a:srgbClr val="94A3B8"/>
                </a:solidFill>
                <a:latin typeface="Segoe UI"/>
              </a:rPr>
              <a:t>Kurumsal raporlar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97480" y="1645920"/>
            <a:ext cx="2011680" cy="34747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0" y="1691640"/>
            <a:ext cx="192024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4640" y="18288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FFFFFF"/>
                </a:solidFill>
                <a:latin typeface="Segoe UI Emoji"/>
              </a:rPr>
              <a:t>📚  </a:t>
            </a:r>
            <a:r>
              <a:rPr sz="1500" b="1">
                <a:solidFill>
                  <a:srgbClr val="FFFFFF"/>
                </a:solidFill>
                <a:latin typeface="Segoe UI Black"/>
              </a:rPr>
              <a:t>OGRETMEN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2331720"/>
            <a:ext cx="1737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•  </a:t>
            </a:r>
            <a:r>
              <a:rPr sz="1000">
                <a:solidFill>
                  <a:srgbClr val="94A3B8"/>
                </a:solidFill>
                <a:latin typeface="Segoe UI"/>
              </a:rPr>
              <a:t>Not &amp; yoklama girisi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•  </a:t>
            </a:r>
            <a:r>
              <a:rPr sz="1000">
                <a:solidFill>
                  <a:srgbClr val="94A3B8"/>
                </a:solidFill>
                <a:latin typeface="Segoe UI"/>
              </a:rPr>
              <a:t>Ders defteri &amp; plan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•  </a:t>
            </a:r>
            <a:r>
              <a:rPr sz="1000">
                <a:solidFill>
                  <a:srgbClr val="94A3B8"/>
                </a:solidFill>
                <a:latin typeface="Segoe UI"/>
              </a:rPr>
              <a:t>Sinav olusturma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•  </a:t>
            </a:r>
            <a:r>
              <a:rPr sz="1000">
                <a:solidFill>
                  <a:srgbClr val="94A3B8"/>
                </a:solidFill>
                <a:latin typeface="Segoe UI"/>
              </a:rPr>
              <a:t>Odev yonetimi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•  </a:t>
            </a:r>
            <a:r>
              <a:rPr sz="1000">
                <a:solidFill>
                  <a:srgbClr val="94A3B8"/>
                </a:solidFill>
                <a:latin typeface="Segoe UI"/>
              </a:rPr>
              <a:t>AI soru uretimi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92040" y="1645920"/>
            <a:ext cx="2011680" cy="34747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37760" y="1691640"/>
            <a:ext cx="1920240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0" y="18288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FFFFFF"/>
                </a:solidFill>
                <a:latin typeface="Segoe UI Emoji"/>
              </a:rPr>
              <a:t>🧠  </a:t>
            </a:r>
            <a:r>
              <a:rPr sz="1500" b="1">
                <a:solidFill>
                  <a:srgbClr val="FFFFFF"/>
                </a:solidFill>
                <a:latin typeface="Segoe UI Black"/>
              </a:rPr>
              <a:t>REHBER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331720"/>
            <a:ext cx="1737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•  </a:t>
            </a:r>
            <a:r>
              <a:rPr sz="1000">
                <a:solidFill>
                  <a:srgbClr val="94A3B8"/>
                </a:solidFill>
                <a:latin typeface="Segoe UI"/>
              </a:rPr>
              <a:t>Vaka yonetimi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•  </a:t>
            </a:r>
            <a:r>
              <a:rPr sz="1000">
                <a:solidFill>
                  <a:srgbClr val="94A3B8"/>
                </a:solidFill>
                <a:latin typeface="Segoe UI"/>
              </a:rPr>
              <a:t>Mood check-in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•  </a:t>
            </a:r>
            <a:r>
              <a:rPr sz="1000">
                <a:solidFill>
                  <a:srgbClr val="94A3B8"/>
                </a:solidFill>
                <a:latin typeface="Segoe UI"/>
              </a:rPr>
              <a:t>BEP takibi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•  </a:t>
            </a:r>
            <a:r>
              <a:rPr sz="1000">
                <a:solidFill>
                  <a:srgbClr val="94A3B8"/>
                </a:solidFill>
                <a:latin typeface="Segoe UI"/>
              </a:rPr>
              <a:t>Gorusme kaydi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•  </a:t>
            </a:r>
            <a:r>
              <a:rPr sz="1000">
                <a:solidFill>
                  <a:srgbClr val="94A3B8"/>
                </a:solidFill>
                <a:latin typeface="Segoe UI"/>
              </a:rPr>
              <a:t>Risk analizi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86600" y="1645920"/>
            <a:ext cx="2011680" cy="34747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0" y="1691640"/>
            <a:ext cx="192024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0" y="18288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FFFFFF"/>
                </a:solidFill>
                <a:latin typeface="Segoe UI Emoji"/>
              </a:rPr>
              <a:t>👨‍👩‍👧  </a:t>
            </a:r>
            <a:r>
              <a:rPr sz="1500" b="1">
                <a:solidFill>
                  <a:srgbClr val="FFFFFF"/>
                </a:solidFill>
                <a:latin typeface="Segoe UI Black"/>
              </a:rPr>
              <a:t>VELI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2331720"/>
            <a:ext cx="1737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•  </a:t>
            </a:r>
            <a:r>
              <a:rPr sz="1000">
                <a:solidFill>
                  <a:srgbClr val="94A3B8"/>
                </a:solidFill>
                <a:latin typeface="Segoe UI"/>
              </a:rPr>
              <a:t>Cocuk takip paneli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•  </a:t>
            </a:r>
            <a:r>
              <a:rPr sz="1000">
                <a:solidFill>
                  <a:srgbClr val="94A3B8"/>
                </a:solidFill>
                <a:latin typeface="Segoe UI"/>
              </a:rPr>
              <a:t>Randevu alma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•  </a:t>
            </a:r>
            <a:r>
              <a:rPr sz="1000">
                <a:solidFill>
                  <a:srgbClr val="94A3B8"/>
                </a:solidFill>
                <a:latin typeface="Segoe UI"/>
              </a:rPr>
              <a:t>Odeme durumu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•  </a:t>
            </a:r>
            <a:r>
              <a:rPr sz="1000">
                <a:solidFill>
                  <a:srgbClr val="94A3B8"/>
                </a:solidFill>
                <a:latin typeface="Segoe UI"/>
              </a:rPr>
              <a:t>Servis GPS takip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•  </a:t>
            </a:r>
            <a:r>
              <a:rPr sz="1000">
                <a:solidFill>
                  <a:srgbClr val="94A3B8"/>
                </a:solidFill>
                <a:latin typeface="Segoe UI"/>
              </a:rPr>
              <a:t>Mesajlasma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1645920"/>
            <a:ext cx="2011680" cy="34747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326880" y="1691640"/>
            <a:ext cx="192024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0" y="182880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FFFFFF"/>
                </a:solidFill>
                <a:latin typeface="Segoe UI Emoji"/>
              </a:rPr>
              <a:t>🎓  </a:t>
            </a:r>
            <a:r>
              <a:rPr sz="1500" b="1">
                <a:solidFill>
                  <a:srgbClr val="FFFFFF"/>
                </a:solidFill>
                <a:latin typeface="Segoe UI Black"/>
              </a:rPr>
              <a:t>OGRENCI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2331720"/>
            <a:ext cx="1737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•  </a:t>
            </a:r>
            <a:r>
              <a:rPr sz="1000">
                <a:solidFill>
                  <a:srgbClr val="94A3B8"/>
                </a:solidFill>
                <a:latin typeface="Segoe UI"/>
              </a:rPr>
              <a:t>Dashboard &amp; notlar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•  </a:t>
            </a:r>
            <a:r>
              <a:rPr sz="1000">
                <a:solidFill>
                  <a:srgbClr val="94A3B8"/>
                </a:solidFill>
                <a:latin typeface="Segoe UI"/>
              </a:rPr>
              <a:t>Online sinav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•  </a:t>
            </a:r>
            <a:r>
              <a:rPr sz="1000">
                <a:solidFill>
                  <a:srgbClr val="94A3B8"/>
                </a:solidFill>
                <a:latin typeface="Segoe UI"/>
              </a:rPr>
              <a:t>AI asistan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•  </a:t>
            </a:r>
            <a:r>
              <a:rPr sz="1000">
                <a:solidFill>
                  <a:srgbClr val="94A3B8"/>
                </a:solidFill>
                <a:latin typeface="Segoe UI"/>
              </a:rPr>
              <a:t>Dijital ogrenme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•  </a:t>
            </a:r>
            <a:r>
              <a:rPr sz="1000">
                <a:solidFill>
                  <a:srgbClr val="94A3B8"/>
                </a:solidFill>
                <a:latin typeface="Segoe UI"/>
              </a:rPr>
              <a:t>Etkinlik &amp; kulupler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3949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64748B"/>
                </a:solidFill>
                <a:latin typeface="Segoe UI"/>
              </a:defRPr>
            </a:pPr>
            <a:r>
              <a:t>Her rol sadece yetkili oldugu modulleri gorur  |  Rol bazli erisim kontrolu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9E0B"/>
                </a:solidFill>
                <a:latin typeface="Segoe UI Semibold"/>
              </a:defRPr>
            </a:pPr>
            <a:r>
              <a:t>MODUL DETAY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59E0B"/>
                </a:solidFill>
                <a:latin typeface="Segoe UI Emoji"/>
              </a:rPr>
              <a:t>📋  </a:t>
            </a:r>
            <a:r>
              <a:rPr sz="3000" b="1">
                <a:solidFill>
                  <a:srgbClr val="FFFFFF"/>
                </a:solidFill>
                <a:latin typeface="Segoe UI Black"/>
              </a:rPr>
              <a:t>Kayit Modulu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1097280"/>
            <a:ext cx="384048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123444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94A3B8"/>
                </a:solidFill>
                <a:latin typeface="Segoe UI"/>
              </a:defRPr>
            </a:pPr>
            <a:r>
              <a:t>Ogrenci kayit sureci basindan sonuna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Grup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34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Sekme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Pipeline Adim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Kampanya Turu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28346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📋  </a:t>
            </a:r>
            <a:r>
              <a:rPr sz="1200">
                <a:solidFill>
                  <a:srgbClr val="E2E8F0"/>
                </a:solidFill>
                <a:latin typeface="Segoe UI"/>
              </a:rPr>
              <a:t>Tam pipeline: Basvuru -&gt; Gorusme -&gt; Sinav -&gt; Kabul -&gt; Kayit -&gt; Kesin Kayit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🎯  </a:t>
            </a:r>
            <a:r>
              <a:rPr sz="1200">
                <a:solidFill>
                  <a:srgbClr val="E2E8F0"/>
                </a:solidFill>
                <a:latin typeface="Segoe UI"/>
              </a:rPr>
              <a:t>Kampanya yonetimi: erken kayit, kardes, burslu indirimleri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🤖  </a:t>
            </a:r>
            <a:r>
              <a:rPr sz="1200">
                <a:solidFill>
                  <a:srgbClr val="E2E8F0"/>
                </a:solidFill>
                <a:latin typeface="Segoe UI"/>
              </a:rPr>
              <a:t>AI tabanli lead skorlama ve takip otomasyonu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📊  </a:t>
            </a:r>
            <a:r>
              <a:rPr sz="1200">
                <a:solidFill>
                  <a:srgbClr val="E2E8F0"/>
                </a:solidFill>
                <a:latin typeface="Segoe UI"/>
              </a:rPr>
              <a:t>Donem bazli analitik: donusum orani, kaynak analizi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💰  </a:t>
            </a:r>
            <a:r>
              <a:rPr sz="1200">
                <a:solidFill>
                  <a:srgbClr val="E2E8F0"/>
                </a:solidFill>
                <a:latin typeface="Segoe UI"/>
              </a:rPr>
              <a:t>Odeme plani olusturma, taksitlendirme, makbuz kesme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📧  </a:t>
            </a:r>
            <a:r>
              <a:rPr sz="1200">
                <a:solidFill>
                  <a:srgbClr val="E2E8F0"/>
                </a:solidFill>
                <a:latin typeface="Segoe UI"/>
              </a:rPr>
              <a:t>Otomatik SMS/email bildirimleri (basvuru onay, hatirlatma)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1691640"/>
            <a:ext cx="4572000" cy="4114800"/>
          </a:xfrm>
          <a:prstGeom prst="roundRect">
            <a:avLst>
              <a:gd name="adj" fmla="val 5000"/>
            </a:avLst>
          </a:prstGeom>
          <a:solidFill>
            <a:srgbClr val="152033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0" y="1828800"/>
            <a:ext cx="4206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PIPELINE ADIMLARI:</a:t>
            </a:r>
            <a:br/>
            <a:br/>
            <a:r>
              <a:t>◆ 1. On Basvuru</a:t>
            </a:r>
            <a:br/>
            <a:r>
              <a:t>   Web formu veya manuel giris</a:t>
            </a:r>
            <a:br/>
            <a:br/>
            <a:r>
              <a:t>◆ 2. Gorusme</a:t>
            </a:r>
            <a:br/>
            <a:r>
              <a:t>   Veli gorusmesi &amp; rehberlik</a:t>
            </a:r>
            <a:br/>
            <a:br/>
            <a:r>
              <a:t>◆ 3. Sinav/Degerlendirme</a:t>
            </a:r>
            <a:br/>
            <a:r>
              <a:t>   Seviye tespit sinavi</a:t>
            </a:r>
            <a:br/>
            <a:br/>
            <a:r>
              <a:t>◆ 4. Kabul Karari</a:t>
            </a:r>
            <a:br/>
            <a:r>
              <a:t>   Komisyon degerlendirmesi</a:t>
            </a:r>
            <a:br/>
            <a:br/>
            <a:r>
              <a:t>◆ 5. Kesin Kayit</a:t>
            </a:r>
            <a:br/>
            <a:r>
              <a:t>   Evrak + Odeme + Onay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9E0B"/>
                </a:solidFill>
                <a:latin typeface="Segoe UI Semibold"/>
              </a:defRPr>
            </a:pPr>
            <a:r>
              <a:t>MODUL DETAY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59E0B"/>
                </a:solidFill>
                <a:latin typeface="Segoe UI Emoji"/>
              </a:rPr>
              <a:t>📚  </a:t>
            </a:r>
            <a:r>
              <a:rPr sz="3000" b="1">
                <a:solidFill>
                  <a:srgbClr val="FFFFFF"/>
                </a:solidFill>
                <a:latin typeface="Segoe UI Black"/>
              </a:rPr>
              <a:t>Akademik Takip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1097280"/>
            <a:ext cx="384048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123444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94A3B8"/>
                </a:solidFill>
                <a:latin typeface="Segoe UI"/>
              </a:defRPr>
            </a:pPr>
            <a:r>
              <a:t>Ogrenci basarisinin 360 derece takibi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Sekme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Ana Grup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Veri Modeli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Rapor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28346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📖  </a:t>
            </a:r>
            <a:r>
              <a:rPr sz="1200">
                <a:solidFill>
                  <a:srgbClr val="E2E8F0"/>
                </a:solidFill>
                <a:latin typeface="Segoe UI"/>
              </a:rPr>
              <a:t>Yoklama &amp; devamsizlik: gunluk/haftalik/toplu giris, 7 alt sekme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📝  </a:t>
            </a:r>
            <a:r>
              <a:rPr sz="1200">
                <a:solidFill>
                  <a:srgbClr val="E2E8F0"/>
                </a:solidFill>
                <a:latin typeface="Segoe UI"/>
              </a:rPr>
              <a:t>Not girisi: coklu not turu, donem bazli, otomatik ortalama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📓  </a:t>
            </a:r>
            <a:r>
              <a:rPr sz="1200">
                <a:solidFill>
                  <a:srgbClr val="E2E8F0"/>
                </a:solidFill>
                <a:latin typeface="Segoe UI"/>
              </a:rPr>
              <a:t>Ders defteri: kazanim isleme takibi, ay bazli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📅  </a:t>
            </a:r>
            <a:r>
              <a:rPr sz="1200">
                <a:solidFill>
                  <a:srgbClr val="E2E8F0"/>
                </a:solidFill>
                <a:latin typeface="Segoe UI"/>
              </a:rPr>
              <a:t>Akademik planlama: yillik/aylik/haftalik plan, MEB uyumu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📊  </a:t>
            </a:r>
            <a:r>
              <a:rPr sz="1200">
                <a:solidFill>
                  <a:srgbClr val="E2E8F0"/>
                </a:solidFill>
                <a:latin typeface="Segoe UI"/>
              </a:rPr>
              <a:t>Karne &amp; siralama: otomatik karne, sinif/okul siralamasi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📦  </a:t>
            </a:r>
            <a:r>
              <a:rPr sz="1200">
                <a:solidFill>
                  <a:srgbClr val="E2E8F0"/>
                </a:solidFill>
                <a:latin typeface="Segoe UI"/>
              </a:rPr>
              <a:t>Odev takip: dosya/link/video/QR, online teslim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1691640"/>
            <a:ext cx="4572000" cy="4114800"/>
          </a:xfrm>
          <a:prstGeom prst="roundRect">
            <a:avLst>
              <a:gd name="adj" fmla="val 5000"/>
            </a:avLst>
          </a:prstGeom>
          <a:solidFill>
            <a:srgbClr val="152033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0" y="1828800"/>
            <a:ext cx="4206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VERI MODELLERI:</a:t>
            </a:r>
            <a:br/>
            <a:br/>
            <a:r>
              <a:t>◆ Student — Ogrenci kaydi</a:t>
            </a:r>
            <a:br/>
            <a:r>
              <a:t>◆ Teacher — Ogretmen profili</a:t>
            </a:r>
            <a:br/>
            <a:r>
              <a:t>◆ GradeRecord — Not kaydi</a:t>
            </a:r>
            <a:br/>
            <a:r>
              <a:t>◆ AttendanceRecord — Devamsizlik</a:t>
            </a:r>
            <a:br/>
            <a:r>
              <a:t>◆ ScheduleSlot — Ders programi</a:t>
            </a:r>
            <a:br/>
            <a:r>
              <a:t>◆ AcademicPlan — Plan kaydi</a:t>
            </a:r>
            <a:br/>
            <a:r>
              <a:t>◆ KazanimIsleme — Kazanim takip</a:t>
            </a:r>
            <a:br/>
            <a:r>
              <a:t>◆ OlcmeTakvim — Sinav takvimi</a:t>
            </a:r>
            <a:br/>
            <a:r>
              <a:t>◆ EtutKayit — Etut/destek kaydi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9E0B"/>
                </a:solidFill>
                <a:latin typeface="Segoe UI Semibold"/>
              </a:defRPr>
            </a:pPr>
            <a:r>
              <a:t>MODUL DETAY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59E0B"/>
                </a:solidFill>
                <a:latin typeface="Segoe UI Emoji"/>
              </a:rPr>
              <a:t>📝  </a:t>
            </a:r>
            <a:r>
              <a:rPr sz="3000" b="1">
                <a:solidFill>
                  <a:srgbClr val="FFFFFF"/>
                </a:solidFill>
                <a:latin typeface="Segoe UI Black"/>
              </a:rPr>
              <a:t>Olcme &amp; Degerlendirme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1097280"/>
            <a:ext cx="384048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123444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94A3B8"/>
                </a:solidFill>
                <a:latin typeface="Segoe UI"/>
              </a:defRPr>
            </a:pPr>
            <a:r>
              <a:t>Turkiye'nin en gelismis sinav sistemi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Sektor Gap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Soru Tipi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Blueprint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Bloom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28346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🤖  </a:t>
            </a:r>
            <a:r>
              <a:rPr sz="1200">
                <a:solidFill>
                  <a:srgbClr val="E2E8F0"/>
                </a:solidFill>
                <a:latin typeface="Segoe UI"/>
              </a:rPr>
              <a:t>AI soru uretimi: GPT-4o-mini, kazanim bazli, 5 adim wizard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📚  </a:t>
            </a:r>
            <a:r>
              <a:rPr sz="1200">
                <a:solidFill>
                  <a:srgbClr val="E2E8F0"/>
                </a:solidFill>
                <a:latin typeface="Segoe UI"/>
              </a:rPr>
              <a:t>Soru bankasi: MCQ, dogru/yanlis, eslestirme, siralama, cloze, matematik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🎯  </a:t>
            </a:r>
            <a:r>
              <a:rPr sz="1200">
                <a:solidFill>
                  <a:srgbClr val="E2E8F0"/>
                </a:solidFill>
                <a:latin typeface="Segoe UI"/>
              </a:rPr>
              <a:t>Online sinav: tab guvenlik, heartbeat, negatif puanlama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📊  </a:t>
            </a:r>
            <a:r>
              <a:rPr sz="1200">
                <a:solidFill>
                  <a:srgbClr val="E2E8F0"/>
                </a:solidFill>
                <a:latin typeface="Segoe UI"/>
              </a:rPr>
              <a:t>Psikometrik analiz: IRT (1PL, 2PL, 3PL), madde analizi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📄  </a:t>
            </a:r>
            <a:r>
              <a:rPr sz="1200">
                <a:solidFill>
                  <a:srgbClr val="E2E8F0"/>
                </a:solidFill>
                <a:latin typeface="Segoe UI"/>
              </a:rPr>
              <a:t>OSYM tarzi PDF: 2 sutun, optik form, QR kod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🧩  </a:t>
            </a:r>
            <a:r>
              <a:rPr sz="1200">
                <a:solidFill>
                  <a:srgbClr val="E2E8F0"/>
                </a:solidFill>
                <a:latin typeface="Segoe UI"/>
              </a:rPr>
              <a:t>Adaptif test: CAT engine, Fisher bilgi, MLE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1691640"/>
            <a:ext cx="4572000" cy="4114800"/>
          </a:xfrm>
          <a:prstGeom prst="roundRect">
            <a:avLst>
              <a:gd name="adj" fmla="val 5000"/>
            </a:avLst>
          </a:prstGeom>
          <a:solidFill>
            <a:srgbClr val="152033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0" y="1828800"/>
            <a:ext cx="4206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SINAV ALTYAPISI:</a:t>
            </a:r>
            <a:br/>
            <a:br/>
            <a:r>
              <a:t>◆ ExamGenerator — Blueprint'ten sinav</a:t>
            </a:r>
            <a:br/>
            <a:r>
              <a:t>◆ AutoGrader — Otomatik puanlama</a:t>
            </a:r>
            <a:br/>
            <a:r>
              <a:t>◆ ProctoringEngine — Gozetim</a:t>
            </a:r>
            <a:br/>
            <a:r>
              <a:t>◆ QTIExporter — IMS QTI 2.1</a:t>
            </a:r>
            <a:br/>
            <a:r>
              <a:t>◆ LTIProvider — Moodle/Canvas</a:t>
            </a:r>
            <a:br/>
            <a:r>
              <a:t>◆ IRTModel — Rasch modeli</a:t>
            </a:r>
            <a:br/>
            <a:r>
              <a:t>◆ CATEngine — Adaptif test</a:t>
            </a:r>
            <a:br/>
            <a:r>
              <a:t>◆ DifficultyCalibrator — p-value</a:t>
            </a:r>
            <a:br/>
            <a:r>
              <a:t>◆ LearningAnalytics — Analitik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9E0B"/>
                </a:solidFill>
                <a:latin typeface="Segoe UI Semibold"/>
              </a:defRPr>
            </a:pPr>
            <a:r>
              <a:t>MODUL DETAY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59E0B"/>
                </a:solidFill>
                <a:latin typeface="Segoe UI Emoji"/>
              </a:rPr>
              <a:t>🧠  </a:t>
            </a:r>
            <a:r>
              <a:rPr sz="3000" b="1">
                <a:solidFill>
                  <a:srgbClr val="FFFFFF"/>
                </a:solidFill>
                <a:latin typeface="Segoe UI Black"/>
              </a:rPr>
              <a:t>Rehberlik &amp; Psikolojik Danismanlik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1097280"/>
            <a:ext cx="384048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123444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94A3B8"/>
                </a:solidFill>
                <a:latin typeface="Segoe UI"/>
              </a:defRPr>
            </a:pPr>
            <a:r>
              <a:t>Ogrenci ruh sagligi ve gelisim takibi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Sekme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Gorusme Tipi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Risk Seviye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BEP Alani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28346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📋  </a:t>
            </a:r>
            <a:r>
              <a:rPr sz="1200">
                <a:solidFill>
                  <a:srgbClr val="E2E8F0"/>
                </a:solidFill>
                <a:latin typeface="Segoe UI"/>
              </a:rPr>
              <a:t>Vaka yonetimi: acma, takip, kapatma sureci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💬  </a:t>
            </a:r>
            <a:r>
              <a:rPr sz="1200">
                <a:solidFill>
                  <a:srgbClr val="E2E8F0"/>
                </a:solidFill>
                <a:latin typeface="Segoe UI"/>
              </a:rPr>
              <a:t>Gorusme kaydi: ogrenci, veli, ogretmen gorusmeleri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😊  </a:t>
            </a:r>
            <a:r>
              <a:rPr sz="1200">
                <a:solidFill>
                  <a:srgbClr val="E2E8F0"/>
                </a:solidFill>
                <a:latin typeface="Segoe UI"/>
              </a:rPr>
              <a:t>Mood check-in: gunluk duygu durumu takibi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⚠️  </a:t>
            </a:r>
            <a:r>
              <a:rPr sz="1200">
                <a:solidFill>
                  <a:srgbClr val="E2E8F0"/>
                </a:solidFill>
                <a:latin typeface="Segoe UI"/>
              </a:rPr>
              <a:t>Risk analizi: erken uyari, zorbalik, dropout riski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📑  </a:t>
            </a:r>
            <a:r>
              <a:rPr sz="1200">
                <a:solidFill>
                  <a:srgbClr val="E2E8F0"/>
                </a:solidFill>
                <a:latin typeface="Segoe UI"/>
              </a:rPr>
              <a:t>BEP takibi: bireysel egitim programi, hedef izleme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🚨  </a:t>
            </a:r>
            <a:r>
              <a:rPr sz="1200">
                <a:solidFill>
                  <a:srgbClr val="E2E8F0"/>
                </a:solidFill>
                <a:latin typeface="Segoe UI"/>
              </a:rPr>
              <a:t>Kriz mudahale: acil durum protokolleri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1691640"/>
            <a:ext cx="4572000" cy="4114800"/>
          </a:xfrm>
          <a:prstGeom prst="roundRect">
            <a:avLst>
              <a:gd name="adj" fmla="val 5000"/>
            </a:avLst>
          </a:prstGeom>
          <a:solidFill>
            <a:srgbClr val="152033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0" y="1828800"/>
            <a:ext cx="4206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MOOD CHECK-IN:</a:t>
            </a:r>
            <a:br/>
            <a:br/>
            <a:r>
              <a:t>😊 Cok Mutlu</a:t>
            </a:r>
            <a:br/>
            <a:r>
              <a:t>🙂 Mutlu</a:t>
            </a:r>
            <a:br/>
            <a:r>
              <a:t>😐 Normal</a:t>
            </a:r>
            <a:br/>
            <a:r>
              <a:t>🙁 Uzgun</a:t>
            </a:r>
            <a:br/>
            <a:r>
              <a:t>😢 Cok Uzgun</a:t>
            </a:r>
            <a:br/>
            <a:br/>
            <a:r>
              <a:t>Gunluk takip ile erken mudahale.</a:t>
            </a:r>
            <a:br/>
            <a:r>
              <a:t>AI destekli risk tespiti.</a:t>
            </a:r>
            <a:br/>
            <a:r>
              <a:t>Anonim sinif bazli raporlama.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9E0B"/>
                </a:solidFill>
                <a:latin typeface="Segoe UI Semibold"/>
              </a:defRPr>
            </a:pPr>
            <a:r>
              <a:t>MODUL DETAY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59E0B"/>
                </a:solidFill>
                <a:latin typeface="Segoe UI Emoji"/>
              </a:rPr>
              <a:t>👥  </a:t>
            </a:r>
            <a:r>
              <a:rPr sz="3000" b="1">
                <a:solidFill>
                  <a:srgbClr val="FFFFFF"/>
                </a:solidFill>
                <a:latin typeface="Segoe UI Black"/>
              </a:rPr>
              <a:t>IK &amp; Personel Yonetimi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1097280"/>
            <a:ext cx="384048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123444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94A3B8"/>
                </a:solidFill>
                <a:latin typeface="Segoe UI"/>
              </a:defRPr>
            </a:pPr>
            <a:r>
              <a:t>Ise alimdan performansa tum surec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Ana Sekme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Alt Sekme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Mulakat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Izin Turu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28346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📋  </a:t>
            </a:r>
            <a:r>
              <a:rPr sz="1200">
                <a:solidFill>
                  <a:srgbClr val="E2E8F0"/>
                </a:solidFill>
                <a:latin typeface="Segoe UI"/>
              </a:rPr>
              <a:t>Ise alim: pozisyon acma, ilan, basvuru toplama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🎯  </a:t>
            </a:r>
            <a:r>
              <a:rPr sz="1200">
                <a:solidFill>
                  <a:srgbClr val="E2E8F0"/>
                </a:solidFill>
                <a:latin typeface="Segoe UI"/>
              </a:rPr>
              <a:t>Mulakat sureci: 5 asamali degerlendirme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📅  </a:t>
            </a:r>
            <a:r>
              <a:rPr sz="1200">
                <a:solidFill>
                  <a:srgbClr val="E2E8F0"/>
                </a:solidFill>
                <a:latin typeface="Segoe UI"/>
              </a:rPr>
              <a:t>Izin yonetimi: yillik, mazeret, saglik, ucretsiz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📊  </a:t>
            </a:r>
            <a:r>
              <a:rPr sz="1200">
                <a:solidFill>
                  <a:srgbClr val="E2E8F0"/>
                </a:solidFill>
                <a:latin typeface="Segoe UI"/>
              </a:rPr>
              <a:t>Performans: donemsel degerlendirme, hedef takibi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💰  </a:t>
            </a:r>
            <a:r>
              <a:rPr sz="1200">
                <a:solidFill>
                  <a:srgbClr val="E2E8F0"/>
                </a:solidFill>
                <a:latin typeface="Segoe UI"/>
              </a:rPr>
              <a:t>Bordro entegrasyon: maas, prim, mesai hesaplama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📄  </a:t>
            </a:r>
            <a:r>
              <a:rPr sz="1200">
                <a:solidFill>
                  <a:srgbClr val="E2E8F0"/>
                </a:solidFill>
                <a:latin typeface="Segoe UI"/>
              </a:rPr>
              <a:t>Ozluk dosyasi: dijital dokuman arsivi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1691640"/>
            <a:ext cx="4572000" cy="4114800"/>
          </a:xfrm>
          <a:prstGeom prst="roundRect">
            <a:avLst>
              <a:gd name="adj" fmla="val 5000"/>
            </a:avLst>
          </a:prstGeom>
          <a:solidFill>
            <a:srgbClr val="152033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0" y="1828800"/>
            <a:ext cx="4206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ISE ALIM PIPELINE:</a:t>
            </a:r>
            <a:br/>
            <a:br/>
            <a:r>
              <a:t>◆ Pozisyon Talebi</a:t>
            </a:r>
            <a:br/>
            <a:r>
              <a:t>◆ Ilan Yayinlama</a:t>
            </a:r>
            <a:br/>
            <a:r>
              <a:t>◆ Basvuru Toplama</a:t>
            </a:r>
            <a:br/>
            <a:r>
              <a:t>◆ On Eleme</a:t>
            </a:r>
            <a:br/>
            <a:r>
              <a:t>◆ Mulakat (5 asama)</a:t>
            </a:r>
            <a:br/>
            <a:r>
              <a:t>◆ Referans Kontrolu</a:t>
            </a:r>
            <a:br/>
            <a:r>
              <a:t>◆ Teklif &amp; Ise Baslatma</a:t>
            </a:r>
            <a:br/>
            <a:br/>
            <a:r>
              <a:t>Tum surec dijital ve izlenebilir.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9E0B"/>
                </a:solidFill>
                <a:latin typeface="Segoe UI Semibold"/>
              </a:defRPr>
            </a:pPr>
            <a:r>
              <a:t>MODUL DETAY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59E0B"/>
                </a:solidFill>
                <a:latin typeface="Segoe UI Emoji"/>
              </a:rPr>
              <a:t>💰  </a:t>
            </a:r>
            <a:r>
              <a:rPr sz="3000" b="1">
                <a:solidFill>
                  <a:srgbClr val="FFFFFF"/>
                </a:solidFill>
                <a:latin typeface="Segoe UI Black"/>
              </a:rPr>
              <a:t>Butce &amp; Odeme Takip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1097280"/>
            <a:ext cx="384048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123444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94A3B8"/>
                </a:solidFill>
                <a:latin typeface="Segoe UI"/>
              </a:defRPr>
            </a:pPr>
            <a:r>
              <a:t>Gelir/gider yonetimi ve veli odeme takibi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Ana Modul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12+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Rapor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Odeme Tipi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Geciken Band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28346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💸  </a:t>
            </a:r>
            <a:r>
              <a:rPr sz="1200">
                <a:solidFill>
                  <a:srgbClr val="E2E8F0"/>
                </a:solidFill>
                <a:latin typeface="Segoe UI"/>
              </a:rPr>
              <a:t>Gelir/gider takibi: kategori bazli, donem karsilastirma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📋  </a:t>
            </a:r>
            <a:r>
              <a:rPr sz="1200">
                <a:solidFill>
                  <a:srgbClr val="E2E8F0"/>
                </a:solidFill>
                <a:latin typeface="Segoe UI"/>
              </a:rPr>
              <a:t>Taksit plani: ogrenci bazli, esnek taksitlendirme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🧾  </a:t>
            </a:r>
            <a:r>
              <a:rPr sz="1200">
                <a:solidFill>
                  <a:srgbClr val="E2E8F0"/>
                </a:solidFill>
                <a:latin typeface="Segoe UI"/>
              </a:rPr>
              <a:t>Makbuz kesme: otomatik numara, PDF cikti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🔔  </a:t>
            </a:r>
            <a:r>
              <a:rPr sz="1200">
                <a:solidFill>
                  <a:srgbClr val="E2E8F0"/>
                </a:solidFill>
                <a:latin typeface="Segoe UI"/>
              </a:rPr>
              <a:t>Geciken uyari: SMS/email hatirlatma, renk kodlu takip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📊  </a:t>
            </a:r>
            <a:r>
              <a:rPr sz="1200">
                <a:solidFill>
                  <a:srgbClr val="E2E8F0"/>
                </a:solidFill>
                <a:latin typeface="Segoe UI"/>
              </a:rPr>
              <a:t>Butce planlama: yillik projeksiyon, sapma analizi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💳  </a:t>
            </a:r>
            <a:r>
              <a:rPr sz="1200">
                <a:solidFill>
                  <a:srgbClr val="E2E8F0"/>
                </a:solidFill>
                <a:latin typeface="Segoe UI"/>
              </a:rPr>
              <a:t>Coklu odeme yontemi: nakit, havale, kredi karti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1691640"/>
            <a:ext cx="4572000" cy="4114800"/>
          </a:xfrm>
          <a:prstGeom prst="roundRect">
            <a:avLst>
              <a:gd name="adj" fmla="val 5000"/>
            </a:avLst>
          </a:prstGeom>
          <a:solidFill>
            <a:srgbClr val="152033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0" y="1828800"/>
            <a:ext cx="4206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ODEME TAKIP OZELLIKLERI:</a:t>
            </a:r>
            <a:br/>
            <a:br/>
            <a:r>
              <a:t>◆ Taksit plani olusturma</a:t>
            </a:r>
            <a:br/>
            <a:r>
              <a:t>◆ Otomatik hatirlatma SMS</a:t>
            </a:r>
            <a:br/>
            <a:r>
              <a:t>◆ Geciken odeme raporlari</a:t>
            </a:r>
            <a:br/>
            <a:r>
              <a:t>◆ Makbuz/dekont PDF</a:t>
            </a:r>
            <a:br/>
            <a:r>
              <a:t>◆ Donem bazli analiz</a:t>
            </a:r>
            <a:br/>
            <a:r>
              <a:t>◆ Indirim &amp; burs yonetimi</a:t>
            </a:r>
            <a:br/>
            <a:r>
              <a:t>◆ Kardes indirimi otomatik</a:t>
            </a:r>
            <a:br/>
            <a:r>
              <a:t>◆ Tahsilat dashboard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9E0B"/>
                </a:solidFill>
                <a:latin typeface="Segoe UI Semibold"/>
              </a:defRPr>
            </a:pPr>
            <a:r>
              <a:t>MODUL DETAY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59E0B"/>
                </a:solidFill>
                <a:latin typeface="Segoe UI Emoji"/>
              </a:rPr>
              <a:t>🏫  </a:t>
            </a:r>
            <a:r>
              <a:rPr sz="3000" b="1">
                <a:solidFill>
                  <a:srgbClr val="FFFFFF"/>
                </a:solidFill>
                <a:latin typeface="Segoe UI Black"/>
              </a:rPr>
              <a:t>Kurum Hizmetleri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1097280"/>
            <a:ext cx="384048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123444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94A3B8"/>
                </a:solidFill>
                <a:latin typeface="Segoe UI"/>
              </a:defRPr>
            </a:pPr>
            <a:r>
              <a:t>Gunluk operasyonlarin dijital yonetimi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Hizmet Alani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15+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Sekme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Nobet Turu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Menu Gun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28346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🛡️  </a:t>
            </a:r>
            <a:r>
              <a:rPr sz="1200">
                <a:solidFill>
                  <a:srgbClr val="E2E8F0"/>
                </a:solidFill>
                <a:latin typeface="Segoe UI"/>
              </a:rPr>
              <a:t>Nobet yonetimi: ogretmen/ogrenci nobeti, lokasyon bazli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⏰  </a:t>
            </a:r>
            <a:r>
              <a:rPr sz="1200">
                <a:solidFill>
                  <a:srgbClr val="E2E8F0"/>
                </a:solidFill>
                <a:latin typeface="Segoe UI"/>
              </a:rPr>
              <a:t>Zaman cizelgesi: ders/teneffus/ogle/etut zamanlama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📅  </a:t>
            </a:r>
            <a:r>
              <a:rPr sz="1200">
                <a:solidFill>
                  <a:srgbClr val="E2E8F0"/>
                </a:solidFill>
                <a:latin typeface="Segoe UI"/>
              </a:rPr>
              <a:t>Ders programi: sinif/ogretmen/salon bazli goruntuleme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🍝  </a:t>
            </a:r>
            <a:r>
              <a:rPr sz="1200">
                <a:solidFill>
                  <a:srgbClr val="E2E8F0"/>
                </a:solidFill>
                <a:latin typeface="Segoe UI"/>
              </a:rPr>
              <a:t>Yemek menusu: haftalik menu, alerji takibi, diyet secenekleri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🚌  </a:t>
            </a:r>
            <a:r>
              <a:rPr sz="1200">
                <a:solidFill>
                  <a:srgbClr val="E2E8F0"/>
                </a:solidFill>
                <a:latin typeface="Segoe UI"/>
              </a:rPr>
              <a:t>Servis takip: GPS canli konum, rota optimizasyonu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📩  </a:t>
            </a:r>
            <a:r>
              <a:rPr sz="1200">
                <a:solidFill>
                  <a:srgbClr val="E2E8F0"/>
                </a:solidFill>
                <a:latin typeface="Segoe UI"/>
              </a:rPr>
              <a:t>Veli talepleri: dijital form, takip numarasi, durum bildirimi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1691640"/>
            <a:ext cx="4572000" cy="4114800"/>
          </a:xfrm>
          <a:prstGeom prst="roundRect">
            <a:avLst>
              <a:gd name="adj" fmla="val 5000"/>
            </a:avLst>
          </a:prstGeom>
          <a:solidFill>
            <a:srgbClr val="152033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0" y="1828800"/>
            <a:ext cx="4206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YEMEK &amp; ALERJI:</a:t>
            </a:r>
            <a:br/>
            <a:br/>
            <a:r>
              <a:t>◆ Haftalik menu planlama</a:t>
            </a:r>
            <a:br/>
            <a:r>
              <a:t>◆ Ogrenci bazli alerji kaydi</a:t>
            </a:r>
            <a:br/>
            <a:r>
              <a:t>◆ Diyet secenekleri (vejeteryan, vegan)</a:t>
            </a:r>
            <a:br/>
            <a:r>
              <a:t>◆ Kalori &amp; besin degeri hesabi</a:t>
            </a:r>
            <a:br/>
            <a:r>
              <a:t>◆ Veli bilgilendirme</a:t>
            </a:r>
            <a:br/>
            <a:br/>
            <a:r>
              <a:t>SERVIS GPS:</a:t>
            </a:r>
            <a:br/>
            <a:br/>
            <a:r>
              <a:t>◆ Canli konum takibi</a:t>
            </a:r>
            <a:br/>
            <a:r>
              <a:t>◆ Veli mobil erisim</a:t>
            </a:r>
            <a:br/>
            <a:r>
              <a:t>◆ Tahmini varis suresi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9E0B"/>
                </a:solidFill>
                <a:latin typeface="Segoe UI Semibold"/>
              </a:defRPr>
            </a:pPr>
            <a:r>
              <a:t>MODUL DETAY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59E0B"/>
                </a:solidFill>
                <a:latin typeface="Segoe UI Emoji"/>
              </a:rPr>
              <a:t>⚠️  </a:t>
            </a:r>
            <a:r>
              <a:rPr sz="3000" b="1">
                <a:solidFill>
                  <a:srgbClr val="FFFFFF"/>
                </a:solidFill>
                <a:latin typeface="Segoe UI Black"/>
              </a:rPr>
              <a:t>Erken Uyari Sistemi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1097280"/>
            <a:ext cx="384048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123444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94A3B8"/>
                </a:solidFill>
                <a:latin typeface="Segoe UI"/>
              </a:defRPr>
            </a:pPr>
            <a:r>
              <a:t>Yapay zeka destekli 32 boyutlu risk analizi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Risk Boyutu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Risk Seviye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AI Model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7/24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Izleme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28346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🤖  </a:t>
            </a:r>
            <a:r>
              <a:rPr sz="1200">
                <a:solidFill>
                  <a:srgbClr val="E2E8F0"/>
                </a:solidFill>
                <a:latin typeface="Segoe UI"/>
              </a:rPr>
              <a:t>AI tahmin motoru: dropout riski, basari dususu, davranis degisimi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🔴  </a:t>
            </a:r>
            <a:r>
              <a:rPr sz="1200">
                <a:solidFill>
                  <a:srgbClr val="E2E8F0"/>
                </a:solidFill>
                <a:latin typeface="Segoe UI"/>
              </a:rPr>
              <a:t>4 seviye risk: Dusuk / Orta / Yuksek / Kritik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📊  </a:t>
            </a:r>
            <a:r>
              <a:rPr sz="1200">
                <a:solidFill>
                  <a:srgbClr val="E2E8F0"/>
                </a:solidFill>
                <a:latin typeface="Segoe UI"/>
              </a:rPr>
              <a:t>32 boyutlu analiz: akademik, sosyal, devamsizlik, psikolojik...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🔔  </a:t>
            </a:r>
            <a:r>
              <a:rPr sz="1200">
                <a:solidFill>
                  <a:srgbClr val="E2E8F0"/>
                </a:solidFill>
                <a:latin typeface="Segoe UI"/>
              </a:rPr>
              <a:t>Otomatik bildirim: rehber, yonetici, veli bilgilendirme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🧩  </a:t>
            </a:r>
            <a:r>
              <a:rPr sz="1200">
                <a:solidFill>
                  <a:srgbClr val="E2E8F0"/>
                </a:solidFill>
                <a:latin typeface="Segoe UI"/>
              </a:rPr>
              <a:t>Zorbalik tespiti: davranis kaliplari analizi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📋  </a:t>
            </a:r>
            <a:r>
              <a:rPr sz="1200">
                <a:solidFill>
                  <a:srgbClr val="E2E8F0"/>
                </a:solidFill>
                <a:latin typeface="Segoe UI"/>
              </a:rPr>
              <a:t>Mudahale plani: otomatik oneriler, takip sureci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1691640"/>
            <a:ext cx="4572000" cy="4114800"/>
          </a:xfrm>
          <a:prstGeom prst="roundRect">
            <a:avLst>
              <a:gd name="adj" fmla="val 5000"/>
            </a:avLst>
          </a:prstGeom>
          <a:solidFill>
            <a:srgbClr val="152033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0" y="1828800"/>
            <a:ext cx="4206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RISK BOYUTLARI (Ornek):</a:t>
            </a:r>
            <a:br/>
            <a:br/>
            <a:r>
              <a:t>◆ Akademik basari trendi</a:t>
            </a:r>
            <a:br/>
            <a:r>
              <a:t>◆ Devamsizlik orani</a:t>
            </a:r>
            <a:br/>
            <a:r>
              <a:t>◆ Not degisimi hizi</a:t>
            </a:r>
            <a:br/>
            <a:r>
              <a:t>◆ Sosyal etkilesim skoru</a:t>
            </a:r>
            <a:br/>
            <a:r>
              <a:t>◆ Mood check-in trendi</a:t>
            </a:r>
            <a:br/>
            <a:r>
              <a:t>◆ Odev teslim orani</a:t>
            </a:r>
            <a:br/>
            <a:r>
              <a:t>◆ Disiplin kayitlari</a:t>
            </a:r>
            <a:br/>
            <a:r>
              <a:t>◆ Aile durumu degisimi</a:t>
            </a:r>
            <a:br/>
            <a:r>
              <a:t>◆ Akran iliskileri</a:t>
            </a:r>
            <a:br/>
            <a:r>
              <a:t>◆ ... ve 23 boyut daha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9E0B"/>
                </a:solidFill>
                <a:latin typeface="Segoe UI Semibold"/>
              </a:defRPr>
            </a:pPr>
            <a:r>
              <a:t>MODUL DETAY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59E0B"/>
                </a:solidFill>
                <a:latin typeface="Segoe UI Emoji"/>
              </a:rPr>
              <a:t>👨‍👩‍👧  </a:t>
            </a:r>
            <a:r>
              <a:rPr sz="3000" b="1">
                <a:solidFill>
                  <a:srgbClr val="FFFFFF"/>
                </a:solidFill>
                <a:latin typeface="Segoe UI Black"/>
              </a:rPr>
              <a:t>Veli Paneli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1097280"/>
            <a:ext cx="384048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123444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94A3B8"/>
                </a:solidFill>
                <a:latin typeface="Segoe UI"/>
              </a:defRPr>
            </a:pPr>
            <a:r>
              <a:t>Veliler icin ozel tasarlanmis mobil deneyim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Cocuk Sekmesi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Kapsul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Randevu Tipi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1-Tik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Odeme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28346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👶  </a:t>
            </a:r>
            <a:r>
              <a:rPr sz="1200">
                <a:solidFill>
                  <a:srgbClr val="E2E8F0"/>
                </a:solidFill>
                <a:latin typeface="Segoe UI"/>
              </a:rPr>
              <a:t>Cocuk detay: 5 sekme (genel, notlar, devamsizlik, odevler, gorusmeler)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📊  </a:t>
            </a:r>
            <a:r>
              <a:rPr sz="1200">
                <a:solidFill>
                  <a:srgbClr val="E2E8F0"/>
                </a:solidFill>
                <a:latin typeface="Segoe UI"/>
              </a:rPr>
              <a:t>Kapsul gorunum: ozet kartlar ile hizli erisim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📅  </a:t>
            </a:r>
            <a:r>
              <a:rPr sz="1200">
                <a:solidFill>
                  <a:srgbClr val="E2E8F0"/>
                </a:solidFill>
                <a:latin typeface="Segoe UI"/>
              </a:rPr>
              <a:t>Randevu: online randevu alma, takvim goruntuleme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🚌  </a:t>
            </a:r>
            <a:r>
              <a:rPr sz="1200">
                <a:solidFill>
                  <a:srgbClr val="E2E8F0"/>
                </a:solidFill>
                <a:latin typeface="Segoe UI"/>
              </a:rPr>
              <a:t>Servis: GPS canli takip, binis/inis bildirimi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💰  </a:t>
            </a:r>
            <a:r>
              <a:rPr sz="1200">
                <a:solidFill>
                  <a:srgbClr val="E2E8F0"/>
                </a:solidFill>
                <a:latin typeface="Segoe UI"/>
              </a:rPr>
              <a:t>Odeme: taksit durumu, gecmis odemeler, online odeme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💬  </a:t>
            </a:r>
            <a:r>
              <a:rPr sz="1200">
                <a:solidFill>
                  <a:srgbClr val="E2E8F0"/>
                </a:solidFill>
                <a:latin typeface="Segoe UI"/>
              </a:rPr>
              <a:t>Mesajlasma: ogretmen ile direkt iletisim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1691640"/>
            <a:ext cx="4572000" cy="4114800"/>
          </a:xfrm>
          <a:prstGeom prst="roundRect">
            <a:avLst>
              <a:gd name="adj" fmla="val 5000"/>
            </a:avLst>
          </a:prstGeom>
          <a:solidFill>
            <a:srgbClr val="152033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0" y="1828800"/>
            <a:ext cx="4206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VELI MOBIL DENEYIMI:</a:t>
            </a:r>
            <a:br/>
            <a:br/>
            <a:r>
              <a:t>◆ Push bildirimler</a:t>
            </a:r>
            <a:br/>
            <a:r>
              <a:t>◆ Cocuk secimi (coklu cocuk)</a:t>
            </a:r>
            <a:br/>
            <a:r>
              <a:t>◆ Haftalik ozet rapor</a:t>
            </a:r>
            <a:br/>
            <a:r>
              <a:t>◆ Sinav sonuc bildirimi</a:t>
            </a:r>
            <a:br/>
            <a:r>
              <a:t>◆ Devamsizlik uyarisi</a:t>
            </a:r>
            <a:br/>
            <a:r>
              <a:t>◆ Menu goruntuleme</a:t>
            </a:r>
            <a:br/>
            <a:r>
              <a:t>◆ Servis GPS canli</a:t>
            </a:r>
            <a:br/>
            <a:r>
              <a:t>◆ Odeme hatirlatma</a:t>
            </a:r>
            <a:br/>
            <a:r>
              <a:t>◆ Duyuru &amp; etkinlikler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9E0B"/>
                </a:solidFill>
                <a:latin typeface="Segoe UI Semibold"/>
              </a:defRPr>
            </a:pPr>
            <a:r>
              <a:t>MODUL DETAY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59E0B"/>
                </a:solidFill>
                <a:latin typeface="Segoe UI Emoji"/>
              </a:rPr>
              <a:t>🎓  </a:t>
            </a:r>
            <a:r>
              <a:rPr sz="3000" b="1">
                <a:solidFill>
                  <a:srgbClr val="FFFFFF"/>
                </a:solidFill>
                <a:latin typeface="Segoe UI Black"/>
              </a:rPr>
              <a:t>Ogrenci Paneli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1097280"/>
            <a:ext cx="384048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123444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94A3B8"/>
                </a:solidFill>
                <a:latin typeface="Segoe UI"/>
              </a:defRPr>
            </a:pPr>
            <a:r>
              <a:t>Ogrenciler icin motive edici dijital deneyim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Sayfa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Dashboard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AI Ozellik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10+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Oyun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28346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📊  </a:t>
            </a:r>
            <a:r>
              <a:rPr sz="1200">
                <a:solidFill>
                  <a:srgbClr val="E2E8F0"/>
                </a:solidFill>
                <a:latin typeface="Segoe UI"/>
              </a:rPr>
              <a:t>Kisisel dashboard: not ortalamasi, siralama, hedefler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📓  </a:t>
            </a:r>
            <a:r>
              <a:rPr sz="1200">
                <a:solidFill>
                  <a:srgbClr val="E2E8F0"/>
                </a:solidFill>
                <a:latin typeface="Segoe UI"/>
              </a:rPr>
              <a:t>Dijital defterim: ders notlari, odevler, kaynaklar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🤖  </a:t>
            </a:r>
            <a:r>
              <a:rPr sz="1200">
                <a:solidFill>
                  <a:srgbClr val="E2E8F0"/>
                </a:solidFill>
                <a:latin typeface="Segoe UI"/>
              </a:rPr>
              <a:t>AI asistan: soru sorma, aciklama, ders plani onerisi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🎮  </a:t>
            </a:r>
            <a:r>
              <a:rPr sz="1200">
                <a:solidFill>
                  <a:srgbClr val="E2E8F0"/>
                </a:solidFill>
                <a:latin typeface="Segoe UI"/>
              </a:rPr>
              <a:t>Egitici oyunlar: matematik, kelime, hafiza, bulmaca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🏆  </a:t>
            </a:r>
            <a:r>
              <a:rPr sz="1200">
                <a:solidFill>
                  <a:srgbClr val="E2E8F0"/>
                </a:solidFill>
                <a:latin typeface="Segoe UI"/>
              </a:rPr>
              <a:t>Basari rozetleri: gamification ile motivasyon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📚  </a:t>
            </a:r>
            <a:r>
              <a:rPr sz="1200">
                <a:solidFill>
                  <a:srgbClr val="E2E8F0"/>
                </a:solidFill>
                <a:latin typeface="Segoe UI"/>
              </a:rPr>
              <a:t>Online sinav: zamana karsi yaris, aninda sonuc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1691640"/>
            <a:ext cx="4572000" cy="4114800"/>
          </a:xfrm>
          <a:prstGeom prst="roundRect">
            <a:avLst>
              <a:gd name="adj" fmla="val 5000"/>
            </a:avLst>
          </a:prstGeom>
          <a:solidFill>
            <a:srgbClr val="152033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0" y="1828800"/>
            <a:ext cx="4206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GAMIFICATION:</a:t>
            </a:r>
            <a:br/>
            <a:br/>
            <a:r>
              <a:t>◆ XP puan sistemi</a:t>
            </a:r>
            <a:br/>
            <a:r>
              <a:t>◆ Seviye atlama</a:t>
            </a:r>
            <a:br/>
            <a:r>
              <a:t>◆ Basari rozetleri</a:t>
            </a:r>
            <a:br/>
            <a:r>
              <a:t>◆ Haftalik liderlik tablosu</a:t>
            </a:r>
            <a:br/>
            <a:r>
              <a:t>◆ Gorev tamamlama oduller</a:t>
            </a:r>
            <a:br/>
            <a:br/>
            <a:r>
              <a:t>AI ASISTAN:</a:t>
            </a:r>
            <a:br/>
            <a:br/>
            <a:r>
              <a:t>◆ 7/24 soru yanit</a:t>
            </a:r>
            <a:br/>
            <a:r>
              <a:t>◆ Ders anlatimi</a:t>
            </a:r>
            <a:br/>
            <a:r>
              <a:t>◆ Calisma plani onerisi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9E0B"/>
                </a:solidFill>
                <a:latin typeface="Segoe UI Semibold"/>
              </a:defRPr>
            </a:pPr>
            <a:r>
              <a:t>MODUL DETAY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59E0B"/>
                </a:solidFill>
                <a:latin typeface="Segoe UI Emoji"/>
              </a:rPr>
              <a:t>🌐  </a:t>
            </a:r>
            <a:r>
              <a:rPr sz="3000" b="1">
                <a:solidFill>
                  <a:srgbClr val="FFFFFF"/>
                </a:solidFill>
                <a:latin typeface="Segoe UI Black"/>
              </a:rPr>
              <a:t>Dijital Ogrenme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1097280"/>
            <a:ext cx="384048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123444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94A3B8"/>
                </a:solidFill>
                <a:latin typeface="Segoe UI"/>
              </a:defRPr>
            </a:pPr>
            <a:r>
              <a:t>5 dil, CEFR, STEAM ve AI destekli ogrenme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Dil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CEFR Seviye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STEAM Alani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AI Treni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28346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🇬🇧  </a:t>
            </a:r>
            <a:r>
              <a:rPr sz="1200">
                <a:solidFill>
                  <a:srgbClr val="E2E8F0"/>
                </a:solidFill>
                <a:latin typeface="Segoe UI"/>
              </a:rPr>
              <a:t>Ingilizce, Almanca, Fransizca, Ispanyolca, Arapca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📊  </a:t>
            </a:r>
            <a:r>
              <a:rPr sz="1200">
                <a:solidFill>
                  <a:srgbClr val="E2E8F0"/>
                </a:solidFill>
                <a:latin typeface="Segoe UI"/>
              </a:rPr>
              <a:t>CEFR seviye belirleme: A1-C2 otomatik yerlestirme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🤖  </a:t>
            </a:r>
            <a:r>
              <a:rPr sz="1200">
                <a:solidFill>
                  <a:srgbClr val="E2E8F0"/>
                </a:solidFill>
                <a:latin typeface="Segoe UI"/>
              </a:rPr>
              <a:t>AI Treni: interaktif, gomulu, backend gerektirmez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🔬  </a:t>
            </a:r>
            <a:r>
              <a:rPr sz="1200">
                <a:solidFill>
                  <a:srgbClr val="E2E8F0"/>
                </a:solidFill>
                <a:latin typeface="Segoe UI"/>
              </a:rPr>
              <a:t>STEAM projeleri: bilim, teknoloji, muhendislik, sanat, matematik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🎮  </a:t>
            </a:r>
            <a:r>
              <a:rPr sz="1200">
                <a:solidFill>
                  <a:srgbClr val="E2E8F0"/>
                </a:solidFill>
                <a:latin typeface="Segoe UI"/>
              </a:rPr>
              <a:t>Interaktif alistirmalar: dinleme, konusma, yazma, okuma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📋  </a:t>
            </a:r>
            <a:r>
              <a:rPr sz="1200">
                <a:solidFill>
                  <a:srgbClr val="E2E8F0"/>
                </a:solidFill>
                <a:latin typeface="Segoe UI"/>
              </a:rPr>
              <a:t>Ilerleme takibi: beceri bazli, haftalik rapor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1691640"/>
            <a:ext cx="4572000" cy="4114800"/>
          </a:xfrm>
          <a:prstGeom prst="roundRect">
            <a:avLst>
              <a:gd name="adj" fmla="val 5000"/>
            </a:avLst>
          </a:prstGeom>
          <a:solidFill>
            <a:srgbClr val="152033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0" y="1828800"/>
            <a:ext cx="4206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DESTEKLENEN DILLER:</a:t>
            </a:r>
            <a:br/>
            <a:br/>
            <a:r>
              <a:t>🇬🇧 Ingilizce (Cambridge)</a:t>
            </a:r>
            <a:br/>
            <a:r>
              <a:t>🇩🇪 Almanca (Goethe)</a:t>
            </a:r>
            <a:br/>
            <a:r>
              <a:t>🇫🇷 Fransizca (DELF)</a:t>
            </a:r>
            <a:br/>
            <a:r>
              <a:t>🇪🇸 Ispanyolca (DELE)</a:t>
            </a:r>
            <a:br/>
            <a:r>
              <a:t>🇸🇦 Arapca</a:t>
            </a:r>
            <a:br/>
            <a:br/>
            <a:r>
              <a:t>AI TRENI:</a:t>
            </a:r>
            <a:br/>
            <a:r>
              <a:t>Tamamen gomulu calisir.</a:t>
            </a:r>
            <a:br/>
            <a:r>
              <a:t>Backend gerektirmez.</a:t>
            </a:r>
            <a:br/>
            <a:r>
              <a:t>Interaktif soru-cevap.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9E0B"/>
                </a:solidFill>
                <a:latin typeface="Segoe UI Semibold"/>
              </a:defRPr>
            </a:pPr>
            <a:r>
              <a:t>MODUL DETAY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59E0B"/>
                </a:solidFill>
                <a:latin typeface="Segoe UI Emoji"/>
              </a:rPr>
              <a:t>📚  </a:t>
            </a:r>
            <a:r>
              <a:rPr sz="3000" b="1">
                <a:solidFill>
                  <a:srgbClr val="FFFFFF"/>
                </a:solidFill>
                <a:latin typeface="Segoe UI Black"/>
              </a:rPr>
              <a:t>Kutuphane &amp; Etkinlik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1097280"/>
            <a:ext cx="384048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123444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94A3B8"/>
                </a:solidFill>
                <a:latin typeface="Segoe UI"/>
              </a:defRPr>
            </a:pPr>
            <a:r>
              <a:t>Barkodlu kutuphane + kulup &amp; etkinlik yonetimi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Kutuphane Mod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Kulup Tipi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Etkinlik/Yil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1-Tik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Barkod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28346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📖  </a:t>
            </a:r>
            <a:r>
              <a:rPr sz="1200">
                <a:solidFill>
                  <a:srgbClr val="E2E8F0"/>
                </a:solidFill>
                <a:latin typeface="Segoe UI"/>
              </a:rPr>
              <a:t>Kitap katalogu: barkod ile hizli kayit, ISBN arama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🔄  </a:t>
            </a:r>
            <a:r>
              <a:rPr sz="1200">
                <a:solidFill>
                  <a:srgbClr val="E2E8F0"/>
                </a:solidFill>
                <a:latin typeface="Segoe UI"/>
              </a:rPr>
              <a:t>Odunc/iade: barkod okutma, otomatik sure takibi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🔔  </a:t>
            </a:r>
            <a:r>
              <a:rPr sz="1200">
                <a:solidFill>
                  <a:srgbClr val="E2E8F0"/>
                </a:solidFill>
                <a:latin typeface="Segoe UI"/>
              </a:rPr>
              <a:t>Gecikme uyari: SMS/email, ceza hesaplama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🎭  </a:t>
            </a:r>
            <a:r>
              <a:rPr sz="1200">
                <a:solidFill>
                  <a:srgbClr val="E2E8F0"/>
                </a:solidFill>
                <a:latin typeface="Segoe UI"/>
              </a:rPr>
              <a:t>Kulup yonetimi: kayit, yoklama, etkinlik planlama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🏆  </a:t>
            </a:r>
            <a:r>
              <a:rPr sz="1200">
                <a:solidFill>
                  <a:srgbClr val="E2E8F0"/>
                </a:solidFill>
                <a:latin typeface="Segoe UI"/>
              </a:rPr>
              <a:t>Etkinlik takvimi: okul geneli, sinif bazli, disaridan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📊  </a:t>
            </a:r>
            <a:r>
              <a:rPr sz="1200">
                <a:solidFill>
                  <a:srgbClr val="E2E8F0"/>
                </a:solidFill>
                <a:latin typeface="Segoe UI"/>
              </a:rPr>
              <a:t>Okuma istatistikleri: ogrenci bazli, sinif karsilastirma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1691640"/>
            <a:ext cx="4572000" cy="4114800"/>
          </a:xfrm>
          <a:prstGeom prst="roundRect">
            <a:avLst>
              <a:gd name="adj" fmla="val 5000"/>
            </a:avLst>
          </a:prstGeom>
          <a:solidFill>
            <a:srgbClr val="152033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0" y="1828800"/>
            <a:ext cx="4206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BARKOD SISTEMI:</a:t>
            </a:r>
            <a:br/>
            <a:br/>
            <a:r>
              <a:t>◆ ISBN barkod okuma</a:t>
            </a:r>
            <a:br/>
            <a:r>
              <a:t>◆ Ogrenci kimlik barkod</a:t>
            </a:r>
            <a:br/>
            <a:r>
              <a:t>◆ 1 saniyede odunc/iade</a:t>
            </a:r>
            <a:br/>
            <a:r>
              <a:t>◆ Stok sayim kolayligi</a:t>
            </a:r>
            <a:br/>
            <a:br/>
            <a:r>
              <a:t>KULUP YONETIMI:</a:t>
            </a:r>
            <a:br/>
            <a:br/>
            <a:r>
              <a:t>◆ Spor kulupler</a:t>
            </a:r>
            <a:br/>
            <a:r>
              <a:t>◆ Sanat &amp; muzik</a:t>
            </a:r>
            <a:br/>
            <a:r>
              <a:t>◆ Bilim &amp; teknoloji</a:t>
            </a:r>
            <a:br/>
            <a:r>
              <a:t>◆ Sosyal sorumluluk</a:t>
            </a:r>
            <a:br/>
            <a:r>
              <a:t>◆ Liderlik programi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9E0B"/>
                </a:solidFill>
                <a:latin typeface="Segoe UI Semibold"/>
              </a:defRPr>
            </a:pPr>
            <a:r>
              <a:t>MODUL DETAY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59E0B"/>
                </a:solidFill>
                <a:latin typeface="Segoe UI Emoji"/>
              </a:rPr>
              <a:t>🏥  </a:t>
            </a:r>
            <a:r>
              <a:rPr sz="3000" b="1">
                <a:solidFill>
                  <a:srgbClr val="FFFFFF"/>
                </a:solidFill>
                <a:latin typeface="Segoe UI Black"/>
              </a:rPr>
              <a:t>Saglik &amp; Guvenlik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1097280"/>
            <a:ext cx="384048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123444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94A3B8"/>
                </a:solidFill>
                <a:latin typeface="Segoe UI"/>
              </a:defRPr>
            </a:pPr>
            <a:r>
              <a:t>Revir, sivil savunma, is sagligi guvenligi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Ana Alan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Revir Kayit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Tatbikat/Yil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7/24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Kriz Hatti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28346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💊  </a:t>
            </a:r>
            <a:r>
              <a:rPr sz="1200">
                <a:solidFill>
                  <a:srgbClr val="E2E8F0"/>
                </a:solidFill>
                <a:latin typeface="Segoe UI"/>
              </a:rPr>
              <a:t>Revir kayitlari: saglik gecmisi, ilac takibi, alerji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🚑  </a:t>
            </a:r>
            <a:r>
              <a:rPr sz="1200">
                <a:solidFill>
                  <a:srgbClr val="E2E8F0"/>
                </a:solidFill>
                <a:latin typeface="Segoe UI"/>
              </a:rPr>
              <a:t>Acil durum: kriz protokolu, ambulans cagrisi, veli bilgilendirme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🛡️  </a:t>
            </a:r>
            <a:r>
              <a:rPr sz="1200">
                <a:solidFill>
                  <a:srgbClr val="E2E8F0"/>
                </a:solidFill>
                <a:latin typeface="Segoe UI"/>
              </a:rPr>
              <a:t>Sivil savunma: deprem/yangin tatbikati, tahliye plani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🧰  </a:t>
            </a:r>
            <a:r>
              <a:rPr sz="1200">
                <a:solidFill>
                  <a:srgbClr val="E2E8F0"/>
                </a:solidFill>
                <a:latin typeface="Segoe UI"/>
              </a:rPr>
              <a:t>ISG: risk degerlendirme, is kazasi kaydi, denetim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💉  </a:t>
            </a:r>
            <a:r>
              <a:rPr sz="1200">
                <a:solidFill>
                  <a:srgbClr val="E2E8F0"/>
                </a:solidFill>
                <a:latin typeface="Segoe UI"/>
              </a:rPr>
              <a:t>Asi takibi: ogrenci asi kayitlari, hatirlatma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📋  </a:t>
            </a:r>
            <a:r>
              <a:rPr sz="1200">
                <a:solidFill>
                  <a:srgbClr val="E2E8F0"/>
                </a:solidFill>
                <a:latin typeface="Segoe UI"/>
              </a:rPr>
              <a:t>Saglik raporu: donemsel saglik istatistikleri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1691640"/>
            <a:ext cx="4572000" cy="4114800"/>
          </a:xfrm>
          <a:prstGeom prst="roundRect">
            <a:avLst>
              <a:gd name="adj" fmla="val 5000"/>
            </a:avLst>
          </a:prstGeom>
          <a:solidFill>
            <a:srgbClr val="152033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0" y="1828800"/>
            <a:ext cx="4206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REVIR KAYIT SISTEMI:</a:t>
            </a:r>
            <a:br/>
            <a:br/>
            <a:r>
              <a:t>◆ Ogrenci saglik profili</a:t>
            </a:r>
            <a:br/>
            <a:r>
              <a:t>◆ Kronik hastalik takibi</a:t>
            </a:r>
            <a:br/>
            <a:r>
              <a:t>◆ Ilac bilgisi (alerji!)</a:t>
            </a:r>
            <a:br/>
            <a:r>
              <a:t>◆ Revir ziyaret kaydi</a:t>
            </a:r>
            <a:br/>
            <a:r>
              <a:t>◆ Kaza/yaralanma formu</a:t>
            </a:r>
            <a:br/>
            <a:br/>
            <a:r>
              <a:t>SIVIL SAVUNMA:</a:t>
            </a:r>
            <a:br/>
            <a:br/>
            <a:r>
              <a:t>◆ Deprem tatbikati plani</a:t>
            </a:r>
            <a:br/>
            <a:r>
              <a:t>◆ Yangin tahliye rotasi</a:t>
            </a:r>
            <a:br/>
            <a:r>
              <a:t>◆ Toplanma alani bilgisi</a:t>
            </a:r>
            <a:br/>
            <a:r>
              <a:t>◆ Veli bilgilendirme SMS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9E0B"/>
                </a:solidFill>
                <a:latin typeface="Segoe UI Semibold"/>
              </a:defRPr>
            </a:pPr>
            <a:r>
              <a:t>MODUL DETAY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59E0B"/>
                </a:solidFill>
                <a:latin typeface="Segoe UI Emoji"/>
              </a:rPr>
              <a:t>📊  </a:t>
            </a:r>
            <a:r>
              <a:rPr sz="3000" b="1">
                <a:solidFill>
                  <a:srgbClr val="FFFFFF"/>
                </a:solidFill>
                <a:latin typeface="Segoe UI Black"/>
              </a:rPr>
              <a:t>Analitik Dashboard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1097280"/>
            <a:ext cx="384048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123444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94A3B8"/>
                </a:solidFill>
                <a:latin typeface="Segoe UI"/>
              </a:defRPr>
            </a:pPr>
            <a:r>
              <a:t>Plotly ile gorsellestirme, veri odakli karar destek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Dashboard Tab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15+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Grafik Tipi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Karsilastirma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PDF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Export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28346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📊  </a:t>
            </a:r>
            <a:r>
              <a:rPr sz="1200">
                <a:solidFill>
                  <a:srgbClr val="E2E8F0"/>
                </a:solidFill>
                <a:latin typeface="Segoe UI"/>
              </a:rPr>
              <a:t>Sinif bazli basari analizi: ortalama, dagılım, trend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📈  </a:t>
            </a:r>
            <a:r>
              <a:rPr sz="1200">
                <a:solidFill>
                  <a:srgbClr val="E2E8F0"/>
                </a:solidFill>
                <a:latin typeface="Segoe UI"/>
              </a:rPr>
              <a:t>Donem karsilastirma: 1. ve 2. donem, yillik trend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🎯  </a:t>
            </a:r>
            <a:r>
              <a:rPr sz="1200">
                <a:solidFill>
                  <a:srgbClr val="E2E8F0"/>
                </a:solidFill>
                <a:latin typeface="Segoe UI"/>
              </a:rPr>
              <a:t>Ders bazli analiz: en basarili/basarisiz dersler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👥  </a:t>
            </a:r>
            <a:r>
              <a:rPr sz="1200">
                <a:solidFill>
                  <a:srgbClr val="E2E8F0"/>
                </a:solidFill>
                <a:latin typeface="Segoe UI"/>
              </a:rPr>
              <a:t>Ogretmen performansi: sinif ortalamalari karsilastirma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📋  </a:t>
            </a:r>
            <a:r>
              <a:rPr sz="1200">
                <a:solidFill>
                  <a:srgbClr val="E2E8F0"/>
                </a:solidFill>
                <a:latin typeface="Segoe UI"/>
              </a:rPr>
              <a:t>Devamsizlik analizi: gun/saat bazli, trend grafikleri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📥  </a:t>
            </a:r>
            <a:r>
              <a:rPr sz="1200">
                <a:solidFill>
                  <a:srgbClr val="E2E8F0"/>
                </a:solidFill>
                <a:latin typeface="Segoe UI"/>
              </a:rPr>
              <a:t>PDF/Excel export: tum raporlar indirilebilir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1691640"/>
            <a:ext cx="4572000" cy="4114800"/>
          </a:xfrm>
          <a:prstGeom prst="roundRect">
            <a:avLst>
              <a:gd name="adj" fmla="val 5000"/>
            </a:avLst>
          </a:prstGeom>
          <a:solidFill>
            <a:srgbClr val="152033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0" y="1828800"/>
            <a:ext cx="4206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PLOTLY GORSELLESTIRME:</a:t>
            </a:r>
            <a:br/>
            <a:br/>
            <a:r>
              <a:t>◆ Bar chart — sinif karsilastirma</a:t>
            </a:r>
            <a:br/>
            <a:r>
              <a:t>◆ Line chart — trend analizi</a:t>
            </a:r>
            <a:br/>
            <a:r>
              <a:t>◆ Pie chart — dagılım</a:t>
            </a:r>
            <a:br/>
            <a:r>
              <a:t>◆ Heatmap — ders/sinif matrix</a:t>
            </a:r>
            <a:br/>
            <a:r>
              <a:t>◆ Box plot — not dagılımı</a:t>
            </a:r>
            <a:br/>
            <a:r>
              <a:t>◆ Scatter — korelasyon</a:t>
            </a:r>
            <a:br/>
            <a:r>
              <a:t>◆ Radar — coklu boyut</a:t>
            </a:r>
            <a:br/>
            <a:br/>
            <a:r>
              <a:t>Tum grafikler interaktif,</a:t>
            </a:r>
            <a:br/>
            <a:r>
              <a:t>zoom + hover detay.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9E0B"/>
                </a:solidFill>
                <a:latin typeface="Segoe UI Semibold"/>
              </a:defRPr>
            </a:pPr>
            <a:r>
              <a:t>MODUL DETAY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59E0B"/>
                </a:solidFill>
                <a:latin typeface="Segoe UI Emoji"/>
              </a:rPr>
              <a:t>📢  </a:t>
            </a:r>
            <a:r>
              <a:rPr sz="3000" b="1">
                <a:solidFill>
                  <a:srgbClr val="FFFFFF"/>
                </a:solidFill>
                <a:latin typeface="Segoe UI Black"/>
              </a:rPr>
              <a:t>Sosyal Medya &amp; Iletisim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1097280"/>
            <a:ext cx="384048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123444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94A3B8"/>
                </a:solidFill>
                <a:latin typeface="Segoe UI"/>
              </a:defRPr>
            </a:pPr>
            <a:r>
              <a:t>Icerik takvimi, mesajlasma, gorusme yonetimi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Kanal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Gun/Ay Plan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Mesaj Turu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SMS Saglayici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28346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📅  </a:t>
            </a:r>
            <a:r>
              <a:rPr sz="1200">
                <a:solidFill>
                  <a:srgbClr val="E2E8F0"/>
                </a:solidFill>
                <a:latin typeface="Segoe UI"/>
              </a:rPr>
              <a:t>Icerik takvimi: aylik plan, onay sureci, otomatik paylasim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💬  </a:t>
            </a:r>
            <a:r>
              <a:rPr sz="1200">
                <a:solidFill>
                  <a:srgbClr val="E2E8F0"/>
                </a:solidFill>
                <a:latin typeface="Segoe UI"/>
              </a:rPr>
              <a:t>Mesajlasma: veli-ogretmen, yonetici duyuru, toplu mesaj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📧  </a:t>
            </a:r>
            <a:r>
              <a:rPr sz="1200">
                <a:solidFill>
                  <a:srgbClr val="E2E8F0"/>
                </a:solidFill>
                <a:latin typeface="Segoe UI"/>
              </a:rPr>
              <a:t>Email: SMTP entegrasyon, sablon destekli, toplu gonderim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📱  </a:t>
            </a:r>
            <a:r>
              <a:rPr sz="1200">
                <a:solidFill>
                  <a:srgbClr val="E2E8F0"/>
                </a:solidFill>
                <a:latin typeface="Segoe UI"/>
              </a:rPr>
              <a:t>SMS: NetGSM/Twilio, otomatik hatirlatma, maliyet takibi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📋  </a:t>
            </a:r>
            <a:r>
              <a:rPr sz="1200">
                <a:solidFill>
                  <a:srgbClr val="E2E8F0"/>
                </a:solidFill>
                <a:latin typeface="Segoe UI"/>
              </a:rPr>
              <a:t>Gorusme kaydi: tarih, katilimci, konu, sonuc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📊  </a:t>
            </a:r>
            <a:r>
              <a:rPr sz="1200">
                <a:solidFill>
                  <a:srgbClr val="E2E8F0"/>
                </a:solidFill>
                <a:latin typeface="Segoe UI"/>
              </a:rPr>
              <a:t>Iletisim analitigi: acilma orani, yanit suresi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1691640"/>
            <a:ext cx="4572000" cy="4114800"/>
          </a:xfrm>
          <a:prstGeom prst="roundRect">
            <a:avLst>
              <a:gd name="adj" fmla="val 5000"/>
            </a:avLst>
          </a:prstGeom>
          <a:solidFill>
            <a:srgbClr val="152033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0" y="1828800"/>
            <a:ext cx="4206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ILETISIM KANALLARI:</a:t>
            </a:r>
            <a:br/>
            <a:br/>
            <a:r>
              <a:t>◆ SMS (NetGSM / Twilio)</a:t>
            </a:r>
            <a:br/>
            <a:r>
              <a:t>◆ Email (SMTP)</a:t>
            </a:r>
            <a:br/>
            <a:r>
              <a:t>◆ Push Bildirim (Mobil)</a:t>
            </a:r>
            <a:br/>
            <a:r>
              <a:t>◆ Uygulama Ici Mesaj</a:t>
            </a:r>
            <a:br/>
            <a:br/>
            <a:r>
              <a:t>OTOMATIK BILDIRIMLER:</a:t>
            </a:r>
            <a:br/>
            <a:br/>
            <a:r>
              <a:t>◆ Sinav sonucu</a:t>
            </a:r>
            <a:br/>
            <a:r>
              <a:t>◆ Devamsizlik uyarisi</a:t>
            </a:r>
            <a:br/>
            <a:r>
              <a:t>◆ Odeme hatirlatma</a:t>
            </a:r>
            <a:br/>
            <a:r>
              <a:t>◆ Etkinlik duyurusu</a:t>
            </a:r>
            <a:br/>
            <a:r>
              <a:t>◆ Randevu onay/iptal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9E0B"/>
                </a:solidFill>
                <a:latin typeface="Segoe UI Semibold"/>
              </a:defRPr>
            </a:pPr>
            <a:r>
              <a:t>MODUL DETAY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59E0B"/>
                </a:solidFill>
                <a:latin typeface="Segoe UI Emoji"/>
              </a:rPr>
              <a:t>🏆  </a:t>
            </a:r>
            <a:r>
              <a:rPr sz="3000" b="1">
                <a:solidFill>
                  <a:srgbClr val="FFFFFF"/>
                </a:solidFill>
                <a:latin typeface="Segoe UI Black"/>
              </a:rPr>
              <a:t>Sertifika Uretici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1097280"/>
            <a:ext cx="384048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123444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94A3B8"/>
                </a:solidFill>
                <a:latin typeface="Segoe UI"/>
              </a:defRPr>
            </a:pPr>
            <a:r>
              <a:t>7 sablon, toplu PDF uretimi, ZIP export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Sablon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PDF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Cikti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ZIP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Toplu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QR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Dogrulama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28346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📜  </a:t>
            </a:r>
            <a:r>
              <a:rPr sz="1200">
                <a:solidFill>
                  <a:srgbClr val="E2E8F0"/>
                </a:solidFill>
                <a:latin typeface="Segoe UI"/>
              </a:rPr>
              <a:t>7 profesyonel sablon: katilim, basari, tesekkur, spor, sanat...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🎨  </a:t>
            </a:r>
            <a:r>
              <a:rPr sz="1200">
                <a:solidFill>
                  <a:srgbClr val="E2E8F0"/>
                </a:solidFill>
                <a:latin typeface="Segoe UI"/>
              </a:rPr>
              <a:t>Kurumsal tasarim: logo, renkler, imza alani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📥  </a:t>
            </a:r>
            <a:r>
              <a:rPr sz="1200">
                <a:solidFill>
                  <a:srgbClr val="E2E8F0"/>
                </a:solidFill>
                <a:latin typeface="Segoe UI"/>
              </a:rPr>
              <a:t>Toplu uretim: sinif bazli, etkinlik bazli, ZIP indirme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📱  </a:t>
            </a:r>
            <a:r>
              <a:rPr sz="1200">
                <a:solidFill>
                  <a:srgbClr val="E2E8F0"/>
                </a:solidFill>
                <a:latin typeface="Segoe UI"/>
              </a:rPr>
              <a:t>QR dogrulama: her sertifikada benzersiz QR kod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🖊️  </a:t>
            </a:r>
            <a:r>
              <a:rPr sz="1200">
                <a:solidFill>
                  <a:srgbClr val="E2E8F0"/>
                </a:solidFill>
                <a:latin typeface="Segoe UI"/>
              </a:rPr>
              <a:t>Dijital imza: yonetici + ogretmen imza alani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📊  </a:t>
            </a:r>
            <a:r>
              <a:rPr sz="1200">
                <a:solidFill>
                  <a:srgbClr val="E2E8F0"/>
                </a:solidFill>
                <a:latin typeface="Segoe UI"/>
              </a:rPr>
              <a:t>Arsiv: tum uretilen sertifikalar kayit altinda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1691640"/>
            <a:ext cx="4572000" cy="4114800"/>
          </a:xfrm>
          <a:prstGeom prst="roundRect">
            <a:avLst>
              <a:gd name="adj" fmla="val 5000"/>
            </a:avLst>
          </a:prstGeom>
          <a:solidFill>
            <a:srgbClr val="152033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0" y="1828800"/>
            <a:ext cx="4206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SABLON TURLERI:</a:t>
            </a:r>
            <a:br/>
            <a:br/>
            <a:r>
              <a:t>◆ Katilim Belgesi</a:t>
            </a:r>
            <a:br/>
            <a:r>
              <a:t>◆ Basari Belgesi</a:t>
            </a:r>
            <a:br/>
            <a:r>
              <a:t>◆ Tesekkur Belgesi</a:t>
            </a:r>
            <a:br/>
            <a:r>
              <a:t>◆ Spor Basari</a:t>
            </a:r>
            <a:br/>
            <a:r>
              <a:t>◆ Sanat &amp; Muzik</a:t>
            </a:r>
            <a:br/>
            <a:r>
              <a:t>◆ Bilim Olimpiyadi</a:t>
            </a:r>
            <a:br/>
            <a:r>
              <a:t>◆ Ozel Tasarim</a:t>
            </a:r>
            <a:br/>
            <a:br/>
            <a:r>
              <a:t>Her sertifika PDF formatinda,</a:t>
            </a:r>
            <a:br/>
            <a:r>
              <a:t>QR kod ile dogrulanabilir.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9E0B"/>
                </a:solidFill>
                <a:latin typeface="Segoe UI Semibold"/>
              </a:defRPr>
            </a:pPr>
            <a:r>
              <a:t>MODUL DETAY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59E0B"/>
                </a:solidFill>
                <a:latin typeface="Segoe UI Emoji"/>
              </a:rPr>
              <a:t>🔧  </a:t>
            </a:r>
            <a:r>
              <a:rPr sz="3000" b="1">
                <a:solidFill>
                  <a:srgbClr val="FFFFFF"/>
                </a:solidFill>
                <a:latin typeface="Segoe UI Black"/>
              </a:rPr>
              <a:t>Destek Hizmetleri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1097280"/>
            <a:ext cx="384048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123444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94A3B8"/>
                </a:solidFill>
                <a:latin typeface="Segoe UI"/>
              </a:defRPr>
            </a:pPr>
            <a:r>
              <a:t>Bakim, talep, denetim ve tesis yonetimi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Ana Alan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Talep Turu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Oncelik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Denetim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28346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📋  </a:t>
            </a:r>
            <a:r>
              <a:rPr sz="1200">
                <a:solidFill>
                  <a:srgbClr val="E2E8F0"/>
                </a:solidFill>
                <a:latin typeface="Segoe UI"/>
              </a:rPr>
              <a:t>Talep yonetimi: ariza bildirimi, oncelik, atama, takip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🔧  </a:t>
            </a:r>
            <a:r>
              <a:rPr sz="1200">
                <a:solidFill>
                  <a:srgbClr val="E2E8F0"/>
                </a:solidFill>
                <a:latin typeface="Segoe UI"/>
              </a:rPr>
              <a:t>Bakim planlama: periyodik bakim takvimi, hatirlatma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🔍  </a:t>
            </a:r>
            <a:r>
              <a:rPr sz="1200">
                <a:solidFill>
                  <a:srgbClr val="E2E8F0"/>
                </a:solidFill>
                <a:latin typeface="Segoe UI"/>
              </a:rPr>
              <a:t>Denetim: bina/sinif denetimi, kontrol listesi, puanlama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🏫  </a:t>
            </a:r>
            <a:r>
              <a:rPr sz="1200">
                <a:solidFill>
                  <a:srgbClr val="E2E8F0"/>
                </a:solidFill>
                <a:latin typeface="Segoe UI"/>
              </a:rPr>
              <a:t>Tesis yonetimi: salon/sinif envanteri, kapasite planlama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📊  </a:t>
            </a:r>
            <a:r>
              <a:rPr sz="1200">
                <a:solidFill>
                  <a:srgbClr val="E2E8F0"/>
                </a:solidFill>
                <a:latin typeface="Segoe UI"/>
              </a:rPr>
              <a:t>Raporlama: ariza istatistikleri, cozum suresi analizi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🔔  </a:t>
            </a:r>
            <a:r>
              <a:rPr sz="1200">
                <a:solidFill>
                  <a:srgbClr val="E2E8F0"/>
                </a:solidFill>
                <a:latin typeface="Segoe UI"/>
              </a:rPr>
              <a:t>Bildirim: talep durumu degisikliginde otomatik uyari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1691640"/>
            <a:ext cx="4572000" cy="4114800"/>
          </a:xfrm>
          <a:prstGeom prst="roundRect">
            <a:avLst>
              <a:gd name="adj" fmla="val 5000"/>
            </a:avLst>
          </a:prstGeom>
          <a:solidFill>
            <a:srgbClr val="152033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0" y="1828800"/>
            <a:ext cx="4206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TALEP SURECI:</a:t>
            </a:r>
            <a:br/>
            <a:br/>
            <a:r>
              <a:t>◆ 1. Bildirim (herkes)</a:t>
            </a:r>
            <a:br/>
            <a:r>
              <a:t>◆ 2. Onceliklendirme</a:t>
            </a:r>
            <a:br/>
            <a:r>
              <a:t>◆ 3. Atama (teknik ekip)</a:t>
            </a:r>
            <a:br/>
            <a:r>
              <a:t>◆ 4. Is emri olusturma</a:t>
            </a:r>
            <a:br/>
            <a:r>
              <a:t>◆ 5. Cozum &amp; onay</a:t>
            </a:r>
            <a:br/>
            <a:r>
              <a:t>◆ 6. Kapatma &amp; rapor</a:t>
            </a:r>
            <a:br/>
            <a:br/>
            <a:r>
              <a:t>Ortalama cozum suresi: &lt;24 saat</a:t>
            </a:r>
            <a:br/>
            <a:r>
              <a:t>Memnuniyet anketi: her talep sonrasi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9E0B"/>
                </a:solidFill>
                <a:latin typeface="Segoe UI Semibold"/>
              </a:defRPr>
            </a:pPr>
            <a:r>
              <a:t>MODUL DETAY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59E0B"/>
                </a:solidFill>
                <a:latin typeface="Segoe UI Emoji"/>
              </a:rPr>
              <a:t>🤝  </a:t>
            </a:r>
            <a:r>
              <a:rPr sz="3000" b="1">
                <a:solidFill>
                  <a:srgbClr val="FFFFFF"/>
                </a:solidFill>
                <a:latin typeface="Segoe UI Black"/>
              </a:rPr>
              <a:t>Toplanti &amp; Randevu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1097280"/>
            <a:ext cx="384048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123444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94A3B8"/>
                </a:solidFill>
                <a:latin typeface="Segoe UI"/>
              </a:defRPr>
            </a:pPr>
            <a:r>
              <a:t>Ogretmenler kurulu, ziyaretci yonetimi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Toplanti Tipi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Randevu Tab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Ziyaretci Adim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PDF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Tutanak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28346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📋  </a:t>
            </a:r>
            <a:r>
              <a:rPr sz="1200">
                <a:solidFill>
                  <a:srgbClr val="E2E8F0"/>
                </a:solidFill>
                <a:latin typeface="Segoe UI"/>
              </a:rPr>
              <a:t>Ogretmenler kurulu: gundem, katilim, tutanak, karar takibi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📅  </a:t>
            </a:r>
            <a:r>
              <a:rPr sz="1200">
                <a:solidFill>
                  <a:srgbClr val="E2E8F0"/>
                </a:solidFill>
                <a:latin typeface="Segoe UI"/>
              </a:rPr>
              <a:t>Randevu sistemi: online alma, onaylama, hatirlatma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🚶  </a:t>
            </a:r>
            <a:r>
              <a:rPr sz="1200">
                <a:solidFill>
                  <a:srgbClr val="E2E8F0"/>
                </a:solidFill>
                <a:latin typeface="Segoe UI"/>
              </a:rPr>
              <a:t>Ziyaretci giris/cikis: kimlik kaydi, ziyaret nedeni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📜  </a:t>
            </a:r>
            <a:r>
              <a:rPr sz="1200">
                <a:solidFill>
                  <a:srgbClr val="E2E8F0"/>
                </a:solidFill>
                <a:latin typeface="Segoe UI"/>
              </a:rPr>
              <a:t>Toplanti tutanagi: otomatik PDF, katilimci imzasi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🔔  </a:t>
            </a:r>
            <a:r>
              <a:rPr sz="1200">
                <a:solidFill>
                  <a:srgbClr val="E2E8F0"/>
                </a:solidFill>
                <a:latin typeface="Segoe UI"/>
              </a:rPr>
              <a:t>Hatirlatma: SMS/email ile toplanti oncesi uyari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📊  </a:t>
            </a:r>
            <a:r>
              <a:rPr sz="1200">
                <a:solidFill>
                  <a:srgbClr val="E2E8F0"/>
                </a:solidFill>
                <a:latin typeface="Segoe UI"/>
              </a:rPr>
              <a:t>Istatistik: toplanti suresi, katilim orani analizi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1691640"/>
            <a:ext cx="4572000" cy="4114800"/>
          </a:xfrm>
          <a:prstGeom prst="roundRect">
            <a:avLst>
              <a:gd name="adj" fmla="val 5000"/>
            </a:avLst>
          </a:prstGeom>
          <a:solidFill>
            <a:srgbClr val="152033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0" y="1828800"/>
            <a:ext cx="4206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ZIYARETCI YONETIMI:</a:t>
            </a:r>
            <a:br/>
            <a:br/>
            <a:r>
              <a:t>◆ 1. Kimlik kaydi</a:t>
            </a:r>
            <a:br/>
            <a:r>
              <a:t>◆ 2. Ziyaret nedeni</a:t>
            </a:r>
            <a:br/>
            <a:r>
              <a:t>◆ 3. Gorusulecek kisi</a:t>
            </a:r>
            <a:br/>
            <a:r>
              <a:t>◆ 4. Giris saati kaydi</a:t>
            </a:r>
            <a:br/>
            <a:r>
              <a:t>◆ 5. Cikis saati kaydi</a:t>
            </a:r>
            <a:br/>
            <a:br/>
            <a:r>
              <a:t>Gorusulecek unvanlar IK</a:t>
            </a:r>
            <a:br/>
            <a:r>
              <a:t>modulunden otomatik gelir.</a:t>
            </a:r>
            <a:br/>
            <a:r>
              <a:t>Tum ziyaretler arsivlenir.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9E0B"/>
                </a:solidFill>
                <a:latin typeface="Segoe UI Semibold"/>
              </a:defRPr>
            </a:pPr>
            <a:r>
              <a:t>MODUL DETAY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59E0B"/>
                </a:solidFill>
                <a:latin typeface="Segoe UI Emoji"/>
              </a:rPr>
              <a:t>🎓  </a:t>
            </a:r>
            <a:r>
              <a:rPr sz="3000" b="1">
                <a:solidFill>
                  <a:srgbClr val="FFFFFF"/>
                </a:solidFill>
                <a:latin typeface="Segoe UI Black"/>
              </a:rPr>
              <a:t>Mezunlar &amp; Kariyer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1097280"/>
            <a:ext cx="384048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123444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94A3B8"/>
                </a:solidFill>
                <a:latin typeface="Segoe UI"/>
              </a:defRPr>
            </a:pPr>
            <a:r>
              <a:t>Mezun takibi ve universite yerlestirme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Ana Alan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Takip Kriteri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100+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Universite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PDF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Rapor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28346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🎓  </a:t>
            </a:r>
            <a:r>
              <a:rPr sz="1200">
                <a:solidFill>
                  <a:srgbClr val="E2E8F0"/>
                </a:solidFill>
                <a:latin typeface="Segoe UI"/>
              </a:rPr>
              <a:t>Mezun veritabani: iletisim, universite, kariyer bilgileri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🏫  </a:t>
            </a:r>
            <a:r>
              <a:rPr sz="1200">
                <a:solidFill>
                  <a:srgbClr val="E2E8F0"/>
                </a:solidFill>
                <a:latin typeface="Segoe UI"/>
              </a:rPr>
              <a:t>Universite yerlestirme: YKS sonuc takibi, istatistikler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💼  </a:t>
            </a:r>
            <a:r>
              <a:rPr sz="1200">
                <a:solidFill>
                  <a:srgbClr val="E2E8F0"/>
                </a:solidFill>
                <a:latin typeface="Segoe UI"/>
              </a:rPr>
              <a:t>Kariyer rehberligi: ilgi alani testi, meslek onerileri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📊  </a:t>
            </a:r>
            <a:r>
              <a:rPr sz="1200">
                <a:solidFill>
                  <a:srgbClr val="E2E8F0"/>
                </a:solidFill>
                <a:latin typeface="Segoe UI"/>
              </a:rPr>
              <a:t>Basari haritasi: mezunlarin universite dagılımı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💬  </a:t>
            </a:r>
            <a:r>
              <a:rPr sz="1200">
                <a:solidFill>
                  <a:srgbClr val="E2E8F0"/>
                </a:solidFill>
                <a:latin typeface="Segoe UI"/>
              </a:rPr>
              <a:t>Mezun iletisim: etkinlik davet, referans programa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🏆  </a:t>
            </a:r>
            <a:r>
              <a:rPr sz="1200">
                <a:solidFill>
                  <a:srgbClr val="E2E8F0"/>
                </a:solidFill>
                <a:latin typeface="Segoe UI"/>
              </a:rPr>
              <a:t>Basari hikayeleri: vitrin sayfasi, motivasyon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1691640"/>
            <a:ext cx="4572000" cy="4114800"/>
          </a:xfrm>
          <a:prstGeom prst="roundRect">
            <a:avLst>
              <a:gd name="adj" fmla="val 5000"/>
            </a:avLst>
          </a:prstGeom>
          <a:solidFill>
            <a:srgbClr val="152033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0" y="1828800"/>
            <a:ext cx="4206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UNIVERSITE ISTATISTIKLERI:</a:t>
            </a:r>
            <a:br/>
            <a:br/>
            <a:r>
              <a:t>◆ YKS puan dagılımı</a:t>
            </a:r>
            <a:br/>
            <a:r>
              <a:t>◆ Bolum bazli yerlestirme</a:t>
            </a:r>
            <a:br/>
            <a:r>
              <a:t>◆ Yillara gore trend</a:t>
            </a:r>
            <a:br/>
            <a:r>
              <a:t>◆ Turkiye siralamasi</a:t>
            </a:r>
            <a:br/>
            <a:r>
              <a:t>◆ Burslu ogrenci orani</a:t>
            </a:r>
            <a:br/>
            <a:br/>
            <a:r>
              <a:t>KARIYER REHBERLIGI:</a:t>
            </a:r>
            <a:br/>
            <a:br/>
            <a:r>
              <a:t>◆ Holland ilgi envanteti</a:t>
            </a:r>
            <a:br/>
            <a:r>
              <a:t>◆ AI bazli oneri motoru</a:t>
            </a:r>
            <a:br/>
            <a:r>
              <a:t>◆ Mentor eslestirme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9E0B"/>
                </a:solidFill>
                <a:latin typeface="Segoe UI Semibold"/>
              </a:defRPr>
            </a:pPr>
            <a:r>
              <a:t>MODUL DETAY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59E0B"/>
                </a:solidFill>
                <a:latin typeface="Segoe UI Emoji"/>
              </a:rPr>
              <a:t>🤖  </a:t>
            </a:r>
            <a:r>
              <a:rPr sz="3000" b="1">
                <a:solidFill>
                  <a:srgbClr val="FFFFFF"/>
                </a:solidFill>
                <a:latin typeface="Segoe UI Black"/>
              </a:rPr>
              <a:t>SmartI — AI Asistan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1097280"/>
            <a:ext cx="384048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123444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94A3B8"/>
                </a:solidFill>
                <a:latin typeface="Segoe UI"/>
              </a:defRPr>
            </a:pPr>
            <a:r>
              <a:t>GPT-4o-mini destekli yapay zeka copilot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GPT-4o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AI Model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7/24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Erisim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Mod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691640"/>
            <a:ext cx="164592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82880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3317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Dil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28346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💬  </a:t>
            </a:r>
            <a:r>
              <a:rPr sz="1200">
                <a:solidFill>
                  <a:srgbClr val="E2E8F0"/>
                </a:solidFill>
                <a:latin typeface="Segoe UI"/>
              </a:rPr>
              <a:t>Sohbet modu: ogrenci/ogretmen/veli icin AI chat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🎙️  </a:t>
            </a:r>
            <a:r>
              <a:rPr sz="1200">
                <a:solidFill>
                  <a:srgbClr val="E2E8F0"/>
                </a:solidFill>
                <a:latin typeface="Segoe UI"/>
              </a:rPr>
              <a:t>Sesli mod: konusarak soru sorma, AI yanit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📖  </a:t>
            </a:r>
            <a:r>
              <a:rPr sz="1200">
                <a:solidFill>
                  <a:srgbClr val="E2E8F0"/>
                </a:solidFill>
                <a:latin typeface="Segoe UI"/>
              </a:rPr>
              <a:t>Ders plani copilot: AI ile haftalik plan olusturma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📝  </a:t>
            </a:r>
            <a:r>
              <a:rPr sz="1200">
                <a:solidFill>
                  <a:srgbClr val="E2E8F0"/>
                </a:solidFill>
                <a:latin typeface="Segoe UI"/>
              </a:rPr>
              <a:t>Soru uretimi: kazanim bazli, Bloom taksonomisi, 7 soru tipi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📊  </a:t>
            </a:r>
            <a:r>
              <a:rPr sz="1200">
                <a:solidFill>
                  <a:srgbClr val="E2E8F0"/>
                </a:solidFill>
                <a:latin typeface="Segoe UI"/>
              </a:rPr>
              <a:t>Analiz: ogrenci performans ozeti, oneri motoru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🌍  </a:t>
            </a:r>
            <a:r>
              <a:rPr sz="1200">
                <a:solidFill>
                  <a:srgbClr val="E2E8F0"/>
                </a:solidFill>
                <a:latin typeface="Segoe UI"/>
              </a:rPr>
              <a:t>Coklu dil: Turkce, Ingilizce, Almanca destek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1691640"/>
            <a:ext cx="4572000" cy="4114800"/>
          </a:xfrm>
          <a:prstGeom prst="roundRect">
            <a:avLst>
              <a:gd name="adj" fmla="val 5000"/>
            </a:avLst>
          </a:prstGeom>
          <a:solidFill>
            <a:srgbClr val="152033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0" y="1828800"/>
            <a:ext cx="4206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AI KULLANIM ALANLARI:</a:t>
            </a:r>
            <a:br/>
            <a:br/>
            <a:r>
              <a:t>◆ Soru bankasi uretimi</a:t>
            </a:r>
            <a:br/>
            <a:r>
              <a:t>◆ PDF'den soru cikarma</a:t>
            </a:r>
            <a:br/>
            <a:r>
              <a:t>◆ Ders plani olusturma</a:t>
            </a:r>
            <a:br/>
            <a:r>
              <a:t>◆ Ogrenci analiz raporu</a:t>
            </a:r>
            <a:br/>
            <a:r>
              <a:t>◆ Telafi gorevi olusturma</a:t>
            </a:r>
            <a:br/>
            <a:r>
              <a:t>◆ Lead skorlama</a:t>
            </a:r>
            <a:br/>
            <a:r>
              <a:t>◆ Mood analizi</a:t>
            </a:r>
            <a:br/>
            <a:r>
              <a:t>◆ Risk tahmini</a:t>
            </a:r>
            <a:br/>
            <a:br/>
            <a:r>
              <a:t>Tum AI islemleri audit log ile</a:t>
            </a:r>
            <a:br/>
            <a:r>
              <a:t>kayit altindadir.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9E0B"/>
                </a:solidFill>
                <a:latin typeface="Segoe UI Semibold"/>
              </a:defRPr>
            </a:pPr>
            <a:r>
              <a:t>MOBIL UYGULAMA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59E0B"/>
                </a:solidFill>
                <a:latin typeface="Segoe UI Emoji"/>
              </a:rPr>
              <a:t>📱  </a:t>
            </a:r>
            <a:r>
              <a:rPr sz="3000" b="1">
                <a:solidFill>
                  <a:srgbClr val="FFFFFF"/>
                </a:solidFill>
                <a:latin typeface="Segoe UI Black"/>
              </a:rPr>
              <a:t>SmartCampus Mobil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1097280"/>
            <a:ext cx="384048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123444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4A3B8"/>
                </a:solidFill>
                <a:latin typeface="Segoe UI"/>
              </a:defRPr>
            </a:pPr>
            <a:r>
              <a:t>Flutter Android — 99 Dart dosyasi, 5 rol, ultra premium tasarim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228600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7452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77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Dart Dosyasi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1737360"/>
            <a:ext cx="228600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0" y="187452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377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Rol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0" y="1737360"/>
            <a:ext cx="228600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187452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50+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377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Ekran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737360"/>
            <a:ext cx="228600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187452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600" b="1">
                <a:solidFill>
                  <a:srgbClr val="F59E0B"/>
                </a:solidFill>
                <a:latin typeface="Segoe UI Black"/>
              </a:defRPr>
            </a:pPr>
            <a:r>
              <a:t>Dark/Light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377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Tema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29260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👑  </a:t>
            </a:r>
            <a:r>
              <a:rPr sz="1200">
                <a:solidFill>
                  <a:srgbClr val="E2E8F0"/>
                </a:solidFill>
                <a:latin typeface="Segoe UI"/>
              </a:rPr>
              <a:t>Yonetici: Dashboard, ogrenci listesi, bildirim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📚  </a:t>
            </a:r>
            <a:r>
              <a:rPr sz="1200">
                <a:solidFill>
                  <a:srgbClr val="E2E8F0"/>
                </a:solidFill>
                <a:latin typeface="Segoe UI"/>
              </a:rPr>
              <a:t>Ogretmen: Siniflarim, yoklama, not, ders defteri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🧠  </a:t>
            </a:r>
            <a:r>
              <a:rPr sz="1200">
                <a:solidFill>
                  <a:srgbClr val="E2E8F0"/>
                </a:solidFill>
                <a:latin typeface="Segoe UI"/>
              </a:rPr>
              <a:t>Rehber: Vaka, gorusme, mood, 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9260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👨‍👩‍👧  </a:t>
            </a:r>
            <a:r>
              <a:rPr sz="1200">
                <a:solidFill>
                  <a:srgbClr val="E2E8F0"/>
                </a:solidFill>
                <a:latin typeface="Segoe UI"/>
              </a:rPr>
              <a:t>Veli: Cocuk takip, randevu, servis, odeme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🎓  </a:t>
            </a:r>
            <a:r>
              <a:rPr sz="1200">
                <a:solidFill>
                  <a:srgbClr val="E2E8F0"/>
                </a:solidFill>
                <a:latin typeface="Segoe UI"/>
              </a:rPr>
              <a:t>Ogrenci: Dashboard, AI, sinav, oyunlar</a:t>
            </a:r>
          </a:p>
          <a:p>
            <a:pPr algn="l">
              <a:lnSpc>
                <a:spcPct val="150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🎨  </a:t>
            </a:r>
            <a:r>
              <a:rPr sz="1200">
                <a:solidFill>
                  <a:srgbClr val="E2E8F0"/>
                </a:solidFill>
                <a:latin typeface="Segoe UI"/>
              </a:rPr>
              <a:t>Ultra Premium: Gold-navy tasarim, glass effect, shimmer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9E0B"/>
                </a:solidFill>
                <a:latin typeface="Segoe UI Semibold"/>
              </a:defRPr>
            </a:pPr>
            <a:r>
              <a:t>MOBIL OZELLIKLER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Segoe UI Black"/>
              </a:defRPr>
            </a:pPr>
            <a:r>
              <a:t>Mobil Uygulama Detay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1005840"/>
            <a:ext cx="338328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40080" y="1645920"/>
            <a:ext cx="3291840" cy="18288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200" b="0">
                <a:solidFill>
                  <a:srgbClr val="FFFFFF"/>
                </a:solidFill>
                <a:latin typeface="Segoe UI Emoji"/>
              </a:defRPr>
            </a:pPr>
            <a:r>
              <a:t>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Offline Cache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68880"/>
            <a:ext cx="2926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Internet olmadan da calisir.</a:t>
            </a:r>
            <a:br/>
            <a:r>
              <a:t>Veri senkronizasyonu otomatik.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645920"/>
            <a:ext cx="3291840" cy="18288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7830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200" b="0">
                <a:solidFill>
                  <a:srgbClr val="FFFFFF"/>
                </a:solidFill>
                <a:latin typeface="Segoe UI Emoji"/>
              </a:defRPr>
            </a:pPr>
            <a:r>
              <a:t>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1488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Push Bildirim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468880"/>
            <a:ext cx="2926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Aninda bildirim.</a:t>
            </a:r>
            <a:br/>
            <a:r>
              <a:t>Sinav, not, duyuru, randevu.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645920"/>
            <a:ext cx="3291840" cy="18288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0" y="17830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200" b="0">
                <a:solidFill>
                  <a:srgbClr val="FFFFFF"/>
                </a:solidFill>
                <a:latin typeface="Segoe UI Emoji"/>
              </a:defRPr>
            </a:pPr>
            <a:r>
              <a:t>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21488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Dark/Light Tema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0" y="2468880"/>
            <a:ext cx="2926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Kullanici tercihine gore.</a:t>
            </a:r>
            <a:br/>
            <a:r>
              <a:t>Goz yorgunlugu azaltici.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749040"/>
            <a:ext cx="3291840" cy="18288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886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200" b="0">
                <a:solidFill>
                  <a:srgbClr val="FFFFFF"/>
                </a:solidFill>
                <a:latin typeface="Segoe UI Emoji"/>
              </a:defRPr>
            </a:pPr>
            <a:r>
              <a:t>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2519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Sifre Degistirme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572000"/>
            <a:ext cx="2926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Guvenli giris.</a:t>
            </a:r>
            <a:br/>
            <a:r>
              <a:t>bcrypt sifreleme.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06240" y="3749040"/>
            <a:ext cx="3291840" cy="18288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3886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200" b="0">
                <a:solidFill>
                  <a:srgbClr val="FFFFFF"/>
                </a:solidFill>
                <a:latin typeface="Segoe UI Emoji"/>
              </a:defRPr>
            </a:pPr>
            <a:r>
              <a:t>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42519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Responsive UI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4572000"/>
            <a:ext cx="2926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Her ekran boyutunda</a:t>
            </a:r>
            <a:br/>
            <a:r>
              <a:t>mukemmel gorunum.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0" y="3749040"/>
            <a:ext cx="3291840" cy="18288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80" y="3886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200" b="0">
                <a:solidFill>
                  <a:srgbClr val="FFFFFF"/>
                </a:solidFill>
                <a:latin typeface="Segoe UI Emoji"/>
              </a:defRPr>
            </a:pPr>
            <a:r>
              <a:t>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80" y="42519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Auto Update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80" y="4572000"/>
            <a:ext cx="2926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Yeni versiyon bildirimi.</a:t>
            </a:r>
            <a:br/>
            <a:r>
              <a:t>Tek tikla guncelleme.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9E0B"/>
                </a:solidFill>
                <a:latin typeface="Segoe UI Semibold"/>
              </a:defRPr>
            </a:pPr>
            <a:r>
              <a:t>CI/CD &amp; DAGITIM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Segoe UI Black"/>
              </a:defRPr>
            </a:pPr>
            <a:r>
              <a:t>APK Build &amp; Dagitim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1005840"/>
            <a:ext cx="338328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822960" y="1645920"/>
            <a:ext cx="2286000" cy="18288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800" b="0">
                <a:solidFill>
                  <a:srgbClr val="F59E0B"/>
                </a:solidFill>
                <a:latin typeface="Segoe UI Emoji"/>
              </a:defRPr>
            </a:pPr>
            <a:r>
              <a:t>1️⃣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Git Push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56032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Kod degisikligi</a:t>
            </a:r>
            <a:br/>
            <a:r>
              <a:t>GitHub'a push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22860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0">
                <a:solidFill>
                  <a:srgbClr val="F59E0B"/>
                </a:solidFill>
                <a:latin typeface="Segoe UI"/>
              </a:defRPr>
            </a:pPr>
            <a: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1645920"/>
            <a:ext cx="2286000" cy="18288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800" b="0">
                <a:solidFill>
                  <a:srgbClr val="F59E0B"/>
                </a:solidFill>
                <a:latin typeface="Segoe UI Emoji"/>
              </a:defRPr>
            </a:pPr>
            <a:r>
              <a:t>2️⃣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1945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GitHub Actions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256032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Otomatik CI/CD</a:t>
            </a:r>
            <a:br/>
            <a:r>
              <a:t>Test &amp; build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22860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0">
                <a:solidFill>
                  <a:srgbClr val="F59E0B"/>
                </a:solidFill>
                <a:latin typeface="Segoe UI"/>
              </a:defRPr>
            </a:pPr>
            <a: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645920"/>
            <a:ext cx="2286000" cy="18288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800" b="0">
                <a:solidFill>
                  <a:srgbClr val="F59E0B"/>
                </a:solidFill>
                <a:latin typeface="Segoe UI Emoji"/>
              </a:defRPr>
            </a:pPr>
            <a:r>
              <a:t>3️⃣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1945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Flutter Build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56032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APK uretimi</a:t>
            </a:r>
            <a:br/>
            <a:r>
              <a:t>Release mode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22860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0">
                <a:solidFill>
                  <a:srgbClr val="F59E0B"/>
                </a:solidFill>
                <a:latin typeface="Segoe UI"/>
              </a:defRPr>
            </a:pPr>
            <a:r>
              <a:t>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52560" y="1645920"/>
            <a:ext cx="2286000" cy="18288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0" y="1783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800" b="0">
                <a:solidFill>
                  <a:srgbClr val="F59E0B"/>
                </a:solidFill>
                <a:latin typeface="Segoe UI Emoji"/>
              </a:defRPr>
            </a:pPr>
            <a:r>
              <a:t>4️⃣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21945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Play Store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256032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Dagitim hazir</a:t>
            </a:r>
            <a:br/>
            <a:r>
              <a:t>AAB format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3931920"/>
            <a:ext cx="10698480" cy="2011680"/>
          </a:xfrm>
          <a:prstGeom prst="roundRect">
            <a:avLst>
              <a:gd name="adj" fmla="val 5000"/>
            </a:avLst>
          </a:prstGeom>
          <a:solidFill>
            <a:srgbClr val="152033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411480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✅  </a:t>
            </a:r>
            <a:r>
              <a:rPr sz="1100">
                <a:solidFill>
                  <a:srgbClr val="E2E8F0"/>
                </a:solidFill>
                <a:latin typeface="Segoe UI"/>
              </a:rPr>
              <a:t>GitHub Actions workflow: otomatik test + build her push'ta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✅  </a:t>
            </a:r>
            <a:r>
              <a:rPr sz="1100">
                <a:solidFill>
                  <a:srgbClr val="E2E8F0"/>
                </a:solidFill>
                <a:latin typeface="Segoe UI"/>
              </a:rPr>
              <a:t>Flutter 3.x + Dart 3.x: en guncel framework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✅  </a:t>
            </a:r>
            <a:r>
              <a:rPr sz="1100">
                <a:solidFill>
                  <a:srgbClr val="E2E8F0"/>
                </a:solidFill>
                <a:latin typeface="Segoe UI"/>
              </a:rPr>
              <a:t>Release APK: ProGuard optimizasyonu, ~25MB boyut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✅  </a:t>
            </a:r>
            <a:r>
              <a:rPr sz="1100">
                <a:solidFill>
                  <a:srgbClr val="E2E8F0"/>
                </a:solidFill>
                <a:latin typeface="Segoe UI"/>
              </a:rPr>
              <a:t>AAB format: Play Store icin optimize edilmis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✅  </a:t>
            </a:r>
            <a:r>
              <a:rPr sz="1100">
                <a:solidFill>
                  <a:srgbClr val="E2E8F0"/>
                </a:solidFill>
                <a:latin typeface="Segoe UI"/>
              </a:rPr>
              <a:t>Versiyon yonetimi: semantic versioning (major.minor.patch)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✅  </a:t>
            </a:r>
            <a:r>
              <a:rPr sz="1100">
                <a:solidFill>
                  <a:srgbClr val="E2E8F0"/>
                </a:solidFill>
                <a:latin typeface="Segoe UI"/>
              </a:rPr>
              <a:t>Kod imzalama: keystore ile guvenli dagitim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9E0B"/>
                </a:solidFill>
                <a:latin typeface="Segoe UI Semibold"/>
              </a:defRPr>
            </a:pPr>
            <a:r>
              <a:t>TEKNIK ALTYAPI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Segoe UI Black"/>
              </a:defRPr>
            </a:pPr>
            <a:r>
              <a:t>Mimari &amp; Teknoloji Stack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1005840"/>
            <a:ext cx="338328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40080" y="1554480"/>
            <a:ext cx="2468880" cy="36576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800" b="0">
                <a:solidFill>
                  <a:srgbClr val="FFFFFF"/>
                </a:solidFill>
                <a:latin typeface="Segoe UI Emoji"/>
              </a:defRPr>
            </a:pPr>
            <a:r>
              <a:t>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FFFFFF"/>
                </a:solidFill>
                <a:latin typeface="Segoe UI Black"/>
              </a:defRPr>
            </a:pPr>
            <a:r>
              <a:t>FRONTEND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2377440"/>
            <a:ext cx="1828800" cy="256032"/>
          </a:xfrm>
          <a:prstGeom prst="roundRect">
            <a:avLst>
              <a:gd name="adj" fmla="val 5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37744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FFFFFF"/>
                </a:solidFill>
                <a:latin typeface="Segoe UI"/>
              </a:defRPr>
            </a:pPr>
            <a:r>
              <a:t>Streamlit (Python)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346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◆  30+ modul, 390+ sekme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918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◆  Responsive tasarim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7490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◆  Custom CSS temaları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2062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◆  Session state yonetimi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1554480"/>
            <a:ext cx="2468880" cy="36576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83280" y="16916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800" b="0">
                <a:solidFill>
                  <a:srgbClr val="FFFFFF"/>
                </a:solidFill>
                <a:latin typeface="Segoe UI Emoji"/>
              </a:defRPr>
            </a:pPr>
            <a:r>
              <a:t>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205740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FFFFFF"/>
                </a:solidFill>
                <a:latin typeface="Segoe UI Black"/>
              </a:defRPr>
            </a:pPr>
            <a:r>
              <a:t>MOBILE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03320" y="2377440"/>
            <a:ext cx="1828800" cy="256032"/>
          </a:xfrm>
          <a:prstGeom prst="roundRect">
            <a:avLst>
              <a:gd name="adj" fmla="val 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3320" y="237744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FFFFFF"/>
                </a:solidFill>
                <a:latin typeface="Segoe UI"/>
              </a:defRPr>
            </a:pPr>
            <a:r>
              <a:t>Flutter (Dart)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8346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◆  99 sayfa, 5 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32918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◆  Material Design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7490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◆  Provider state mgmt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42062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◆  Offline-first mimari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1554480"/>
            <a:ext cx="2468880" cy="36576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26480" y="16916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800" b="0">
                <a:solidFill>
                  <a:srgbClr val="FFFFFF"/>
                </a:solidFill>
                <a:latin typeface="Segoe UI Emoji"/>
              </a:defRPr>
            </a:pPr>
            <a:r>
              <a:t>⚙️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205740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FFFFFF"/>
                </a:solidFill>
                <a:latin typeface="Segoe UI Black"/>
              </a:defRPr>
            </a:pPr>
            <a:r>
              <a:t>BACKEND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46520" y="2377440"/>
            <a:ext cx="1828800" cy="256032"/>
          </a:xfrm>
          <a:prstGeom prst="roundRect">
            <a:avLst>
              <a:gd name="adj" fmla="val 5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237744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FFFFFF"/>
                </a:solidFill>
                <a:latin typeface="Segoe UI"/>
              </a:defRPr>
            </a:pPr>
            <a:r>
              <a:t>FastAPI (Python)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28346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◆  143 REST API route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32918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◆  Async/await pattern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37490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◆  Pydantic validation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42062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◆  OpenAPI (Swagger) docs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69680" y="1554480"/>
            <a:ext cx="2468880" cy="36576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9680" y="16916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800" b="0">
                <a:solidFill>
                  <a:srgbClr val="FFFFFF"/>
                </a:solidFill>
                <a:latin typeface="Segoe UI Emoji"/>
              </a:defRPr>
            </a:pPr>
            <a:r>
              <a:t>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0" y="205740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FFFFFF"/>
                </a:solidFill>
                <a:latin typeface="Segoe UI Black"/>
              </a:defRPr>
            </a:pPr>
            <a:r>
              <a:t>DATA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89720" y="2377440"/>
            <a:ext cx="1828800" cy="256032"/>
          </a:xfrm>
          <a:prstGeom prst="roundRect">
            <a:avLst>
              <a:gd name="adj" fmla="val 5000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89720" y="237744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FFFFFF"/>
                </a:solidFill>
                <a:latin typeface="Segoe UI"/>
              </a:defRPr>
            </a:pPr>
            <a:r>
              <a:t>JSON + File Store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06840" y="28346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◆  687+ veri dosyasi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06840" y="32918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◆  Multi-tenant izolasyon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06840" y="37490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◆  Otomatik yedekleme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06840" y="42062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◆  SQLite'a gecise hazir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5669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64748B"/>
                </a:solidFill>
                <a:latin typeface="Segoe UI"/>
              </a:defRPr>
            </a:pPr>
            <a:r>
              <a:t>Python 3.11+  |  Dart 3.x  |  FastAPI 0.100+  |  Streamlit 1.30+  |  OpenAI API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9E0B"/>
                </a:solidFill>
                <a:latin typeface="Segoe UI Semibold"/>
              </a:defRPr>
            </a:pPr>
            <a:r>
              <a:t>GUVENLIK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Segoe UI Black"/>
              </a:defRPr>
            </a:pPr>
            <a:r>
              <a:t>Enterprise Guvenlik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1005840"/>
            <a:ext cx="338328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40080" y="1645920"/>
            <a:ext cx="3291840" cy="16459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200" b="0">
                <a:solidFill>
                  <a:srgbClr val="FFFFFF"/>
                </a:solidFill>
                <a:latin typeface="Segoe UI Emoji"/>
              </a:defRPr>
            </a:pPr>
            <a:r>
              <a:t>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JWT Authentication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68880"/>
            <a:ext cx="2926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JSON Web Token ile guvenli oturum yonetimi. Access + refresh token pattern.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645920"/>
            <a:ext cx="3291840" cy="16459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7830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200" b="0">
                <a:solidFill>
                  <a:srgbClr val="FFFFFF"/>
                </a:solidFill>
                <a:latin typeface="Segoe UI Emoji"/>
              </a:defRPr>
            </a:pPr>
            <a:r>
              <a:t>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1488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bcrypt Sifreleme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468880"/>
            <a:ext cx="2926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Endstri standardi sifre hashleme. Brute-force koruması. Salt + hash.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645920"/>
            <a:ext cx="3291840" cy="16459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0" y="17830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200" b="0">
                <a:solidFill>
                  <a:srgbClr val="FFFFFF"/>
                </a:solidFill>
                <a:latin typeface="Segoe UI Emoji"/>
              </a:defRPr>
            </a:pPr>
            <a:r>
              <a:t>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21488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Rate Limiting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0" y="2468880"/>
            <a:ext cx="2926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API isteklerinde hiz sinirlandirma. DDoS korumasi. IP bazli limit.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566160"/>
            <a:ext cx="3291840" cy="16459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7033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200" b="0">
                <a:solidFill>
                  <a:srgbClr val="FFFFFF"/>
                </a:solidFill>
                <a:latin typeface="Segoe UI Emoji"/>
              </a:defRPr>
            </a:pPr>
            <a:r>
              <a:t>🛡️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0690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CORS Policy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389120"/>
            <a:ext cx="2926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Cross-origin guvenlik. Sadece yetkili domain'ler erisebilir.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06240" y="3566160"/>
            <a:ext cx="3291840" cy="16459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37033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200" b="0">
                <a:solidFill>
                  <a:srgbClr val="FFFFFF"/>
                </a:solidFill>
                <a:latin typeface="Segoe UI Emoji"/>
              </a:defRPr>
            </a:pPr>
            <a:r>
              <a:t>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40690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Env Var Sifreler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4389120"/>
            <a:ext cx="2926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Hassas bilgiler .env dosyasinda. Kod icerisinde sifre yok.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0" y="3566160"/>
            <a:ext cx="3291840" cy="16459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80" y="37033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200" b="0">
                <a:solidFill>
                  <a:srgbClr val="FFFFFF"/>
                </a:solidFill>
                <a:latin typeface="Segoe UI Emoji"/>
              </a:defRPr>
            </a:pPr>
            <a:r>
              <a:t>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80" y="40690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Rol Bazli Erisim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80" y="4389120"/>
            <a:ext cx="2926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5 rol, granular yetki. Her kullanici sadece yetkili ekranlari gorur.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9E0B"/>
                </a:solidFill>
                <a:latin typeface="Segoe UI Semibold"/>
              </a:defRPr>
            </a:pPr>
            <a:r>
              <a:t>ENTEGRASYONLAR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Segoe UI Black"/>
              </a:defRPr>
            </a:pPr>
            <a:r>
              <a:t>Dis Sistem Entegrasyonlari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1005840"/>
            <a:ext cx="338328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31520" y="1645920"/>
            <a:ext cx="5029200" cy="10058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373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400" b="0">
                <a:solidFill>
                  <a:srgbClr val="FFFFFF"/>
                </a:solidFill>
                <a:latin typeface="Segoe UI Emoji"/>
              </a:defRPr>
            </a:pPr>
            <a:r>
              <a:t>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737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SMS</a:t>
            </a:r>
            <a:r>
              <a:rPr sz="1000" b="0">
                <a:solidFill>
                  <a:srgbClr val="64748B"/>
                </a:solidFill>
                <a:latin typeface="Segoe UI"/>
              </a:rPr>
              <a:t>  |  </a:t>
            </a:r>
            <a:r>
              <a:rPr sz="1100" b="1">
                <a:solidFill>
                  <a:srgbClr val="3B82F6"/>
                </a:solidFill>
                <a:latin typeface="Segoe UI"/>
              </a:rPr>
              <a:t>NetGSM / Twilio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10312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Otomatik bildirim, toplu SMS, maliyet takibi, sablon yonetimi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34640"/>
            <a:ext cx="5029200" cy="10058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260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400" b="0">
                <a:solidFill>
                  <a:srgbClr val="FFFFFF"/>
                </a:solidFill>
                <a:latin typeface="Segoe UI Emoji"/>
              </a:defRPr>
            </a:pPr>
            <a:r>
              <a:t>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9260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Email</a:t>
            </a:r>
            <a:r>
              <a:rPr sz="1000" b="0">
                <a:solidFill>
                  <a:srgbClr val="64748B"/>
                </a:solidFill>
                <a:latin typeface="Segoe UI"/>
              </a:rPr>
              <a:t>  |  </a:t>
            </a:r>
            <a:r>
              <a:rPr sz="1100" b="1">
                <a:solidFill>
                  <a:srgbClr val="10B981"/>
                </a:solidFill>
                <a:latin typeface="Segoe UI"/>
              </a:rPr>
              <a:t>SMTP Protokolu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29184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Otomatik email, HTML sablon, toplu gonderim, bounce takibi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023360"/>
            <a:ext cx="5029200" cy="10058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1148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400" b="0">
                <a:solidFill>
                  <a:srgbClr val="FFFFFF"/>
                </a:solidFill>
                <a:latin typeface="Segoe UI Emoji"/>
              </a:defRPr>
            </a:pPr>
            <a:r>
              <a:t>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1148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AI</a:t>
            </a:r>
            <a:r>
              <a:rPr sz="1000" b="0">
                <a:solidFill>
                  <a:srgbClr val="64748B"/>
                </a:solidFill>
                <a:latin typeface="Segoe UI"/>
              </a:rPr>
              <a:t>  |  </a:t>
            </a:r>
            <a:r>
              <a:rPr sz="1100" b="1">
                <a:solidFill>
                  <a:srgbClr val="8B5CF6"/>
                </a:solidFill>
                <a:latin typeface="Segoe UI"/>
              </a:rPr>
              <a:t>OpenAI GPT-4o-mini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48056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Soru uretimi, ders plani, ogrenci analiz, chat asistan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12080"/>
            <a:ext cx="5029200" cy="10058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3035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400" b="0">
                <a:solidFill>
                  <a:srgbClr val="FFFFFF"/>
                </a:solidFill>
                <a:latin typeface="Segoe UI Emoji"/>
              </a:defRPr>
            </a:pPr>
            <a:r>
              <a:t>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5303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Odeme</a:t>
            </a:r>
            <a:r>
              <a:rPr sz="1000" b="0">
                <a:solidFill>
                  <a:srgbClr val="64748B"/>
                </a:solidFill>
                <a:latin typeface="Segoe UI"/>
              </a:rPr>
              <a:t>  |  </a:t>
            </a:r>
            <a:r>
              <a:rPr sz="1100" b="1">
                <a:solidFill>
                  <a:srgbClr val="F59E0B"/>
                </a:solidFill>
                <a:latin typeface="Segoe UI"/>
              </a:rPr>
              <a:t>Banka Entegrasyon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669280"/>
            <a:ext cx="4297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Online odeme, taksit takibi, otomatik eslestirme, makbuz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1645920"/>
            <a:ext cx="5029200" cy="4114800"/>
          </a:xfrm>
          <a:prstGeom prst="roundRect">
            <a:avLst>
              <a:gd name="adj" fmla="val 5000"/>
            </a:avLst>
          </a:prstGeom>
          <a:solidFill>
            <a:srgbClr val="152033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178308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F59E0B"/>
                </a:solidFill>
                <a:latin typeface="Segoe UI"/>
              </a:defRPr>
            </a:pPr>
            <a:r>
              <a:t>ENTEGRASYON AKISI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2194560"/>
            <a:ext cx="4480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  <a:defRPr sz="1000" b="1">
                <a:solidFill>
                  <a:srgbClr val="E2E8F0"/>
                </a:solidFill>
                <a:latin typeface="Segoe UI"/>
              </a:defRPr>
            </a:pPr>
            <a:r>
              <a:t>◆  SmartCampus Web/Mobil</a:t>
            </a:r>
          </a:p>
          <a:p>
            <a:pPr algn="l">
              <a:lnSpc>
                <a:spcPct val="130000"/>
              </a:lnSpc>
              <a:spcAft>
                <a:spcPts val="20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        ↓</a:t>
            </a:r>
          </a:p>
          <a:p>
            <a:pPr algn="l">
              <a:lnSpc>
                <a:spcPct val="130000"/>
              </a:lnSpc>
              <a:spcAft>
                <a:spcPts val="200"/>
              </a:spcAft>
              <a:defRPr sz="1000" b="1">
                <a:solidFill>
                  <a:srgbClr val="E2E8F0"/>
                </a:solidFill>
                <a:latin typeface="Segoe UI"/>
              </a:defRPr>
            </a:pPr>
            <a:r>
              <a:t>◆  FastAPI Backend (143 route)</a:t>
            </a:r>
          </a:p>
          <a:p>
            <a:pPr algn="l">
              <a:lnSpc>
                <a:spcPct val="130000"/>
              </a:lnSpc>
              <a:spcAft>
                <a:spcPts val="20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        ↓</a:t>
            </a:r>
          </a:p>
          <a:p>
            <a:pPr algn="l">
              <a:lnSpc>
                <a:spcPct val="130000"/>
              </a:lnSpc>
              <a:spcAft>
                <a:spcPts val="200"/>
              </a:spcAft>
              <a:defRPr sz="1000" b="1">
                <a:solidFill>
                  <a:srgbClr val="E2E8F0"/>
                </a:solidFill>
                <a:latin typeface="Segoe UI"/>
              </a:defRPr>
            </a:pPr>
            <a:r>
              <a:t>◆  Service Layer</a:t>
            </a:r>
          </a:p>
          <a:p>
            <a:pPr algn="l">
              <a:lnSpc>
                <a:spcPct val="130000"/>
              </a:lnSpc>
              <a:spcAft>
                <a:spcPts val="20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   ├─ SMS Gateway (NetGSM/Twilio)</a:t>
            </a:r>
          </a:p>
          <a:p>
            <a:pPr algn="l">
              <a:lnSpc>
                <a:spcPct val="130000"/>
              </a:lnSpc>
              <a:spcAft>
                <a:spcPts val="20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   ├─ Email Server (SMTP)</a:t>
            </a:r>
          </a:p>
          <a:p>
            <a:pPr algn="l">
              <a:lnSpc>
                <a:spcPct val="130000"/>
              </a:lnSpc>
              <a:spcAft>
                <a:spcPts val="20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   ├─ OpenAI API (GPT-4o-mini)</a:t>
            </a:r>
          </a:p>
          <a:p>
            <a:pPr algn="l">
              <a:lnSpc>
                <a:spcPct val="130000"/>
              </a:lnSpc>
              <a:spcAft>
                <a:spcPts val="20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   └─ Payment Gateway</a:t>
            </a:r>
          </a:p>
          <a:p>
            <a:pPr algn="l">
              <a:lnSpc>
                <a:spcPct val="130000"/>
              </a:lnSpc>
              <a:spcAft>
                <a:spcPts val="20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        ↓</a:t>
            </a:r>
          </a:p>
          <a:p>
            <a:pPr algn="l">
              <a:lnSpc>
                <a:spcPct val="130000"/>
              </a:lnSpc>
              <a:spcAft>
                <a:spcPts val="200"/>
              </a:spcAft>
              <a:defRPr sz="1000" b="1">
                <a:solidFill>
                  <a:srgbClr val="E2E8F0"/>
                </a:solidFill>
                <a:latin typeface="Segoe UI"/>
              </a:defRPr>
            </a:pPr>
            <a:r>
              <a:t>◆  Data Store (JSON / SQLite)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9E0B"/>
                </a:solidFill>
                <a:latin typeface="Segoe UI Semibold"/>
              </a:defRPr>
            </a:pPr>
            <a:r>
              <a:t>REKABET ANALIZI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Segoe UI Black"/>
              </a:defRPr>
            </a:pPr>
            <a:r>
              <a:t>Rakip Karsilastirma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1005840"/>
            <a:ext cx="338328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57200" y="1554480"/>
            <a:ext cx="2255459" cy="384048"/>
          </a:xfrm>
          <a:prstGeom prst="rect">
            <a:avLst/>
          </a:prstGeom>
          <a:solidFill>
            <a:srgbClr val="152033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FFFFFF"/>
                </a:solidFill>
                <a:latin typeface="Segoe UI"/>
              </a:defRPr>
            </a:pPr>
            <a:r>
              <a:t>OZELLIK</a:t>
            </a:r>
          </a:p>
        </p:txBody>
      </p:sp>
      <p:sp>
        <p:nvSpPr>
          <p:cNvPr id="9" name="Rectangle 8"/>
          <p:cNvSpPr/>
          <p:nvPr/>
        </p:nvSpPr>
        <p:spPr>
          <a:xfrm>
            <a:off x="2712659" y="1554480"/>
            <a:ext cx="2255459" cy="384048"/>
          </a:xfrm>
          <a:prstGeom prst="rect">
            <a:avLst/>
          </a:prstGeom>
          <a:solidFill>
            <a:srgbClr val="D97706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58379" y="1554480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F59E0B"/>
                </a:solidFill>
                <a:latin typeface="Segoe UI"/>
              </a:defRPr>
            </a:pPr>
            <a:r>
              <a:t>SmartCampus 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68118" y="1554480"/>
            <a:ext cx="2255459" cy="384048"/>
          </a:xfrm>
          <a:prstGeom prst="rect">
            <a:avLst/>
          </a:prstGeom>
          <a:solidFill>
            <a:srgbClr val="152033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13838" y="1554480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94A3B8"/>
                </a:solidFill>
                <a:latin typeface="Segoe UI"/>
              </a:defRPr>
            </a:pPr>
            <a:r>
              <a:t>Vedubox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23577" y="1554480"/>
            <a:ext cx="2255459" cy="384048"/>
          </a:xfrm>
          <a:prstGeom prst="rect">
            <a:avLst/>
          </a:prstGeom>
          <a:solidFill>
            <a:srgbClr val="152033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69297" y="1554480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94A3B8"/>
                </a:solidFill>
                <a:latin typeface="Segoe UI"/>
              </a:defRPr>
            </a:pPr>
            <a:r>
              <a:t>Edval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79036" y="1554480"/>
            <a:ext cx="2255459" cy="384048"/>
          </a:xfrm>
          <a:prstGeom prst="rect">
            <a:avLst/>
          </a:prstGeom>
          <a:solidFill>
            <a:srgbClr val="152033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4756" y="1554480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94A3B8"/>
                </a:solidFill>
                <a:latin typeface="Segoe UI"/>
              </a:defRPr>
            </a:pPr>
            <a:r>
              <a:t>Turkcell Kampus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1938528"/>
            <a:ext cx="2255459" cy="384048"/>
          </a:xfrm>
          <a:prstGeom prst="rect">
            <a:avLst/>
          </a:prstGeom>
          <a:solidFill>
            <a:srgbClr val="1E293B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1938528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E2E8F0"/>
                </a:solidFill>
                <a:latin typeface="Segoe UI"/>
              </a:defRPr>
            </a:pPr>
            <a:r>
              <a:t>Web Modul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12659" y="1938528"/>
            <a:ext cx="2255459" cy="384048"/>
          </a:xfrm>
          <a:prstGeom prst="rect">
            <a:avLst/>
          </a:prstGeom>
          <a:solidFill>
            <a:srgbClr val="1A2537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58379" y="1938528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F59E0B"/>
                </a:solidFill>
                <a:latin typeface="Segoe UI"/>
              </a:defRPr>
            </a:pPr>
            <a:r>
              <a:t>30+  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68118" y="1938528"/>
            <a:ext cx="2255459" cy="384048"/>
          </a:xfrm>
          <a:prstGeom prst="rect">
            <a:avLst/>
          </a:prstGeom>
          <a:solidFill>
            <a:srgbClr val="1E293B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13838" y="1938528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94A3B8"/>
                </a:solidFill>
                <a:latin typeface="Segoe UI"/>
              </a:defRPr>
            </a:pPr>
            <a:r>
              <a:t>10-15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577" y="1938528"/>
            <a:ext cx="2255459" cy="384048"/>
          </a:xfrm>
          <a:prstGeom prst="rect">
            <a:avLst/>
          </a:prstGeom>
          <a:solidFill>
            <a:srgbClr val="1E293B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9297" y="1938528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94A3B8"/>
                </a:solidFill>
                <a:latin typeface="Segoe UI"/>
              </a:defRPr>
            </a:pPr>
            <a:r>
              <a:t>5-8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79036" y="1938528"/>
            <a:ext cx="2255459" cy="384048"/>
          </a:xfrm>
          <a:prstGeom prst="rect">
            <a:avLst/>
          </a:prstGeom>
          <a:solidFill>
            <a:srgbClr val="1E293B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24756" y="1938528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94A3B8"/>
                </a:solidFill>
                <a:latin typeface="Segoe UI"/>
              </a:defRPr>
            </a:pPr>
            <a:r>
              <a:t>8-12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2322576"/>
            <a:ext cx="2255459" cy="384048"/>
          </a:xfrm>
          <a:prstGeom prst="rect">
            <a:avLst/>
          </a:prstGeom>
          <a:solidFill>
            <a:srgbClr val="152033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2322576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E2E8F0"/>
                </a:solidFill>
                <a:latin typeface="Segoe UI"/>
              </a:defRPr>
            </a:pPr>
            <a:r>
              <a:t>Mobil Uygulama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12659" y="2322576"/>
            <a:ext cx="2255459" cy="384048"/>
          </a:xfrm>
          <a:prstGeom prst="rect">
            <a:avLst/>
          </a:prstGeom>
          <a:solidFill>
            <a:srgbClr val="1A2537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58379" y="2322576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F59E0B"/>
                </a:solidFill>
                <a:latin typeface="Segoe UI"/>
              </a:defRPr>
            </a:pPr>
            <a:r>
              <a:t>5 Rol  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68118" y="2322576"/>
            <a:ext cx="2255459" cy="384048"/>
          </a:xfrm>
          <a:prstGeom prst="rect">
            <a:avLst/>
          </a:prstGeom>
          <a:solidFill>
            <a:srgbClr val="152033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13838" y="2322576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94A3B8"/>
                </a:solidFill>
                <a:latin typeface="Segoe UI"/>
              </a:defRPr>
            </a:pPr>
            <a:r>
              <a:t>1 Rol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23577" y="2322576"/>
            <a:ext cx="2255459" cy="384048"/>
          </a:xfrm>
          <a:prstGeom prst="rect">
            <a:avLst/>
          </a:prstGeom>
          <a:solidFill>
            <a:srgbClr val="152033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69297" y="2322576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EF4444"/>
                </a:solidFill>
                <a:latin typeface="Segoe UI"/>
              </a:defRPr>
            </a:pPr>
            <a:r>
              <a:t>❌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479036" y="2322576"/>
            <a:ext cx="2255459" cy="384048"/>
          </a:xfrm>
          <a:prstGeom prst="rect">
            <a:avLst/>
          </a:prstGeom>
          <a:solidFill>
            <a:srgbClr val="152033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24756" y="2322576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94A3B8"/>
                </a:solidFill>
                <a:latin typeface="Segoe UI"/>
              </a:defRPr>
            </a:pPr>
            <a:r>
              <a:t>2 Rol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2706624"/>
            <a:ext cx="2255459" cy="384048"/>
          </a:xfrm>
          <a:prstGeom prst="rect">
            <a:avLst/>
          </a:prstGeom>
          <a:solidFill>
            <a:srgbClr val="1E293B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2706624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E2E8F0"/>
                </a:solidFill>
                <a:latin typeface="Segoe UI"/>
              </a:defRPr>
            </a:pPr>
            <a:r>
              <a:t>AI Soru Uretimi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12659" y="2706624"/>
            <a:ext cx="2255459" cy="384048"/>
          </a:xfrm>
          <a:prstGeom prst="rect">
            <a:avLst/>
          </a:prstGeom>
          <a:solidFill>
            <a:srgbClr val="1A2537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58379" y="2706624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F59E0B"/>
                </a:solidFill>
                <a:latin typeface="Segoe UI"/>
              </a:defRPr>
            </a:pPr>
            <a:r>
              <a:t>GPT-4o  ✅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68118" y="2706624"/>
            <a:ext cx="2255459" cy="384048"/>
          </a:xfrm>
          <a:prstGeom prst="rect">
            <a:avLst/>
          </a:prstGeom>
          <a:solidFill>
            <a:srgbClr val="1E293B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13838" y="2706624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EF4444"/>
                </a:solidFill>
                <a:latin typeface="Segoe UI"/>
              </a:defRPr>
            </a:pPr>
            <a:r>
              <a:t>❌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223577" y="2706624"/>
            <a:ext cx="2255459" cy="384048"/>
          </a:xfrm>
          <a:prstGeom prst="rect">
            <a:avLst/>
          </a:prstGeom>
          <a:solidFill>
            <a:srgbClr val="1E293B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269297" y="2706624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EF4444"/>
                </a:solidFill>
                <a:latin typeface="Segoe UI"/>
              </a:defRPr>
            </a:pPr>
            <a:r>
              <a:t>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79036" y="2706624"/>
            <a:ext cx="2255459" cy="384048"/>
          </a:xfrm>
          <a:prstGeom prst="rect">
            <a:avLst/>
          </a:prstGeom>
          <a:solidFill>
            <a:srgbClr val="1E293B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24756" y="2706624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EF4444"/>
                </a:solidFill>
                <a:latin typeface="Segoe UI"/>
              </a:defRPr>
            </a:pPr>
            <a:r>
              <a:t>❌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3090672"/>
            <a:ext cx="2255459" cy="384048"/>
          </a:xfrm>
          <a:prstGeom prst="rect">
            <a:avLst/>
          </a:prstGeom>
          <a:solidFill>
            <a:srgbClr val="152033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3090672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E2E8F0"/>
                </a:solidFill>
                <a:latin typeface="Segoe UI"/>
              </a:defRPr>
            </a:pPr>
            <a:r>
              <a:t>Online Sinav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12659" y="3090672"/>
            <a:ext cx="2255459" cy="384048"/>
          </a:xfrm>
          <a:prstGeom prst="rect">
            <a:avLst/>
          </a:prstGeom>
          <a:solidFill>
            <a:srgbClr val="1A2537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58379" y="3090672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F59E0B"/>
                </a:solidFill>
                <a:latin typeface="Segoe UI"/>
              </a:defRPr>
            </a:pPr>
            <a:r>
              <a:t>Tam  ✅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968118" y="3090672"/>
            <a:ext cx="2255459" cy="384048"/>
          </a:xfrm>
          <a:prstGeom prst="rect">
            <a:avLst/>
          </a:prstGeom>
          <a:solidFill>
            <a:srgbClr val="152033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13838" y="3090672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94A3B8"/>
                </a:solidFill>
                <a:latin typeface="Segoe UI"/>
              </a:defRPr>
            </a:pPr>
            <a:r>
              <a:t>Temel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223577" y="3090672"/>
            <a:ext cx="2255459" cy="384048"/>
          </a:xfrm>
          <a:prstGeom prst="rect">
            <a:avLst/>
          </a:prstGeom>
          <a:solidFill>
            <a:srgbClr val="152033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269297" y="3090672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EF4444"/>
                </a:solidFill>
                <a:latin typeface="Segoe UI"/>
              </a:defRPr>
            </a:pPr>
            <a:r>
              <a:t>❌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479036" y="3090672"/>
            <a:ext cx="2255459" cy="384048"/>
          </a:xfrm>
          <a:prstGeom prst="rect">
            <a:avLst/>
          </a:prstGeom>
          <a:solidFill>
            <a:srgbClr val="152033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524756" y="3090672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94A3B8"/>
                </a:solidFill>
                <a:latin typeface="Segoe UI"/>
              </a:defRPr>
            </a:pPr>
            <a:r>
              <a:t>Temel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7200" y="3474720"/>
            <a:ext cx="2255459" cy="384048"/>
          </a:xfrm>
          <a:prstGeom prst="rect">
            <a:avLst/>
          </a:prstGeom>
          <a:solidFill>
            <a:srgbClr val="1E293B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2920" y="3474720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E2E8F0"/>
                </a:solidFill>
                <a:latin typeface="Segoe UI"/>
              </a:defRPr>
            </a:pPr>
            <a:r>
              <a:t>Erken Uyari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712659" y="3474720"/>
            <a:ext cx="2255459" cy="384048"/>
          </a:xfrm>
          <a:prstGeom prst="rect">
            <a:avLst/>
          </a:prstGeom>
          <a:solidFill>
            <a:srgbClr val="1A2537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58379" y="3474720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F59E0B"/>
                </a:solidFill>
                <a:latin typeface="Segoe UI"/>
              </a:defRPr>
            </a:pPr>
            <a:r>
              <a:t>32 Boyut  ✅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968118" y="3474720"/>
            <a:ext cx="2255459" cy="384048"/>
          </a:xfrm>
          <a:prstGeom prst="rect">
            <a:avLst/>
          </a:prstGeom>
          <a:solidFill>
            <a:srgbClr val="1E293B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013838" y="3474720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EF4444"/>
                </a:solidFill>
                <a:latin typeface="Segoe UI"/>
              </a:defRPr>
            </a:pPr>
            <a:r>
              <a:t>❌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223577" y="3474720"/>
            <a:ext cx="2255459" cy="384048"/>
          </a:xfrm>
          <a:prstGeom prst="rect">
            <a:avLst/>
          </a:prstGeom>
          <a:solidFill>
            <a:srgbClr val="1E293B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269297" y="3474720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EF4444"/>
                </a:solidFill>
                <a:latin typeface="Segoe UI"/>
              </a:defRPr>
            </a:pPr>
            <a:r>
              <a:t>❌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479036" y="3474720"/>
            <a:ext cx="2255459" cy="384048"/>
          </a:xfrm>
          <a:prstGeom prst="rect">
            <a:avLst/>
          </a:prstGeom>
          <a:solidFill>
            <a:srgbClr val="1E293B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524756" y="3474720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EF4444"/>
                </a:solidFill>
                <a:latin typeface="Segoe UI"/>
              </a:defRPr>
            </a:pPr>
            <a:r>
              <a:t>❌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57200" y="3858768"/>
            <a:ext cx="2255459" cy="384048"/>
          </a:xfrm>
          <a:prstGeom prst="rect">
            <a:avLst/>
          </a:prstGeom>
          <a:solidFill>
            <a:srgbClr val="152033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2920" y="3858768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E2E8F0"/>
                </a:solidFill>
                <a:latin typeface="Segoe UI"/>
              </a:defRPr>
            </a:pPr>
            <a:r>
              <a:t>Servis GPS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712659" y="3858768"/>
            <a:ext cx="2255459" cy="384048"/>
          </a:xfrm>
          <a:prstGeom prst="rect">
            <a:avLst/>
          </a:prstGeom>
          <a:solidFill>
            <a:srgbClr val="1A2537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758379" y="3858768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F59E0B"/>
                </a:solidFill>
                <a:latin typeface="Segoe UI"/>
              </a:defRPr>
            </a:pPr>
            <a:r>
              <a:t>Canli  ✅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968118" y="3858768"/>
            <a:ext cx="2255459" cy="384048"/>
          </a:xfrm>
          <a:prstGeom prst="rect">
            <a:avLst/>
          </a:prstGeom>
          <a:solidFill>
            <a:srgbClr val="152033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013838" y="3858768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EF4444"/>
                </a:solidFill>
                <a:latin typeface="Segoe UI"/>
              </a:defRPr>
            </a:pPr>
            <a:r>
              <a:t>❌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223577" y="3858768"/>
            <a:ext cx="2255459" cy="384048"/>
          </a:xfrm>
          <a:prstGeom prst="rect">
            <a:avLst/>
          </a:prstGeom>
          <a:solidFill>
            <a:srgbClr val="152033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269297" y="3858768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EF4444"/>
                </a:solidFill>
                <a:latin typeface="Segoe UI"/>
              </a:defRPr>
            </a:pPr>
            <a:r>
              <a:t>❌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479036" y="3858768"/>
            <a:ext cx="2255459" cy="384048"/>
          </a:xfrm>
          <a:prstGeom prst="rect">
            <a:avLst/>
          </a:prstGeom>
          <a:solidFill>
            <a:srgbClr val="152033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524756" y="3858768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94A3B8"/>
                </a:solidFill>
                <a:latin typeface="Segoe UI"/>
              </a:defRPr>
            </a:pPr>
            <a:r>
              <a:t>Var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57200" y="4242816"/>
            <a:ext cx="2255459" cy="384048"/>
          </a:xfrm>
          <a:prstGeom prst="rect">
            <a:avLst/>
          </a:prstGeom>
          <a:solidFill>
            <a:srgbClr val="1E293B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02920" y="4242816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E2E8F0"/>
                </a:solidFill>
                <a:latin typeface="Segoe UI"/>
              </a:defRPr>
            </a:pPr>
            <a:r>
              <a:t>Odeme Takip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712659" y="4242816"/>
            <a:ext cx="2255459" cy="384048"/>
          </a:xfrm>
          <a:prstGeom prst="rect">
            <a:avLst/>
          </a:prstGeom>
          <a:solidFill>
            <a:srgbClr val="1A2537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758379" y="4242816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F59E0B"/>
                </a:solidFill>
                <a:latin typeface="Segoe UI"/>
              </a:defRPr>
            </a:pPr>
            <a:r>
              <a:t>Tam  ✅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968118" y="4242816"/>
            <a:ext cx="2255459" cy="384048"/>
          </a:xfrm>
          <a:prstGeom prst="rect">
            <a:avLst/>
          </a:prstGeom>
          <a:solidFill>
            <a:srgbClr val="1E293B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013838" y="4242816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94A3B8"/>
                </a:solidFill>
                <a:latin typeface="Segoe UI"/>
              </a:defRPr>
            </a:pPr>
            <a:r>
              <a:t>Temel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223577" y="4242816"/>
            <a:ext cx="2255459" cy="384048"/>
          </a:xfrm>
          <a:prstGeom prst="rect">
            <a:avLst/>
          </a:prstGeom>
          <a:solidFill>
            <a:srgbClr val="1E293B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269297" y="4242816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EF4444"/>
                </a:solidFill>
                <a:latin typeface="Segoe UI"/>
              </a:defRPr>
            </a:pPr>
            <a:r>
              <a:t>❌</a:t>
            </a:r>
          </a:p>
        </p:txBody>
      </p:sp>
      <p:sp>
        <p:nvSpPr>
          <p:cNvPr id="85" name="Rectangle 84"/>
          <p:cNvSpPr/>
          <p:nvPr/>
        </p:nvSpPr>
        <p:spPr>
          <a:xfrm>
            <a:off x="9479036" y="4242816"/>
            <a:ext cx="2255459" cy="384048"/>
          </a:xfrm>
          <a:prstGeom prst="rect">
            <a:avLst/>
          </a:prstGeom>
          <a:solidFill>
            <a:srgbClr val="1E293B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524756" y="4242816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94A3B8"/>
                </a:solidFill>
                <a:latin typeface="Segoe UI"/>
              </a:defRPr>
            </a:pPr>
            <a:r>
              <a:t>Temel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57200" y="4626864"/>
            <a:ext cx="2255459" cy="384048"/>
          </a:xfrm>
          <a:prstGeom prst="rect">
            <a:avLst/>
          </a:prstGeom>
          <a:solidFill>
            <a:srgbClr val="152033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02920" y="4626864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E2E8F0"/>
                </a:solidFill>
                <a:latin typeface="Segoe UI"/>
              </a:defRPr>
            </a:pPr>
            <a:r>
              <a:t>Mood Check-in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712659" y="4626864"/>
            <a:ext cx="2255459" cy="384048"/>
          </a:xfrm>
          <a:prstGeom prst="rect">
            <a:avLst/>
          </a:prstGeom>
          <a:solidFill>
            <a:srgbClr val="1A2537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758379" y="4626864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F59E0B"/>
                </a:solidFill>
                <a:latin typeface="Segoe UI"/>
              </a:defRPr>
            </a:pPr>
            <a:r>
              <a:t>✅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968118" y="4626864"/>
            <a:ext cx="2255459" cy="384048"/>
          </a:xfrm>
          <a:prstGeom prst="rect">
            <a:avLst/>
          </a:prstGeom>
          <a:solidFill>
            <a:srgbClr val="152033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013838" y="4626864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EF4444"/>
                </a:solidFill>
                <a:latin typeface="Segoe UI"/>
              </a:defRPr>
            </a:pPr>
            <a:r>
              <a:t>❌</a:t>
            </a:r>
          </a:p>
        </p:txBody>
      </p:sp>
      <p:sp>
        <p:nvSpPr>
          <p:cNvPr id="93" name="Rectangle 92"/>
          <p:cNvSpPr/>
          <p:nvPr/>
        </p:nvSpPr>
        <p:spPr>
          <a:xfrm>
            <a:off x="7223577" y="4626864"/>
            <a:ext cx="2255459" cy="384048"/>
          </a:xfrm>
          <a:prstGeom prst="rect">
            <a:avLst/>
          </a:prstGeom>
          <a:solidFill>
            <a:srgbClr val="152033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269297" y="4626864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EF4444"/>
                </a:solidFill>
                <a:latin typeface="Segoe UI"/>
              </a:defRPr>
            </a:pPr>
            <a:r>
              <a:t>❌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479036" y="4626864"/>
            <a:ext cx="2255459" cy="384048"/>
          </a:xfrm>
          <a:prstGeom prst="rect">
            <a:avLst/>
          </a:prstGeom>
          <a:solidFill>
            <a:srgbClr val="152033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524756" y="4626864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EF4444"/>
                </a:solidFill>
                <a:latin typeface="Segoe UI"/>
              </a:defRPr>
            </a:pPr>
            <a:r>
              <a:t>❌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57200" y="5010912"/>
            <a:ext cx="2255459" cy="384048"/>
          </a:xfrm>
          <a:prstGeom prst="rect">
            <a:avLst/>
          </a:prstGeom>
          <a:solidFill>
            <a:srgbClr val="1E293B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02920" y="5010912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E2E8F0"/>
                </a:solidFill>
                <a:latin typeface="Segoe UI"/>
              </a:defRPr>
            </a:pPr>
            <a:r>
              <a:t>Multi-tenant</a:t>
            </a:r>
          </a:p>
        </p:txBody>
      </p:sp>
      <p:sp>
        <p:nvSpPr>
          <p:cNvPr id="99" name="Rectangle 98"/>
          <p:cNvSpPr/>
          <p:nvPr/>
        </p:nvSpPr>
        <p:spPr>
          <a:xfrm>
            <a:off x="2712659" y="5010912"/>
            <a:ext cx="2255459" cy="384048"/>
          </a:xfrm>
          <a:prstGeom prst="rect">
            <a:avLst/>
          </a:prstGeom>
          <a:solidFill>
            <a:srgbClr val="1A2537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2758379" y="5010912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F59E0B"/>
                </a:solidFill>
                <a:latin typeface="Segoe UI"/>
              </a:defRPr>
            </a:pPr>
            <a:r>
              <a:t>✅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968118" y="5010912"/>
            <a:ext cx="2255459" cy="384048"/>
          </a:xfrm>
          <a:prstGeom prst="rect">
            <a:avLst/>
          </a:prstGeom>
          <a:solidFill>
            <a:srgbClr val="1E293B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013838" y="5010912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10B981"/>
                </a:solidFill>
                <a:latin typeface="Segoe UI"/>
              </a:defRPr>
            </a:pPr>
            <a:r>
              <a:t>✅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7223577" y="5010912"/>
            <a:ext cx="2255459" cy="384048"/>
          </a:xfrm>
          <a:prstGeom prst="rect">
            <a:avLst/>
          </a:prstGeom>
          <a:solidFill>
            <a:srgbClr val="1E293B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269297" y="5010912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EF4444"/>
                </a:solidFill>
                <a:latin typeface="Segoe UI"/>
              </a:defRPr>
            </a:pPr>
            <a:r>
              <a:t>❌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479036" y="5010912"/>
            <a:ext cx="2255459" cy="384048"/>
          </a:xfrm>
          <a:prstGeom prst="rect">
            <a:avLst/>
          </a:prstGeom>
          <a:solidFill>
            <a:srgbClr val="1E293B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524756" y="5010912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10B981"/>
                </a:solidFill>
                <a:latin typeface="Segoe UI"/>
              </a:defRPr>
            </a:pPr>
            <a:r>
              <a:t>✅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57200" y="5394960"/>
            <a:ext cx="2255459" cy="384048"/>
          </a:xfrm>
          <a:prstGeom prst="rect">
            <a:avLst/>
          </a:prstGeom>
          <a:solidFill>
            <a:srgbClr val="152033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02920" y="5394960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E2E8F0"/>
                </a:solidFill>
                <a:latin typeface="Segoe UI"/>
              </a:defRPr>
            </a:pPr>
            <a:r>
              <a:t>Sertifika PDF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712659" y="5394960"/>
            <a:ext cx="2255459" cy="384048"/>
          </a:xfrm>
          <a:prstGeom prst="rect">
            <a:avLst/>
          </a:prstGeom>
          <a:solidFill>
            <a:srgbClr val="1A2537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758379" y="5394960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F59E0B"/>
                </a:solidFill>
                <a:latin typeface="Segoe UI"/>
              </a:defRPr>
            </a:pPr>
            <a:r>
              <a:t>7 Sablon  ✅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4968118" y="5394960"/>
            <a:ext cx="2255459" cy="384048"/>
          </a:xfrm>
          <a:prstGeom prst="rect">
            <a:avLst/>
          </a:prstGeom>
          <a:solidFill>
            <a:srgbClr val="152033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013838" y="5394960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EF4444"/>
                </a:solidFill>
                <a:latin typeface="Segoe UI"/>
              </a:defRPr>
            </a:pPr>
            <a:r>
              <a:t>❌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223577" y="5394960"/>
            <a:ext cx="2255459" cy="384048"/>
          </a:xfrm>
          <a:prstGeom prst="rect">
            <a:avLst/>
          </a:prstGeom>
          <a:solidFill>
            <a:srgbClr val="152033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269297" y="5394960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EF4444"/>
                </a:solidFill>
                <a:latin typeface="Segoe UI"/>
              </a:defRPr>
            </a:pPr>
            <a:r>
              <a:t>❌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9479036" y="5394960"/>
            <a:ext cx="2255459" cy="384048"/>
          </a:xfrm>
          <a:prstGeom prst="rect">
            <a:avLst/>
          </a:prstGeom>
          <a:solidFill>
            <a:srgbClr val="152033"/>
          </a:solidFill>
          <a:ln w="6350">
            <a:solidFill>
              <a:srgbClr val="333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9524756" y="5394960"/>
            <a:ext cx="216401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94A3B8"/>
                </a:solidFill>
                <a:latin typeface="Segoe UI"/>
              </a:defRPr>
            </a:pPr>
            <a:r>
              <a:t>1 Sablon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57200" y="57607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F59E0B"/>
                </a:solidFill>
                <a:latin typeface="Segoe UI"/>
              </a:defRPr>
            </a:pPr>
            <a:r>
              <a:t>✅ = Tam ozellik  |  Temel = Sinirli  |  ❌ = Yok   —   SmartCampus AI her kategoride lider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9E0B"/>
                </a:solidFill>
                <a:latin typeface="Segoe UI Semibold"/>
              </a:defRPr>
            </a:pPr>
            <a:r>
              <a:t>REKABET AVANTAJI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Segoe UI Black"/>
              </a:defRPr>
            </a:pPr>
            <a:r>
              <a:t>Fark Yaratan 10 Ozellik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1005840"/>
            <a:ext cx="338328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1645920"/>
            <a:ext cx="2011680" cy="14173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200" b="0">
                <a:solidFill>
                  <a:srgbClr val="FFFFFF"/>
                </a:solidFill>
                <a:latin typeface="Segoe UI Emoji"/>
              </a:defRPr>
            </a:pPr>
            <a:r>
              <a:t>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488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FFFFFF"/>
                </a:solidFill>
                <a:latin typeface="Segoe UI"/>
              </a:defRPr>
            </a:pPr>
            <a:r>
              <a:t>AI Soru Uretimi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4688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94A3B8"/>
                </a:solidFill>
                <a:latin typeface="Segoe UI"/>
              </a:defRPr>
            </a:pPr>
            <a:r>
              <a:t>Kazanim bazli GPT-4o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97480" y="1645920"/>
            <a:ext cx="2011680" cy="14173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97480" y="1737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200" b="0">
                <a:solidFill>
                  <a:srgbClr val="FFFFFF"/>
                </a:solidFill>
                <a:latin typeface="Segoe UI Emoji"/>
              </a:defRPr>
            </a:pPr>
            <a:r>
              <a:t>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21488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FFFFFF"/>
                </a:solidFill>
                <a:latin typeface="Segoe UI"/>
              </a:defRPr>
            </a:pPr>
            <a:r>
              <a:t>Mood Check-in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24688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94A3B8"/>
                </a:solidFill>
                <a:latin typeface="Segoe UI"/>
              </a:defRPr>
            </a:pPr>
            <a:r>
              <a:t>Gunluk duygu takibi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92040" y="1645920"/>
            <a:ext cx="2011680" cy="14173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92040" y="1737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200" b="0">
                <a:solidFill>
                  <a:srgbClr val="FFFFFF"/>
                </a:solidFill>
                <a:latin typeface="Segoe UI Emoji"/>
              </a:defRPr>
            </a:pPr>
            <a:r>
              <a:t>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80" y="21488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FFFFFF"/>
                </a:solidFill>
                <a:latin typeface="Segoe UI"/>
              </a:defRPr>
            </a:pPr>
            <a:r>
              <a:t>Servis GPS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3480" y="24688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94A3B8"/>
                </a:solidFill>
                <a:latin typeface="Segoe UI"/>
              </a:defRPr>
            </a:pPr>
            <a:r>
              <a:t>Canli konum takibi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86600" y="1645920"/>
            <a:ext cx="2011680" cy="14173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1737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200" b="0">
                <a:solidFill>
                  <a:srgbClr val="FFFFFF"/>
                </a:solidFill>
                <a:latin typeface="Segoe UI Emoji"/>
              </a:defRPr>
            </a:pPr>
            <a:r>
              <a:t>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21488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FFFFFF"/>
                </a:solidFill>
                <a:latin typeface="Segoe UI"/>
              </a:defRPr>
            </a:pPr>
            <a:r>
              <a:t>Odeme Takip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4688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94A3B8"/>
                </a:solidFill>
                <a:latin typeface="Segoe UI"/>
              </a:defRPr>
            </a:pPr>
            <a:r>
              <a:t>Taksit + makbuz + geciken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1645920"/>
            <a:ext cx="2011680" cy="14173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81160" y="1737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200" b="0">
                <a:solidFill>
                  <a:srgbClr val="FFFFFF"/>
                </a:solidFill>
                <a:latin typeface="Segoe UI Emoji"/>
              </a:defRPr>
            </a:pPr>
            <a:r>
              <a:t>⚠️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600" y="21488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FFFFFF"/>
                </a:solidFill>
                <a:latin typeface="Segoe UI"/>
              </a:defRPr>
            </a:pPr>
            <a:r>
              <a:t>32 Boyut Risk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72600" y="24688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94A3B8"/>
                </a:solidFill>
                <a:latin typeface="Segoe UI"/>
              </a:defRPr>
            </a:pPr>
            <a:r>
              <a:t>AI erken uyari sistemi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246120"/>
            <a:ext cx="2011680" cy="14173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3375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200" b="0">
                <a:solidFill>
                  <a:srgbClr val="FFFFFF"/>
                </a:solidFill>
                <a:latin typeface="Segoe UI Emoji"/>
              </a:defRPr>
            </a:pPr>
            <a:r>
              <a:t>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37490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FFFFFF"/>
                </a:solidFill>
                <a:latin typeface="Segoe UI"/>
              </a:defRPr>
            </a:pPr>
            <a:r>
              <a:t>Soru Bankasi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4069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94A3B8"/>
                </a:solidFill>
                <a:latin typeface="Segoe UI"/>
              </a:defRPr>
            </a:pPr>
            <a:r>
              <a:t>7 tip, IRT, CAT, QTI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3246120"/>
            <a:ext cx="2011680" cy="14173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697480" y="33375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200" b="0">
                <a:solidFill>
                  <a:srgbClr val="FFFFFF"/>
                </a:solidFill>
                <a:latin typeface="Segoe UI Emoji"/>
              </a:defRPr>
            </a:pPr>
            <a:r>
              <a:t>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88920" y="37490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FFFFFF"/>
                </a:solidFill>
                <a:latin typeface="Segoe UI"/>
              </a:defRPr>
            </a:pPr>
            <a:r>
              <a:t>Sertifika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4069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94A3B8"/>
                </a:solidFill>
                <a:latin typeface="Segoe UI"/>
              </a:defRPr>
            </a:pPr>
            <a:r>
              <a:t>7 sablon, QR, toplu PDF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892040" y="3246120"/>
            <a:ext cx="2011680" cy="14173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92040" y="33375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200" b="0">
                <a:solidFill>
                  <a:srgbClr val="FFFFFF"/>
                </a:solidFill>
                <a:latin typeface="Segoe UI Emoji"/>
              </a:defRPr>
            </a:pPr>
            <a:r>
              <a:t>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83480" y="37490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FFFFFF"/>
                </a:solidFill>
                <a:latin typeface="Segoe UI"/>
              </a:defRPr>
            </a:pPr>
            <a:r>
              <a:t>Barkod Kutuphane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83480" y="4069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94A3B8"/>
                </a:solidFill>
                <a:latin typeface="Segoe UI"/>
              </a:defRPr>
            </a:pPr>
            <a:r>
              <a:t>1 saniye odunc/iade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086600" y="3246120"/>
            <a:ext cx="2011680" cy="14173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86600" y="33375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200" b="0">
                <a:solidFill>
                  <a:srgbClr val="FFFFFF"/>
                </a:solidFill>
                <a:latin typeface="Segoe UI Emoji"/>
              </a:defRPr>
            </a:pPr>
            <a:r>
              <a:t>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78040" y="37490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FFFFFF"/>
                </a:solidFill>
                <a:latin typeface="Segoe UI"/>
              </a:defRPr>
            </a:pPr>
            <a:r>
              <a:t>5 Rol Mobil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78040" y="4069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94A3B8"/>
                </a:solidFill>
                <a:latin typeface="Segoe UI"/>
              </a:defRPr>
            </a:pPr>
            <a:r>
              <a:t>Offline, bildirim, tema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281160" y="3246120"/>
            <a:ext cx="2011680" cy="14173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81160" y="33375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200" b="0">
                <a:solidFill>
                  <a:srgbClr val="FFFFFF"/>
                </a:solidFill>
                <a:latin typeface="Segoe UI Emoji"/>
              </a:defRPr>
            </a:pPr>
            <a:r>
              <a:t>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72600" y="37490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FFFFFF"/>
                </a:solidFill>
                <a:latin typeface="Segoe UI"/>
              </a:defRPr>
            </a:pPr>
            <a:r>
              <a:t>Multi-tenant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72600" y="4069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94A3B8"/>
                </a:solidFill>
                <a:latin typeface="Segoe UI"/>
              </a:defRPr>
            </a:pPr>
            <a:r>
              <a:t>Coklu kurum, izole veri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371600" y="5120640"/>
            <a:ext cx="9418320" cy="731520"/>
          </a:xfrm>
          <a:prstGeom prst="roundRect">
            <a:avLst>
              <a:gd name="adj" fmla="val 5000"/>
            </a:avLst>
          </a:prstGeom>
          <a:solidFill>
            <a:srgbClr val="152033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371600" y="512064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F59E0B"/>
                </a:solidFill>
                <a:latin typeface="Segoe UI"/>
              </a:defRPr>
            </a:pPr>
            <a:r>
              <a:t>🎯  Bu 10 ozelligin HICBIRI rakip platformlarda bir arada bulunmaz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9E0B"/>
                </a:solidFill>
                <a:latin typeface="Segoe UI Semibold"/>
              </a:defRPr>
            </a:pPr>
            <a:r>
              <a:t>DEGER ONERISI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Segoe UI Black"/>
              </a:defRPr>
            </a:pPr>
            <a:r>
              <a:t>Neden Biz?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1005840"/>
            <a:ext cx="338328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822960" y="164592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0120" y="178308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83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18288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800" b="0">
                <a:solidFill>
                  <a:srgbClr val="FFFFFF"/>
                </a:solidFill>
                <a:latin typeface="Segoe UI Emoji"/>
              </a:defRPr>
            </a:pPr>
            <a:r>
              <a:t>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774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FFFFFF"/>
                </a:solidFill>
                <a:latin typeface="Segoe UI Black"/>
              </a:defRPr>
            </a:pPr>
            <a:r>
              <a:t>TAM ENTEGRASYON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280160" y="2743200"/>
            <a:ext cx="2377440" cy="0"/>
          </a:xfrm>
          <a:prstGeom prst="line">
            <a:avLst/>
          </a:prstGeom>
          <a:ln w="25400">
            <a:solidFill>
              <a:srgbClr val="3B82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51560" y="2926080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30+ modul birbirine bagli calisir.</a:t>
            </a:r>
            <a:br/>
            <a:r>
              <a:t>Veri tek merkezde, tekrarsiz.</a:t>
            </a:r>
            <a:br/>
            <a:r>
              <a:t>Kayittan mezuniyete tek platform.</a:t>
            </a:r>
            <a:br/>
            <a:r>
              <a:t>Hicbir veri kaybi veya tekrari yok.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34840" y="164592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72000" y="1783080"/>
            <a:ext cx="457200" cy="4572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783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18288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800" b="0">
                <a:solidFill>
                  <a:srgbClr val="FFFFFF"/>
                </a:solidFill>
                <a:latin typeface="Segoe UI Emoji"/>
              </a:defRPr>
            </a:pPr>
            <a:r>
              <a:t>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3774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FFFFFF"/>
                </a:solidFill>
                <a:latin typeface="Segoe UI Black"/>
              </a:defRPr>
            </a:pPr>
            <a:r>
              <a:t>AI NATIVE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92040" y="2743200"/>
            <a:ext cx="2377440" cy="0"/>
          </a:xfrm>
          <a:prstGeom prst="line">
            <a:avLst/>
          </a:prstGeom>
          <a:ln w="25400">
            <a:solidFill>
              <a:srgbClr val="8B5C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663440" y="2926080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Yapay zeka sonradan eklenmedi.</a:t>
            </a:r>
            <a:br/>
            <a:r>
              <a:t>Temelinden AI ile tasarlandi.</a:t>
            </a:r>
            <a:br/>
            <a:r>
              <a:t>Soru uretimi, risk analizi, chat.</a:t>
            </a:r>
            <a:br/>
            <a:r>
              <a:t>Surekli gelisen AI yetenekleri.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1645920"/>
            <a:ext cx="3291840" cy="3200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183880" y="178308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3880" y="1783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18288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800" b="0">
                <a:solidFill>
                  <a:srgbClr val="FFFFFF"/>
                </a:solidFill>
                <a:latin typeface="Segoe UI Emoji"/>
              </a:defRPr>
            </a:pPr>
            <a:r>
              <a:t>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80" y="23774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FFFFFF"/>
                </a:solidFill>
                <a:latin typeface="Segoe UI Black"/>
              </a:defRPr>
            </a:pPr>
            <a:r>
              <a:t>ENTERPRISE KALITE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503920" y="2743200"/>
            <a:ext cx="2377440" cy="0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275320" y="2926080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Dunya standartlarinda UI/UX.</a:t>
            </a:r>
            <a:br/>
            <a:r>
              <a:t>JWT + bcrypt guvenlik.</a:t>
            </a:r>
            <a:br/>
            <a:r>
              <a:t>Multi-tenant mimari.</a:t>
            </a:r>
            <a:br/>
            <a:r>
              <a:t>99.9% uptime hedefi.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9E0B"/>
                </a:solidFill>
                <a:latin typeface="Segoe UI Semibold"/>
              </a:defRPr>
            </a:pPr>
            <a:r>
              <a:t>YATIRIM GETIRISI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Segoe UI Black"/>
              </a:defRPr>
            </a:pPr>
            <a:r>
              <a:t>ROI &amp; Deger Analizi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1005840"/>
            <a:ext cx="338328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40080" y="1554480"/>
            <a:ext cx="2468880" cy="3200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800" b="0">
                <a:solidFill>
                  <a:srgbClr val="FFFFFF"/>
                </a:solidFill>
                <a:latin typeface="Segoe UI Emoji"/>
              </a:defRPr>
            </a:pPr>
            <a:r>
              <a:t>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Segoe UI Black"/>
              </a:defRPr>
            </a:pPr>
            <a:r>
              <a:t>ZAMAN TASARRUFU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231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Ogretmen basi haftada</a:t>
            </a:r>
            <a:br/>
            <a:r>
              <a:t>5+ saat tasarruf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2004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4000" b="1">
                <a:solidFill>
                  <a:srgbClr val="3B82F6"/>
                </a:solidFill>
                <a:latin typeface="Segoe UI Black"/>
              </a:defRPr>
            </a:pPr>
            <a:r>
              <a:t>~%60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404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Idari is yukundeki azalma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1554480"/>
            <a:ext cx="2468880" cy="3200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0" y="16916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800" b="0">
                <a:solidFill>
                  <a:srgbClr val="FFFFFF"/>
                </a:solidFill>
                <a:latin typeface="Segoe UI Emoji"/>
              </a:defRPr>
            </a:pPr>
            <a:r>
              <a:t>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05740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Segoe UI Black"/>
              </a:defRPr>
            </a:pPr>
            <a:r>
              <a:t>KAGIT AZALMA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24231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Dijital sinav, yoklama,</a:t>
            </a:r>
            <a:br/>
            <a:r>
              <a:t>form ile kagit maliyeti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32004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4000" b="1">
                <a:solidFill>
                  <a:srgbClr val="10B981"/>
                </a:solidFill>
                <a:latin typeface="Segoe UI Black"/>
              </a:defRPr>
            </a:pPr>
            <a:r>
              <a:t>~%80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38404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Kagit tuketimi azalma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1554480"/>
            <a:ext cx="2468880" cy="3200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16916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800" b="0">
                <a:solidFill>
                  <a:srgbClr val="FFFFFF"/>
                </a:solidFill>
                <a:latin typeface="Segoe UI Emoji"/>
              </a:defRPr>
            </a:pPr>
            <a:r>
              <a:t>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05740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Segoe UI Black"/>
              </a:defRPr>
            </a:pPr>
            <a:r>
              <a:t>VELI MEMNUNIYETI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4231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Aninda bilgilenme, randevu,</a:t>
            </a:r>
            <a:br/>
            <a:r>
              <a:t>odeme kolayligi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32004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4000" b="1">
                <a:solidFill>
                  <a:srgbClr val="8B5CF6"/>
                </a:solidFill>
                <a:latin typeface="Segoe UI Black"/>
              </a:defRPr>
            </a:pPr>
            <a:r>
              <a:t>~%40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38404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Memnuniyet artisi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69680" y="1554480"/>
            <a:ext cx="2468880" cy="3200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0" y="16916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800" b="0">
                <a:solidFill>
                  <a:srgbClr val="FFFFFF"/>
                </a:solidFill>
                <a:latin typeface="Segoe UI Emoji"/>
              </a:defRPr>
            </a:pPr>
            <a:r>
              <a:t>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205740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Segoe UI Black"/>
              </a:defRPr>
            </a:pPr>
            <a:r>
              <a:t>KAYIT ARTISI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6840" y="242316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Dijital imaj, hizli iletisim,</a:t>
            </a:r>
            <a:br/>
            <a:r>
              <a:t>profesyonel algi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32004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4000" b="1">
                <a:solidFill>
                  <a:srgbClr val="F59E0B"/>
                </a:solidFill>
                <a:latin typeface="Segoe UI Black"/>
              </a:defRPr>
            </a:pPr>
            <a:r>
              <a:t>~%25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69680" y="38404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Yeni kayit artisi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212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64748B"/>
                </a:solidFill>
                <a:latin typeface="Segoe UI"/>
              </a:defRPr>
            </a:pPr>
            <a:r>
              <a:t>* Tahminler sektordeki dijital donusum verilerine dayanmaktadir. Gercek sonuclar kuruma gore degisebilir.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9E0B"/>
                </a:solidFill>
                <a:latin typeface="Segoe UI Semibold"/>
              </a:defRPr>
            </a:pPr>
            <a:r>
              <a:t>FIYATLANDIRMA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Segoe UI Black"/>
              </a:defRPr>
            </a:pPr>
            <a:r>
              <a:t>Esnek Paketler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1005840"/>
            <a:ext cx="338328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822960" y="1371600"/>
            <a:ext cx="3291840" cy="41148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3B82F6"/>
                </a:solidFill>
                <a:latin typeface="Segoe UI Black"/>
              </a:defRPr>
            </a:pPr>
            <a:r>
              <a:t>⭐  STARTER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6596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Kucuk Okullar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97280" y="2286000"/>
            <a:ext cx="2743200" cy="0"/>
          </a:xfrm>
          <a:prstGeom prst="line">
            <a:avLst/>
          </a:prstGeom>
          <a:ln w="12700">
            <a:solidFill>
              <a:srgbClr val="3B82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05840" y="24231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E2E8F0"/>
                </a:solidFill>
                <a:latin typeface="Segoe UI"/>
              </a:defRPr>
            </a:pPr>
            <a:r>
              <a:t>✓  10 temel modul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770632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E2E8F0"/>
                </a:solidFill>
                <a:latin typeface="Segoe UI"/>
              </a:defRPr>
            </a:pPr>
            <a:r>
              <a:t>✓  1 yonetici + 10 ogretmen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118104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E2E8F0"/>
                </a:solidFill>
                <a:latin typeface="Segoe UI"/>
              </a:defRPr>
            </a:pPr>
            <a:r>
              <a:t>✓  Mobil uygulama (2 rol)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465576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E2E8F0"/>
                </a:solidFill>
                <a:latin typeface="Segoe UI"/>
              </a:defRPr>
            </a:pPr>
            <a:r>
              <a:t>✓  Email destek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81304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E2E8F0"/>
                </a:solidFill>
                <a:latin typeface="Segoe UI"/>
              </a:defRPr>
            </a:pPr>
            <a:r>
              <a:t>✓  Aylik guncelleme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9377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3B82F6"/>
                </a:solidFill>
                <a:latin typeface="Segoe UI"/>
              </a:defRPr>
            </a:pPr>
            <a:r>
              <a:t>Aylik TBD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34840" y="1371600"/>
            <a:ext cx="3291840" cy="4114800"/>
          </a:xfrm>
          <a:prstGeom prst="roundRect">
            <a:avLst>
              <a:gd name="adj" fmla="val 5000"/>
            </a:avLst>
          </a:prstGeom>
          <a:solidFill>
            <a:srgbClr val="152033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394960" y="1234440"/>
            <a:ext cx="1371600" cy="274320"/>
          </a:xfrm>
          <a:prstGeom prst="roundRect">
            <a:avLst>
              <a:gd name="adj" fmla="val 5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4960" y="12344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020617"/>
                </a:solidFill>
                <a:latin typeface="Segoe UI"/>
              </a:defRPr>
            </a:pPr>
            <a:r>
              <a:t>EN POPULER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F59E0B"/>
                </a:solidFill>
                <a:latin typeface="Segoe UI Black"/>
              </a:defRPr>
            </a:pPr>
            <a:r>
              <a:t>💎  PRO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196596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Orta Olcekli Okullar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709160" y="2286000"/>
            <a:ext cx="2743200" cy="0"/>
          </a:xfrm>
          <a:prstGeom prst="line">
            <a:avLst/>
          </a:prstGeom>
          <a:ln w="127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617720" y="24231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F59E0B"/>
                </a:solidFill>
                <a:latin typeface="Segoe UI"/>
              </a:defRPr>
            </a:pPr>
            <a:r>
              <a:t>✓  20 modul + AI ozellikler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2770632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F59E0B"/>
                </a:solidFill>
                <a:latin typeface="Segoe UI"/>
              </a:defRPr>
            </a:pPr>
            <a:r>
              <a:t>✓  Sinirsiz kullanici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3118104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F59E0B"/>
                </a:solidFill>
                <a:latin typeface="Segoe UI"/>
              </a:defRPr>
            </a:pPr>
            <a:r>
              <a:t>✓  Mobil uygulama (5 rol)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3465576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F59E0B"/>
                </a:solidFill>
                <a:latin typeface="Segoe UI"/>
              </a:defRPr>
            </a:pPr>
            <a:r>
              <a:t>✓  SMS + Email entegrasyon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7720" y="381304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F59E0B"/>
                </a:solidFill>
                <a:latin typeface="Segoe UI"/>
              </a:defRPr>
            </a:pPr>
            <a:r>
              <a:t>✓  Haftalik guncelleme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4160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F59E0B"/>
                </a:solidFill>
                <a:latin typeface="Segoe UI"/>
              </a:defRPr>
            </a:pPr>
            <a:r>
              <a:t>✓  Oncelikli destek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49377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F59E0B"/>
                </a:solidFill>
                <a:latin typeface="Segoe UI"/>
              </a:defRPr>
            </a:pPr>
            <a:r>
              <a:t>Aylik TBD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20" y="1371600"/>
            <a:ext cx="3291840" cy="41148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46720" y="1554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8B5CF6"/>
                </a:solidFill>
                <a:latin typeface="Segoe UI Black"/>
              </a:defRPr>
            </a:pPr>
            <a:r>
              <a:t>🚀  ENTERPRISE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196596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Buyuk Egitim Kurumlari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21040" y="2286000"/>
            <a:ext cx="2743200" cy="0"/>
          </a:xfrm>
          <a:prstGeom prst="line">
            <a:avLst/>
          </a:prstGeom>
          <a:ln w="12700">
            <a:solidFill>
              <a:srgbClr val="8B5C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229600" y="24231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E2E8F0"/>
                </a:solidFill>
                <a:latin typeface="Segoe UI"/>
              </a:defRPr>
            </a:pPr>
            <a:r>
              <a:t>✓  30+ modul — TAM ERISIM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2770632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E2E8F0"/>
                </a:solidFill>
                <a:latin typeface="Segoe UI"/>
              </a:defRPr>
            </a:pPr>
            <a:r>
              <a:t>✓  Multi-tenant / coklu kampus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3118104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E2E8F0"/>
                </a:solidFill>
                <a:latin typeface="Segoe UI"/>
              </a:defRPr>
            </a:pPr>
            <a:r>
              <a:t>✓  Ozel entegrasyon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0" y="3465576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E2E8F0"/>
                </a:solidFill>
                <a:latin typeface="Segoe UI"/>
              </a:defRPr>
            </a:pPr>
            <a:r>
              <a:t>✓  7/24 destek + SLA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381304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E2E8F0"/>
                </a:solidFill>
                <a:latin typeface="Segoe UI"/>
              </a:defRPr>
            </a:pPr>
            <a:r>
              <a:t>✓  Onsight egitim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4160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E2E8F0"/>
                </a:solidFill>
                <a:latin typeface="Segoe UI"/>
              </a:defRPr>
            </a:pPr>
            <a:r>
              <a:t>✓  Kaynak kod lisansi opsiyonu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6720" y="49377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8B5CF6"/>
                </a:solidFill>
                <a:latin typeface="Segoe UI"/>
              </a:defRPr>
            </a:pPr>
            <a:r>
              <a:t>Ozel Teklif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57607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64748B"/>
                </a:solidFill>
                <a:latin typeface="Segoe UI"/>
              </a:defRPr>
            </a:pPr>
            <a:r>
              <a:t>Fiyatlar ogrenci sayisina ve secilen modullere gore belirlenir  |  Yillik odeme %15 indirim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9E0B"/>
                </a:solidFill>
                <a:latin typeface="Segoe UI Semibold"/>
              </a:defRPr>
            </a:pPr>
            <a:r>
              <a:t>UYGULAMA SURECI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Segoe UI Black"/>
              </a:defRPr>
            </a:pPr>
            <a:r>
              <a:t>4 Adimda Hayata Gecis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1005840"/>
            <a:ext cx="338328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822960" y="1554480"/>
            <a:ext cx="2286000" cy="3200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14500" y="1737360"/>
            <a:ext cx="502920" cy="50292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14500" y="173736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331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800" b="0">
                <a:solidFill>
                  <a:srgbClr val="FFFFFF"/>
                </a:solidFill>
                <a:latin typeface="Segoe UI Emoji"/>
              </a:defRPr>
            </a:pPr>
            <a:r>
              <a:t>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7432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Segoe UI Black"/>
              </a:defRPr>
            </a:pPr>
            <a:r>
              <a:t>DEMO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0896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Canli demo ile platformu</a:t>
            </a:r>
            <a:br/>
            <a:r>
              <a:t>taniyin. Sorularinizi</a:t>
            </a:r>
            <a:br/>
            <a:r>
              <a:t>yonetim ekibimize sorun.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25880" y="4297680"/>
            <a:ext cx="1280160" cy="274320"/>
          </a:xfrm>
          <a:prstGeom prst="roundRect">
            <a:avLst>
              <a:gd name="adj" fmla="val 5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429768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FFFFFF"/>
                </a:solidFill>
                <a:latin typeface="Segoe UI"/>
              </a:defRPr>
            </a:pPr>
            <a:r>
              <a:t>1-2 Gun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80" y="29260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0">
                <a:solidFill>
                  <a:srgbClr val="F59E0B"/>
                </a:solidFill>
                <a:latin typeface="Segoe UI"/>
              </a:defRPr>
            </a:pPr>
            <a: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1554480"/>
            <a:ext cx="2286000" cy="3200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57700" y="1737360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57700" y="173736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800" b="0">
                <a:solidFill>
                  <a:srgbClr val="FFFFFF"/>
                </a:solidFill>
                <a:latin typeface="Segoe UI Emoji"/>
              </a:defRPr>
            </a:pPr>
            <a:r>
              <a:t>⚙️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7432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Segoe UI Black"/>
              </a:defRPr>
            </a:pPr>
            <a:r>
              <a:t>KURULUM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3320" y="310896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Kurum bilgileri, kullanici</a:t>
            </a:r>
            <a:br/>
            <a:r>
              <a:t>tanimlama, veri aktarimi.</a:t>
            </a:r>
            <a:br/>
            <a:r>
              <a:t>Ozel yapilandirma.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69080" y="4297680"/>
            <a:ext cx="1280160" cy="274320"/>
          </a:xfrm>
          <a:prstGeom prst="roundRect">
            <a:avLst>
              <a:gd name="adj" fmla="val 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69080" y="429768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FFFFFF"/>
                </a:solidFill>
                <a:latin typeface="Segoe UI"/>
              </a:defRPr>
            </a:pPr>
            <a:r>
              <a:t>1-2 Hafta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97880" y="29260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0">
                <a:solidFill>
                  <a:srgbClr val="F59E0B"/>
                </a:solidFill>
                <a:latin typeface="Segoe UI"/>
              </a:defRPr>
            </a:pPr>
            <a:r>
              <a:t>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0" y="1554480"/>
            <a:ext cx="2286000" cy="3200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200900" y="1737360"/>
            <a:ext cx="502920" cy="50292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00900" y="173736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331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800" b="0">
                <a:solidFill>
                  <a:srgbClr val="FFFFFF"/>
                </a:solidFill>
                <a:latin typeface="Segoe UI Emoji"/>
              </a:defRPr>
            </a:pPr>
            <a:r>
              <a:t>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27432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Segoe UI Black"/>
              </a:defRPr>
            </a:pPr>
            <a:r>
              <a:t>EGITIM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310896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Yonetici, ogretmen ve</a:t>
            </a:r>
            <a:br/>
            <a:r>
              <a:t>personel egitimi.</a:t>
            </a:r>
            <a:br/>
            <a:r>
              <a:t>Kullanim kilavuzlari.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12280" y="4297680"/>
            <a:ext cx="1280160" cy="274320"/>
          </a:xfrm>
          <a:prstGeom prst="roundRect">
            <a:avLst>
              <a:gd name="adj" fmla="val 5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2280" y="429768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FFFFFF"/>
                </a:solidFill>
                <a:latin typeface="Segoe UI"/>
              </a:defRPr>
            </a:pPr>
            <a:r>
              <a:t>1 Hafta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41080" y="29260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0">
                <a:solidFill>
                  <a:srgbClr val="F59E0B"/>
                </a:solidFill>
                <a:latin typeface="Segoe UI"/>
              </a:defRPr>
            </a:pPr>
            <a:r>
              <a:t>▶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52560" y="1554480"/>
            <a:ext cx="2286000" cy="3200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944100" y="1737360"/>
            <a:ext cx="502920" cy="5029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44100" y="173736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FFFFF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52560" y="2331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800" b="0">
                <a:solidFill>
                  <a:srgbClr val="FFFFFF"/>
                </a:solidFill>
                <a:latin typeface="Segoe UI Emoji"/>
              </a:defRPr>
            </a:pPr>
            <a:r>
              <a:t>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27432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Segoe UI Black"/>
              </a:defRPr>
            </a:pPr>
            <a:r>
              <a:t>GO-LIVE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9720" y="310896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Canli ortama gecis.</a:t>
            </a:r>
            <a:br/>
            <a:r>
              <a:t>7/24 destek.</a:t>
            </a:r>
            <a:br/>
            <a:r>
              <a:t>Ilk ay yogun takip.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555480" y="4297680"/>
            <a:ext cx="1280160" cy="274320"/>
          </a:xfrm>
          <a:prstGeom prst="roundRect">
            <a:avLst>
              <a:gd name="adj" fmla="val 5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555480" y="429768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FFFFFF"/>
                </a:solidFill>
                <a:latin typeface="Segoe UI"/>
              </a:defRPr>
            </a:pPr>
            <a:r>
              <a:t>Surekli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371600" y="5212080"/>
            <a:ext cx="9418320" cy="640080"/>
          </a:xfrm>
          <a:prstGeom prst="roundRect">
            <a:avLst>
              <a:gd name="adj" fmla="val 5000"/>
            </a:avLst>
          </a:prstGeom>
          <a:solidFill>
            <a:srgbClr val="152033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71600" y="521208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F59E0B"/>
                </a:solidFill>
                <a:latin typeface="Segoe UI"/>
              </a:defRPr>
            </a:pPr>
            <a:r>
              <a:t>🤝  Uygulama sureci boyunca ozel proje yoneticisi atanir  |  7/24 teknik destek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9E0B"/>
                </a:solidFill>
                <a:latin typeface="Segoe UI Semibold"/>
              </a:defRPr>
            </a:pPr>
            <a:r>
              <a:t>REFERANSLAR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Segoe UI Black"/>
              </a:defRPr>
            </a:pPr>
            <a:r>
              <a:t>Referanslar &amp; Basari Hikayeleri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1005840"/>
            <a:ext cx="338328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822960" y="1645920"/>
            <a:ext cx="3291840" cy="29260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200" b="0">
                <a:solidFill>
                  <a:srgbClr val="FFFFFF"/>
                </a:solidFill>
                <a:latin typeface="Segoe UI Emoji"/>
              </a:defRPr>
            </a:pPr>
            <a:r>
              <a:t>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02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Ozel Koleji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146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Istanbul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80160" y="2834640"/>
            <a:ext cx="2377440" cy="0"/>
          </a:xfrm>
          <a:prstGeom prst="line">
            <a:avLst/>
          </a:prstGeom>
          <a:ln w="127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30175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  <a:defRPr sz="1000" b="0">
                <a:solidFill>
                  <a:srgbClr val="E2E8F0"/>
                </a:solidFill>
                <a:latin typeface="Segoe UI Light"/>
              </a:defRPr>
            </a:pPr>
            <a:r>
              <a:t>"SmartCampus ile idari islerimiz %60 azaldi.</a:t>
            </a:r>
            <a:br/>
            <a:r>
              <a:t>Velilerimiz cok memnun."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0233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F59E0B"/>
                </a:solidFill>
                <a:latin typeface="Segoe UI"/>
              </a:defRPr>
            </a:pPr>
            <a:r>
              <a:t>— Okul Muduru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34840" y="1645920"/>
            <a:ext cx="3291840" cy="29260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18288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200" b="0">
                <a:solidFill>
                  <a:srgbClr val="FFFFFF"/>
                </a:solidFill>
                <a:latin typeface="Segoe UI Emoji"/>
              </a:defRPr>
            </a:pPr>
            <a:r>
              <a:t>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2402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Ozel Koleji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25146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Ankara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892040" y="2834640"/>
            <a:ext cx="2377440" cy="0"/>
          </a:xfrm>
          <a:prstGeom prst="line">
            <a:avLst/>
          </a:prstGeom>
          <a:ln w="127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617720" y="30175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  <a:defRPr sz="1000" b="0">
                <a:solidFill>
                  <a:srgbClr val="E2E8F0"/>
                </a:solidFill>
                <a:latin typeface="Segoe UI Light"/>
              </a:defRPr>
            </a:pPr>
            <a:r>
              <a:t>"AI soru uretimi ogretmenlerimizin</a:t>
            </a:r>
            <a:br/>
            <a:r>
              <a:t>is yukunu inanilmaz azaltti."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40233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F59E0B"/>
                </a:solidFill>
                <a:latin typeface="Segoe UI"/>
              </a:defRPr>
            </a:pPr>
            <a:r>
              <a:t>— Akademik Koordinator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1645920"/>
            <a:ext cx="3291840" cy="29260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0" y="18288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200" b="0">
                <a:solidFill>
                  <a:srgbClr val="FFFFFF"/>
                </a:solidFill>
                <a:latin typeface="Segoe UI Emoji"/>
              </a:defRPr>
            </a:pPr>
            <a:r>
              <a:t>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22402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Ozel Koleji 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251460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Izmir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03920" y="2834640"/>
            <a:ext cx="2377440" cy="0"/>
          </a:xfrm>
          <a:prstGeom prst="line">
            <a:avLst/>
          </a:prstGeom>
          <a:ln w="127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229600" y="30175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  <a:defRPr sz="1000" b="0">
                <a:solidFill>
                  <a:srgbClr val="E2E8F0"/>
                </a:solidFill>
                <a:latin typeface="Segoe UI Light"/>
              </a:defRPr>
            </a:pPr>
            <a:r>
              <a:t>"Mobil uygulama ile velilerimizle</a:t>
            </a:r>
            <a:br/>
            <a:r>
              <a:t>iletisimimiz mukemmel seviyede."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40233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1">
                <a:solidFill>
                  <a:srgbClr val="F59E0B"/>
                </a:solidFill>
                <a:latin typeface="Segoe UI"/>
              </a:defRPr>
            </a:pPr>
            <a:r>
              <a:t>— Genel Mudur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71600" y="5029200"/>
            <a:ext cx="9418320" cy="731520"/>
          </a:xfrm>
          <a:prstGeom prst="roundRect">
            <a:avLst>
              <a:gd name="adj" fmla="val 5000"/>
            </a:avLst>
          </a:prstGeom>
          <a:solidFill>
            <a:srgbClr val="152033"/>
          </a:solidFill>
          <a:ln w="1270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0" y="502920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  <a:defRPr sz="1100" b="0">
                <a:solidFill>
                  <a:srgbClr val="94A3B8"/>
                </a:solidFill>
                <a:latin typeface="Segoe UI"/>
              </a:defRPr>
            </a:pPr>
            <a:r>
              <a:t>📋  Referans bilgileri guncellenmektedir.</a:t>
            </a:r>
            <a:br/>
            <a:r>
              <a:t>Canli demo sirasinda mevcut kullanicilarin deneyimlerini paylasmaktayiz.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9E0B"/>
                </a:solidFill>
                <a:latin typeface="Segoe UI Semibold"/>
              </a:defRPr>
            </a:pPr>
            <a:r>
              <a:t>ILETISIM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Segoe UI Black"/>
              </a:defRPr>
            </a:pPr>
            <a:r>
              <a:t>Bize Ulasin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1005840"/>
            <a:ext cx="338328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1828800" y="1645920"/>
            <a:ext cx="8503920" cy="384048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192024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800" b="1">
                <a:solidFill>
                  <a:srgbClr val="F59E0B"/>
                </a:solidFill>
                <a:latin typeface="Segoe UI Black"/>
              </a:defRPr>
            </a:pPr>
            <a:r>
              <a:t>🏫  SmartCampus AI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657600" y="2606040"/>
            <a:ext cx="4846320" cy="0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200400" y="28346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59E0B"/>
                </a:solidFill>
                <a:latin typeface="Segoe UI Emoji"/>
              </a:rPr>
              <a:t>📧  </a:t>
            </a:r>
            <a:r>
              <a:rPr sz="1400" b="1">
                <a:solidFill>
                  <a:srgbClr val="94A3B8"/>
                </a:solidFill>
                <a:latin typeface="Segoe UI"/>
              </a:rPr>
              <a:t>Email:  </a:t>
            </a:r>
            <a:r>
              <a:rPr sz="1400" b="0">
                <a:solidFill>
                  <a:srgbClr val="FFFFFF"/>
                </a:solidFill>
                <a:latin typeface="Segoe UI"/>
              </a:rPr>
              <a:t>info@smartcampus.com.tr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3337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59E0B"/>
                </a:solidFill>
                <a:latin typeface="Segoe UI Emoji"/>
              </a:rPr>
              <a:t>📱  </a:t>
            </a:r>
            <a:r>
              <a:rPr sz="1400" b="1">
                <a:solidFill>
                  <a:srgbClr val="94A3B8"/>
                </a:solidFill>
                <a:latin typeface="Segoe UI"/>
              </a:rPr>
              <a:t>Telefon:  </a:t>
            </a:r>
            <a:r>
              <a:rPr sz="1400" b="0">
                <a:solidFill>
                  <a:srgbClr val="FFFFFF"/>
                </a:solidFill>
                <a:latin typeface="Segoe UI"/>
              </a:rPr>
              <a:t>+90 (XXX) XXX XX XX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840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59E0B"/>
                </a:solidFill>
                <a:latin typeface="Segoe UI Emoji"/>
              </a:rPr>
              <a:t>🌐  </a:t>
            </a:r>
            <a:r>
              <a:rPr sz="1400" b="1">
                <a:solidFill>
                  <a:srgbClr val="94A3B8"/>
                </a:solidFill>
                <a:latin typeface="Segoe UI"/>
              </a:rPr>
              <a:t>Web:  </a:t>
            </a:r>
            <a:r>
              <a:rPr sz="1400" b="0">
                <a:solidFill>
                  <a:srgbClr val="FFFFFF"/>
                </a:solidFill>
                <a:latin typeface="Segoe UI"/>
              </a:rPr>
              <a:t>www.smartcampus.com.tr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4343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59E0B"/>
                </a:solidFill>
                <a:latin typeface="Segoe UI Emoji"/>
              </a:rPr>
              <a:t>📍  </a:t>
            </a:r>
            <a:r>
              <a:rPr sz="1400" b="1">
                <a:solidFill>
                  <a:srgbClr val="94A3B8"/>
                </a:solidFill>
                <a:latin typeface="Segoe UI"/>
              </a:rPr>
              <a:t>Adres:  </a:t>
            </a:r>
            <a:r>
              <a:rPr sz="1400" b="0">
                <a:solidFill>
                  <a:srgbClr val="FFFFFF"/>
                </a:solidFill>
                <a:latin typeface="Segoe UI"/>
              </a:rPr>
              <a:t>Istanbul, Turkiye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8463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F59E0B"/>
                </a:solidFill>
                <a:latin typeface="Segoe UI"/>
              </a:defRPr>
            </a:pPr>
            <a:r>
              <a:t>Demo talep edin  |  Ucretsiz deneme  |  Ozel teklif alin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7607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64748B"/>
                </a:solidFill>
                <a:latin typeface="Segoe UI"/>
              </a:defRPr>
            </a:pPr>
            <a:r>
              <a:t>Satis ekibimiz 24 saat icerisinde size donecektir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457200"/>
            <a:ext cx="2743200" cy="0"/>
          </a:xfrm>
          <a:prstGeom prst="line">
            <a:avLst/>
          </a:prstGeom>
          <a:ln w="508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457200" y="457200"/>
            <a:ext cx="0" cy="1828800"/>
          </a:xfrm>
          <a:prstGeom prst="line">
            <a:avLst/>
          </a:prstGeom>
          <a:ln w="508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5600" b="1">
                <a:solidFill>
                  <a:srgbClr val="FFFFFF"/>
                </a:solidFill>
                <a:latin typeface="Segoe UI Black"/>
              </a:defRPr>
            </a:pPr>
            <a:r>
              <a:t>SmartCampus AI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114800" y="3108960"/>
            <a:ext cx="3962095" cy="0"/>
          </a:xfrm>
          <a:prstGeom prst="line">
            <a:avLst/>
          </a:prstGeom>
          <a:ln w="508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14400" y="3383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600" b="1">
                <a:solidFill>
                  <a:srgbClr val="F59E0B"/>
                </a:solidFill>
                <a:latin typeface="Segoe UI Light"/>
              </a:defRPr>
            </a:pPr>
            <a:r>
              <a:t>Egitimin Gelecegi Burada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41148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94A3B8"/>
                </a:solidFill>
                <a:latin typeface="Segoe UI"/>
              </a:defRPr>
            </a:pPr>
            <a:r>
              <a:t>Yatiriminiz icin tesekkur ederiz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991295" y="6035040"/>
            <a:ext cx="2743200" cy="0"/>
          </a:xfrm>
          <a:prstGeom prst="line">
            <a:avLst/>
          </a:prstGeom>
          <a:ln w="508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1734495" y="4206240"/>
            <a:ext cx="0" cy="1828800"/>
          </a:xfrm>
          <a:prstGeom prst="line">
            <a:avLst/>
          </a:prstGeom>
          <a:ln w="508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14400" y="5029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64748B"/>
                </a:solidFill>
                <a:latin typeface="Segoe UI"/>
              </a:defRPr>
            </a:pPr>
            <a:r>
              <a:t>© 2026 SmartCampus AI  |  Tum haklari saklidir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9E0B"/>
                </a:solidFill>
                <a:latin typeface="Segoe UI Semibold"/>
              </a:defRPr>
            </a:pPr>
            <a:r>
              <a:t>BONUS: VERI MIMARISI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Segoe UI Black"/>
              </a:defRPr>
            </a:pPr>
            <a:r>
              <a:t>Veri Modeli &amp; Depolama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1005840"/>
            <a:ext cx="338328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40080" y="1554480"/>
            <a:ext cx="2468880" cy="10058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459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Akademik</a:t>
            </a:r>
            <a:r>
              <a:rPr sz="900" b="0">
                <a:solidFill>
                  <a:srgbClr val="64748B"/>
                </a:solidFill>
                <a:latin typeface="Segoe UI"/>
              </a:rPr>
              <a:t>  |  </a:t>
            </a:r>
            <a:r>
              <a:rPr sz="1100" b="1">
                <a:solidFill>
                  <a:srgbClr val="3B82F6"/>
                </a:solidFill>
                <a:latin typeface="Segoe UI"/>
              </a:rPr>
              <a:t>9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0116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94A3B8"/>
                </a:solidFill>
                <a:latin typeface="Segoe UI"/>
              </a:defRPr>
            </a:pPr>
            <a:r>
              <a:t>students, grades, attendance, schedule...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554480"/>
            <a:ext cx="2468880" cy="10058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6459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Olcme</a:t>
            </a:r>
            <a:r>
              <a:rPr sz="900" b="0">
                <a:solidFill>
                  <a:srgbClr val="64748B"/>
                </a:solidFill>
                <a:latin typeface="Segoe UI"/>
              </a:rPr>
              <a:t>  |  </a:t>
            </a:r>
            <a:r>
              <a:rPr sz="1100" b="1">
                <a:solidFill>
                  <a:srgbClr val="8B5CF6"/>
                </a:solidFill>
                <a:latin typeface="Segoe UI"/>
              </a:rPr>
              <a:t>12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0116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94A3B8"/>
                </a:solidFill>
                <a:latin typeface="Segoe UI"/>
              </a:defRPr>
            </a:pPr>
            <a:r>
              <a:t>questions, exams, sessions, results...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1554480"/>
            <a:ext cx="2468880" cy="10058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16459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Rehberlik</a:t>
            </a:r>
            <a:r>
              <a:rPr sz="900" b="0">
                <a:solidFill>
                  <a:srgbClr val="64748B"/>
                </a:solidFill>
                <a:latin typeface="Segoe UI"/>
              </a:rPr>
              <a:t>  |  </a:t>
            </a:r>
            <a:r>
              <a:rPr sz="1100" b="1">
                <a:solidFill>
                  <a:srgbClr val="10B981"/>
                </a:solidFill>
                <a:latin typeface="Segoe UI"/>
              </a:rPr>
              <a:t>6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20116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94A3B8"/>
                </a:solidFill>
                <a:latin typeface="Segoe UI"/>
              </a:defRPr>
            </a:pPr>
            <a:r>
              <a:t>cases, interviews, mood, BEP...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32520" y="1554480"/>
            <a:ext cx="2468880" cy="10058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0" y="16459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IK</a:t>
            </a:r>
            <a:r>
              <a:rPr sz="900" b="0">
                <a:solidFill>
                  <a:srgbClr val="64748B"/>
                </a:solidFill>
                <a:latin typeface="Segoe UI"/>
              </a:rPr>
              <a:t>  |  </a:t>
            </a:r>
            <a:r>
              <a:rPr sz="1100" b="1">
                <a:solidFill>
                  <a:srgbClr val="F97316"/>
                </a:solidFill>
                <a:latin typeface="Segoe UI"/>
              </a:rPr>
              <a:t>8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20116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94A3B8"/>
                </a:solidFill>
                <a:latin typeface="Segoe UI"/>
              </a:defRPr>
            </a:pPr>
            <a:r>
              <a:t>employees, positions, leaves, interviews...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2743200"/>
            <a:ext cx="2468880" cy="10058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8346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Kayit</a:t>
            </a:r>
            <a:r>
              <a:rPr sz="900" b="0">
                <a:solidFill>
                  <a:srgbClr val="64748B"/>
                </a:solidFill>
                <a:latin typeface="Segoe UI"/>
              </a:rPr>
              <a:t>  |  </a:t>
            </a:r>
            <a:r>
              <a:rPr sz="1100" b="1">
                <a:solidFill>
                  <a:srgbClr val="06B6D4"/>
                </a:solidFill>
                <a:latin typeface="Segoe UI"/>
              </a:rPr>
              <a:t>5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2004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94A3B8"/>
                </a:solidFill>
                <a:latin typeface="Segoe UI"/>
              </a:defRPr>
            </a:pPr>
            <a:r>
              <a:t>applications, leads, campaigns...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37560" y="2743200"/>
            <a:ext cx="2468880" cy="10058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4720" y="28346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Finans</a:t>
            </a:r>
            <a:r>
              <a:rPr sz="900" b="0">
                <a:solidFill>
                  <a:srgbClr val="64748B"/>
                </a:solidFill>
                <a:latin typeface="Segoe UI"/>
              </a:rPr>
              <a:t>  |  </a:t>
            </a:r>
            <a:r>
              <a:rPr sz="1100" b="1">
                <a:solidFill>
                  <a:srgbClr val="F59E0B"/>
                </a:solidFill>
                <a:latin typeface="Segoe UI"/>
              </a:rPr>
              <a:t>6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32004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94A3B8"/>
                </a:solidFill>
                <a:latin typeface="Segoe UI"/>
              </a:defRPr>
            </a:pPr>
            <a:r>
              <a:t>payments, invoices, plans...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35040" y="2743200"/>
            <a:ext cx="2468880" cy="10058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0" y="28346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Kurum</a:t>
            </a:r>
            <a:r>
              <a:rPr sz="900" b="0">
                <a:solidFill>
                  <a:srgbClr val="64748B"/>
                </a:solidFill>
                <a:latin typeface="Segoe UI"/>
              </a:rPr>
              <a:t>  |  </a:t>
            </a:r>
            <a:r>
              <a:rPr sz="1100" b="1">
                <a:solidFill>
                  <a:srgbClr val="14B8A6"/>
                </a:solidFill>
                <a:latin typeface="Segoe UI"/>
              </a:rPr>
              <a:t>7 model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32004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94A3B8"/>
                </a:solidFill>
                <a:latin typeface="Segoe UI"/>
              </a:defRPr>
            </a:pPr>
            <a:r>
              <a:t>schedule, menu, transport, requests...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732520" y="2743200"/>
            <a:ext cx="2468880" cy="10058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680" y="28346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Iletisim</a:t>
            </a:r>
            <a:r>
              <a:rPr sz="900" b="0">
                <a:solidFill>
                  <a:srgbClr val="64748B"/>
                </a:solidFill>
                <a:latin typeface="Segoe UI"/>
              </a:rPr>
              <a:t>  |  </a:t>
            </a:r>
            <a:r>
              <a:rPr sz="1100" b="1">
                <a:solidFill>
                  <a:srgbClr val="EC4899"/>
                </a:solidFill>
                <a:latin typeface="Segoe UI"/>
              </a:rPr>
              <a:t>4 model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69680" y="320040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94A3B8"/>
                </a:solidFill>
                <a:latin typeface="Segoe UI"/>
              </a:defRPr>
            </a:pPr>
            <a:r>
              <a:t>messages, SMS logs, templates...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3931920"/>
            <a:ext cx="10881360" cy="2011680"/>
          </a:xfrm>
          <a:prstGeom prst="roundRect">
            <a:avLst>
              <a:gd name="adj" fmla="val 5000"/>
            </a:avLst>
          </a:prstGeom>
          <a:solidFill>
            <a:srgbClr val="152033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406908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59E0B"/>
                </a:solidFill>
                <a:latin typeface="Segoe UI"/>
              </a:defRPr>
            </a:pPr>
            <a:r>
              <a:t>VERI AKIS DIYAGRAMI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43484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  <a:defRPr sz="1000" b="0">
                <a:solidFill>
                  <a:srgbClr val="94A3B8"/>
                </a:solidFill>
                <a:latin typeface="Consolas"/>
              </a:defRPr>
            </a:pPr>
            <a:r>
              <a:t>Kullanici (Web/Mobil)  →  API Gateway (FastAPI)  →  Service Layer  →  Data Store (JSON)</a:t>
            </a:r>
            <a:br/>
            <a:r>
              <a:t>              ↓                          ↓                       ↓                    ↓</a:t>
            </a:r>
            <a:br/>
            <a:r>
              <a:t>        Auth (JWT)            Validation           Business Logic      File System</a:t>
            </a:r>
            <a:br/>
            <a:r>
              <a:t>              ↓                          ↓                       ↓                    ↓</a:t>
            </a:r>
            <a:br/>
            <a:r>
              <a:t>        Session              Rate Limit             AI Services        Backup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9E0B"/>
                </a:solidFill>
                <a:latin typeface="Segoe UI Semibold"/>
              </a:defRPr>
            </a:pPr>
            <a:r>
              <a:t>BONUS: MEB UYUMU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Segoe UI Black"/>
              </a:defRPr>
            </a:pPr>
            <a:r>
              <a:t>MEB Mevzuat Uyumu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1005840"/>
            <a:ext cx="338328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1554480"/>
            <a:ext cx="6400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✅  </a:t>
            </a:r>
            <a:r>
              <a:rPr sz="1200">
                <a:solidFill>
                  <a:srgbClr val="E2E8F0"/>
                </a:solidFill>
                <a:latin typeface="Segoe UI"/>
              </a:rPr>
              <a:t>MEB Mufredat: 6839 yillik plan kaydi, 14 ders, 1-12. sinif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✅  </a:t>
            </a:r>
            <a:r>
              <a:rPr sz="1200">
                <a:solidFill>
                  <a:srgbClr val="E2E8F0"/>
                </a:solidFill>
                <a:latin typeface="Segoe UI"/>
              </a:rPr>
              <a:t>Kazanim bazli takip: her ders icin MEB kazanim listesi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✅  </a:t>
            </a:r>
            <a:r>
              <a:rPr sz="1200">
                <a:solidFill>
                  <a:srgbClr val="E2E8F0"/>
                </a:solidFill>
                <a:latin typeface="Segoe UI"/>
              </a:rPr>
              <a:t>e-Okul entegrasyonu: veri export/import uyumlulugu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✅  </a:t>
            </a:r>
            <a:r>
              <a:rPr sz="1200">
                <a:solidFill>
                  <a:srgbClr val="E2E8F0"/>
                </a:solidFill>
                <a:latin typeface="Segoe UI"/>
              </a:rPr>
              <a:t>Sinav standartlari: LGS/TYT/AYT bolum yapilari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✅  </a:t>
            </a:r>
            <a:r>
              <a:rPr sz="1200">
                <a:solidFill>
                  <a:srgbClr val="E2E8F0"/>
                </a:solidFill>
                <a:latin typeface="Segoe UI"/>
              </a:rPr>
              <a:t>Devamsizlik kurallari: MEB mevzuati ile uyumlu limitter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✅  </a:t>
            </a:r>
            <a:r>
              <a:rPr sz="1200">
                <a:solidFill>
                  <a:srgbClr val="E2E8F0"/>
                </a:solidFill>
                <a:latin typeface="Segoe UI"/>
              </a:rPr>
              <a:t>Not sistemi: 100'luk + 5'lik + harf notu donusum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✅  </a:t>
            </a:r>
            <a:r>
              <a:rPr sz="1200">
                <a:solidFill>
                  <a:srgbClr val="E2E8F0"/>
                </a:solidFill>
                <a:latin typeface="Segoe UI"/>
              </a:rPr>
              <a:t>Karne formati: MEB standart karne sablonu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✅  </a:t>
            </a:r>
            <a:r>
              <a:rPr sz="1200">
                <a:solidFill>
                  <a:srgbClr val="E2E8F0"/>
                </a:solidFill>
                <a:latin typeface="Segoe UI"/>
              </a:rPr>
              <a:t>Disiplin sureci: MEB disiplin yonetmeligi adimlari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✅  </a:t>
            </a:r>
            <a:r>
              <a:rPr sz="1200">
                <a:solidFill>
                  <a:srgbClr val="E2E8F0"/>
                </a:solidFill>
                <a:latin typeface="Segoe UI"/>
              </a:rPr>
              <a:t>Ozel okul yonetmeligi: idari ve mali surecler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600">
                <a:latin typeface="Segoe UI Emoji"/>
              </a:rPr>
              <a:t>✅  </a:t>
            </a:r>
            <a:r>
              <a:rPr sz="1200">
                <a:solidFill>
                  <a:srgbClr val="E2E8F0"/>
                </a:solidFill>
                <a:latin typeface="Segoe UI"/>
              </a:rPr>
              <a:t>KVKK uyumlulugu: kisisel veri koruma gereksinimleri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1554480"/>
            <a:ext cx="3931920" cy="4114800"/>
          </a:xfrm>
          <a:prstGeom prst="roundRect">
            <a:avLst>
              <a:gd name="adj" fmla="val 5000"/>
            </a:avLst>
          </a:prstGeom>
          <a:solidFill>
            <a:srgbClr val="152033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69164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F59E0B"/>
                </a:solidFill>
                <a:latin typeface="Segoe UI"/>
              </a:defRPr>
            </a:pPr>
            <a:r>
              <a:t>MEB VERI BANKASI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21031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59E0B"/>
                </a:solidFill>
                <a:latin typeface="Segoe UI"/>
              </a:rPr>
              <a:t>6,839</a:t>
            </a:r>
            <a:r>
              <a:rPr sz="1100" b="0">
                <a:solidFill>
                  <a:srgbClr val="94A3B8"/>
                </a:solidFill>
                <a:latin typeface="Segoe UI"/>
              </a:rPr>
              <a:t>  Yillik Plan Kaydi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5603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59E0B"/>
                </a:solidFill>
                <a:latin typeface="Segoe UI"/>
              </a:rPr>
              <a:t>14</a:t>
            </a:r>
            <a:r>
              <a:rPr sz="1100" b="0">
                <a:solidFill>
                  <a:srgbClr val="94A3B8"/>
                </a:solidFill>
                <a:latin typeface="Segoe UI"/>
              </a:rPr>
              <a:t>  Ders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0175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59E0B"/>
                </a:solidFill>
                <a:latin typeface="Segoe UI"/>
              </a:rPr>
              <a:t>1-12</a:t>
            </a:r>
            <a:r>
              <a:rPr sz="1100" b="0">
                <a:solidFill>
                  <a:srgbClr val="94A3B8"/>
                </a:solidFill>
                <a:latin typeface="Segoe UI"/>
              </a:rPr>
              <a:t>  Sinif Kademesi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34747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59E0B"/>
                </a:solidFill>
                <a:latin typeface="Segoe UI"/>
              </a:rPr>
              <a:t>7</a:t>
            </a:r>
            <a:r>
              <a:rPr sz="1100" b="0">
                <a:solidFill>
                  <a:srgbClr val="94A3B8"/>
                </a:solidFill>
                <a:latin typeface="Segoe UI"/>
              </a:rPr>
              <a:t>  Soru Tipi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39319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59E0B"/>
                </a:solidFill>
                <a:latin typeface="Segoe UI"/>
              </a:rPr>
              <a:t>6</a:t>
            </a:r>
            <a:r>
              <a:rPr sz="1100" b="0">
                <a:solidFill>
                  <a:srgbClr val="94A3B8"/>
                </a:solidFill>
                <a:latin typeface="Segoe UI"/>
              </a:rPr>
              <a:t>  Bloom Seviyesi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9E0B"/>
                </a:solidFill>
                <a:latin typeface="Segoe UI Semibold"/>
              </a:defRPr>
            </a:pPr>
            <a:r>
              <a:t>BONUS: TELAFI SISTEMI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Segoe UI Black"/>
              </a:defRPr>
            </a:pPr>
            <a:r>
              <a:t>Otomatik Telafi &amp; Pekistirme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1005840"/>
            <a:ext cx="338328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822960" y="1554480"/>
            <a:ext cx="1051560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459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200" b="0">
                <a:solidFill>
                  <a:srgbClr val="FFFFFF"/>
                </a:solidFill>
                <a:latin typeface="Segoe UI Emoji"/>
              </a:defRPr>
            </a:pPr>
            <a:r>
              <a:t>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645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F4444"/>
                </a:solidFill>
                <a:latin typeface="Segoe UI"/>
              </a:rPr>
              <a:t>RED (0-49)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0116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Ciddi eksiklik — yogun telafi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1691640"/>
            <a:ext cx="5669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E2E8F0"/>
                </a:solidFill>
                <a:latin typeface="Segoe UI"/>
              </a:defRPr>
            </a:pPr>
            <a:r>
              <a:t>Ozet + Quiz-1 (hemen) + Quiz-2 (48 saat)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606040"/>
            <a:ext cx="1051560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6974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200" b="0">
                <a:solidFill>
                  <a:srgbClr val="FFFFFF"/>
                </a:solidFill>
                <a:latin typeface="Segoe UI Emoji"/>
              </a:defRPr>
            </a:pPr>
            <a:r>
              <a:t>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6974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9E0B"/>
                </a:solidFill>
                <a:latin typeface="Segoe UI"/>
              </a:rPr>
              <a:t>YELLOW (50-69)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632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Orta eksiklik — destekleyici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743200"/>
            <a:ext cx="5669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E2E8F0"/>
                </a:solidFill>
                <a:latin typeface="Segoe UI"/>
              </a:defRPr>
            </a:pPr>
            <a:r>
              <a:t>Pekistirme (5 soru)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657600"/>
            <a:ext cx="1051560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7490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200" b="0">
                <a:solidFill>
                  <a:srgbClr val="FFFFFF"/>
                </a:solidFill>
                <a:latin typeface="Segoe UI Emoji"/>
              </a:defRPr>
            </a:pPr>
            <a:r>
              <a:t>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7490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0B981"/>
                </a:solidFill>
                <a:latin typeface="Segoe UI"/>
              </a:rPr>
              <a:t>GREEN (70-84)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114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Iyi seviye — surdurme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3794760"/>
            <a:ext cx="5669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E2E8F0"/>
                </a:solidFill>
                <a:latin typeface="Segoe UI"/>
              </a:defRPr>
            </a:pPr>
            <a:r>
              <a:t>Haftalik tekrar (8 soru)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709160"/>
            <a:ext cx="10515600" cy="914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8006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200" b="0">
                <a:solidFill>
                  <a:srgbClr val="FFFFFF"/>
                </a:solidFill>
                <a:latin typeface="Segoe UI Emoji"/>
              </a:defRPr>
            </a:pPr>
            <a:r>
              <a:t>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8006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B82F6"/>
                </a:solidFill>
                <a:latin typeface="Segoe UI"/>
              </a:rPr>
              <a:t>BLUE (85-100)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1663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Ustun — meydan okuma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4846320"/>
            <a:ext cx="5669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E2E8F0"/>
                </a:solidFill>
                <a:latin typeface="Segoe UI"/>
              </a:defRPr>
            </a:pPr>
            <a:r>
              <a:t>Zor set (5) + Hiz calismasi (10)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4864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F59E0B"/>
                </a:solidFill>
                <a:latin typeface="Segoe UI"/>
              </a:defRPr>
            </a:pPr>
            <a:r>
              <a:t>AutoGrader sinav sonrasi otomatik telafi gorevi olusturur  |  RemediationEngine ile entegre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9E0B"/>
                </a:solidFill>
                <a:latin typeface="Segoe UI Semibold"/>
              </a:defRPr>
            </a:pPr>
            <a:r>
              <a:t>BONUS: SINAV TIPLERI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Segoe UI Black"/>
              </a:defRPr>
            </a:pPr>
            <a:r>
              <a:t>7 Soru Tipi &amp; Sinav Cesitleri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1005840"/>
            <a:ext cx="338328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57200" y="1554480"/>
            <a:ext cx="1417320" cy="13716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200" b="0">
                <a:solidFill>
                  <a:srgbClr val="FFFFFF"/>
                </a:solidFill>
                <a:latin typeface="Segoe UI Emoji"/>
              </a:defRPr>
            </a:pPr>
            <a:r>
              <a:t>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FFFFFF"/>
                </a:solidFill>
                <a:latin typeface="Segoe UI"/>
              </a:defRPr>
            </a:pPr>
            <a:r>
              <a:t>MCQ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31720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Coktan secmeli (4-5 sik)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11680" y="1554480"/>
            <a:ext cx="1417320" cy="13716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164592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200" b="0">
                <a:solidFill>
                  <a:srgbClr val="FFFFFF"/>
                </a:solidFill>
                <a:latin typeface="Segoe UI Emoji"/>
              </a:defRPr>
            </a:pPr>
            <a:r>
              <a:t>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201168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FFFFFF"/>
                </a:solidFill>
                <a:latin typeface="Segoe UI"/>
              </a:defRPr>
            </a:pPr>
            <a:r>
              <a:t>True/False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2331720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Dogru-Yanlis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66160" y="1554480"/>
            <a:ext cx="1417320" cy="13716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6160" y="164592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200" b="0">
                <a:solidFill>
                  <a:srgbClr val="FFFFFF"/>
                </a:solidFill>
                <a:latin typeface="Segoe UI Emoji"/>
              </a:defRPr>
            </a:pPr>
            <a:r>
              <a:t>✍️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01168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FFFFFF"/>
                </a:solidFill>
                <a:latin typeface="Segoe UI"/>
              </a:defRPr>
            </a:pPr>
            <a:r>
              <a:t>Fill Blank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2331720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Bosluk doldurma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20640" y="1554480"/>
            <a:ext cx="1417320" cy="13716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0" y="164592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200" b="0">
                <a:solidFill>
                  <a:srgbClr val="FFFFFF"/>
                </a:solidFill>
                <a:latin typeface="Segoe UI Emoji"/>
              </a:defRPr>
            </a:pPr>
            <a:r>
              <a:t>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201168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FFFFFF"/>
                </a:solidFill>
                <a:latin typeface="Segoe UI"/>
              </a:defRPr>
            </a:pPr>
            <a:r>
              <a:t>Matching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2331720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Eslestirme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0" y="1554480"/>
            <a:ext cx="1417320" cy="13716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0" y="164592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200" b="0">
                <a:solidFill>
                  <a:srgbClr val="FFFFFF"/>
                </a:solidFill>
                <a:latin typeface="Segoe UI Emoji"/>
              </a:defRPr>
            </a:pPr>
            <a:r>
              <a:t>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201168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FFFFFF"/>
                </a:solidFill>
                <a:latin typeface="Segoe UI"/>
              </a:defRPr>
            </a:pPr>
            <a:r>
              <a:t>Ordering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2331720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Siralama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0" y="1554480"/>
            <a:ext cx="1417320" cy="13716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0" y="164592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200" b="0">
                <a:solidFill>
                  <a:srgbClr val="FFFFFF"/>
                </a:solidFill>
                <a:latin typeface="Segoe UI Emoji"/>
              </a:defRPr>
            </a:pPr>
            <a:r>
              <a:t>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201168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FFFFFF"/>
                </a:solidFill>
                <a:latin typeface="Segoe UI"/>
              </a:defRPr>
            </a:pPr>
            <a:r>
              <a:t>Cloze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2331720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Metin ici bosluk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784080" y="1554480"/>
            <a:ext cx="1417320" cy="13716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84080" y="164592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200" b="0">
                <a:solidFill>
                  <a:srgbClr val="FFFFFF"/>
                </a:solidFill>
                <a:latin typeface="Segoe UI Emoji"/>
              </a:defRPr>
            </a:pPr>
            <a:r>
              <a:t>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84080" y="201168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FFFFFF"/>
                </a:solidFill>
                <a:latin typeface="Segoe UI"/>
              </a:defRPr>
            </a:pPr>
            <a:r>
              <a:t>Math Expr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29800" y="2331720"/>
            <a:ext cx="1325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Matematik ifade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3291840"/>
            <a:ext cx="2468880" cy="14630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34290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200" b="0">
                <a:solidFill>
                  <a:srgbClr val="FFFFFF"/>
                </a:solidFill>
                <a:latin typeface="Segoe UI Emoji"/>
              </a:defRPr>
            </a:pPr>
            <a:r>
              <a:t>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37947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Yazili Sinav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411480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Klasik kagit sinav, PDF cikti, optik form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383280" y="3291840"/>
            <a:ext cx="2468880" cy="14630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566160" y="34290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200" b="0">
                <a:solidFill>
                  <a:srgbClr val="FFFFFF"/>
                </a:solidFill>
                <a:latin typeface="Segoe UI Emoji"/>
              </a:defRPr>
            </a:pPr>
            <a:r>
              <a:t>💻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37947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Online Sinav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0" y="411480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Tab guvenlik, heartbeat, zamanlayici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26480" y="3291840"/>
            <a:ext cx="2468880" cy="14630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09360" y="34290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200" b="0">
                <a:solidFill>
                  <a:srgbClr val="FFFFFF"/>
                </a:solidFill>
                <a:latin typeface="Segoe UI Emoji"/>
              </a:defRPr>
            </a:pPr>
            <a:r>
              <a:t>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9360" y="37947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AI Uretim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09360" y="411480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Kazanim bazli otomatik soru uretimi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869680" y="3291840"/>
            <a:ext cx="2468880" cy="14630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52560" y="34290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200" b="0">
                <a:solidFill>
                  <a:srgbClr val="FFFFFF"/>
                </a:solidFill>
                <a:latin typeface="Segoe UI Emoji"/>
              </a:defRPr>
            </a:pPr>
            <a:r>
              <a:t>📊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52560" y="37947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LGS/TYT/AYT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52560" y="411480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OSYM formati, bolum yapilari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9E0B"/>
                </a:solidFill>
                <a:latin typeface="Segoe UI Semibold"/>
              </a:defRPr>
            </a:pPr>
            <a:r>
              <a:t>BONUS: MULTI-TENANT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Segoe UI Black"/>
              </a:defRPr>
            </a:pPr>
            <a:r>
              <a:t>Coklu Kurum Mimarisi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1005840"/>
            <a:ext cx="338328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40080" y="1554480"/>
            <a:ext cx="2468880" cy="27432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200" b="0">
                <a:solidFill>
                  <a:srgbClr val="FFFFFF"/>
                </a:solidFill>
                <a:latin typeface="Segoe UI Emoji"/>
              </a:defRPr>
            </a:pPr>
            <a:r>
              <a:t>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574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Kurum Izolasyonu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377440"/>
            <a:ext cx="21031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Her kurum kendi veri alaninda.</a:t>
            </a:r>
            <a:br/>
            <a:r>
              <a:t>Bir kurumun verisi digerine</a:t>
            </a:r>
            <a:br/>
            <a:r>
              <a:t>asla gorulmez.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554480"/>
            <a:ext cx="2468880" cy="27432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16916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200" b="0">
                <a:solidFill>
                  <a:srgbClr val="FFFFFF"/>
                </a:solidFill>
                <a:latin typeface="Segoe UI Emoji"/>
              </a:defRPr>
            </a:pPr>
            <a:r>
              <a:t>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0574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Guvenli Ayristirma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377440"/>
            <a:ext cx="21031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Tenant ID bazli filtreleme.</a:t>
            </a:r>
            <a:br/>
            <a:r>
              <a:t>API seviyesinde zorunlu kontrol.</a:t>
            </a:r>
            <a:br/>
            <a:r>
              <a:t>Veri sizintisi imkansiz.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468880" cy="27432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6916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200" b="0">
                <a:solidFill>
                  <a:srgbClr val="FFFFFF"/>
                </a:solidFill>
                <a:latin typeface="Segoe UI Emoji"/>
              </a:defRPr>
            </a:pPr>
            <a:r>
              <a:t>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0574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Kolay Ekleme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377440"/>
            <a:ext cx="21031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Yeni kurum dakikalar icinde.</a:t>
            </a:r>
            <a:br/>
            <a:r>
              <a:t>Sablon tabanli kurulum.</a:t>
            </a:r>
            <a:br/>
            <a:r>
              <a:t>Otomatik yapilandirma.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69680" y="1554480"/>
            <a:ext cx="2468880" cy="27432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16916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200" b="0">
                <a:solidFill>
                  <a:srgbClr val="FFFFFF"/>
                </a:solidFill>
                <a:latin typeface="Segoe UI Emoji"/>
              </a:defRPr>
            </a:pPr>
            <a:r>
              <a:t>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20574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Merkezi Yonetim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2377440"/>
            <a:ext cx="21031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Super admin paneli.</a:t>
            </a:r>
            <a:br/>
            <a:r>
              <a:t>Tum kurumlar tek ekrandan.</a:t>
            </a:r>
            <a:br/>
            <a:r>
              <a:t>Toplu raporlama.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663440"/>
            <a:ext cx="10881360" cy="1188720"/>
          </a:xfrm>
          <a:prstGeom prst="roundRect">
            <a:avLst>
              <a:gd name="adj" fmla="val 5000"/>
            </a:avLst>
          </a:prstGeom>
          <a:solidFill>
            <a:srgbClr val="152033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75488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60000"/>
              </a:lnSpc>
              <a:spcAft>
                <a:spcPts val="0"/>
              </a:spcAft>
              <a:defRPr sz="1200" b="0">
                <a:solidFill>
                  <a:srgbClr val="E2E8F0"/>
                </a:solidFill>
                <a:latin typeface="Segoe UI"/>
              </a:defRPr>
            </a:pPr>
            <a:r>
              <a:t>🏫 Kurum A  ←→  🗄️ Veri A     |     🏫 Kurum B  ←→  🗄️ Veri B     |     🏫 Kurum C  ←→  🗄️ Veri C</a:t>
            </a:r>
            <a:br/>
            <a:br/>
            <a:r>
              <a:t>                                       ⬆️  Merkezi API Gateway + Auth  ⬆️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9E0B"/>
                </a:solidFill>
                <a:latin typeface="Segoe UI Semibold"/>
              </a:defRPr>
            </a:pPr>
            <a:r>
              <a:t>BONUS: GAMIFICATION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Segoe UI Black"/>
              </a:defRPr>
            </a:pPr>
            <a:r>
              <a:t>Ogrenci Motivasyonu &amp; Oyunlastirma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1005840"/>
            <a:ext cx="338328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1554480"/>
            <a:ext cx="1645920" cy="25603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91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800" b="0">
                <a:solidFill>
                  <a:srgbClr val="FFFFFF"/>
                </a:solidFill>
                <a:latin typeface="Segoe UI Emoji"/>
              </a:defRPr>
            </a:pPr>
            <a:r>
              <a:t>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031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Segoe UI"/>
              </a:defRPr>
            </a:pPr>
            <a:r>
              <a:t>Rozetler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468880"/>
            <a:ext cx="1463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  <a:defRPr sz="900" b="0">
                <a:solidFill>
                  <a:srgbClr val="94A3B8"/>
                </a:solidFill>
                <a:latin typeface="Segoe UI"/>
              </a:defRPr>
            </a:pPr>
            <a:r>
              <a:t>Basari rozetleri ile</a:t>
            </a:r>
            <a:br/>
            <a:r>
              <a:t>belirli hedeflere ulasma</a:t>
            </a:r>
            <a:br/>
            <a:r>
              <a:t>motivasyonu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1720" y="1554480"/>
            <a:ext cx="1645920" cy="25603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31720" y="1691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800" b="0">
                <a:solidFill>
                  <a:srgbClr val="FFFFFF"/>
                </a:solidFill>
                <a:latin typeface="Segoe UI Emoji"/>
              </a:defRPr>
            </a:pPr>
            <a:r>
              <a:t>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21031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Segoe UI"/>
              </a:defRPr>
            </a:pPr>
            <a:r>
              <a:t>XP Puanlar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2468880"/>
            <a:ext cx="1463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  <a:defRPr sz="900" b="0">
                <a:solidFill>
                  <a:srgbClr val="94A3B8"/>
                </a:solidFill>
                <a:latin typeface="Segoe UI"/>
              </a:defRPr>
            </a:pPr>
            <a:r>
              <a:t>Her aktivite icin</a:t>
            </a:r>
            <a:br/>
            <a:r>
              <a:t>puan kazanma,</a:t>
            </a:r>
            <a:br/>
            <a:r>
              <a:t>seviye atlama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60520" y="1554480"/>
            <a:ext cx="1645920" cy="25603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60520" y="1691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800" b="0">
                <a:solidFill>
                  <a:srgbClr val="FFFFFF"/>
                </a:solidFill>
                <a:latin typeface="Segoe UI Emoji"/>
              </a:defRPr>
            </a:pPr>
            <a:r>
              <a:t>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21031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Segoe UI"/>
              </a:defRPr>
            </a:pPr>
            <a:r>
              <a:t>Lider Tablosu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60" y="2468880"/>
            <a:ext cx="1463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  <a:defRPr sz="900" b="0">
                <a:solidFill>
                  <a:srgbClr val="94A3B8"/>
                </a:solidFill>
                <a:latin typeface="Segoe UI"/>
              </a:defRPr>
            </a:pPr>
            <a:r>
              <a:t>Haftalik/aylik</a:t>
            </a:r>
            <a:br/>
            <a:r>
              <a:t>siralama listesi,</a:t>
            </a:r>
            <a:br/>
            <a:r>
              <a:t>sinif bazli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89320" y="1554480"/>
            <a:ext cx="1645920" cy="25603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89320" y="1691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800" b="0">
                <a:solidFill>
                  <a:srgbClr val="FFFFFF"/>
                </a:solidFill>
                <a:latin typeface="Segoe UI Emoji"/>
              </a:defRPr>
            </a:pPr>
            <a:r>
              <a:t>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21031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Segoe UI"/>
              </a:defRPr>
            </a:pPr>
            <a:r>
              <a:t>Oduller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60" y="2468880"/>
            <a:ext cx="1463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  <a:defRPr sz="900" b="0">
                <a:solidFill>
                  <a:srgbClr val="94A3B8"/>
                </a:solidFill>
                <a:latin typeface="Segoe UI"/>
              </a:defRPr>
            </a:pPr>
            <a:r>
              <a:t>Dijital ve fiziksel</a:t>
            </a:r>
            <a:br/>
            <a:r>
              <a:t>oduller, kupon</a:t>
            </a:r>
            <a:br/>
            <a:r>
              <a:t>sistemi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18120" y="1554480"/>
            <a:ext cx="1645920" cy="25603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18120" y="1691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800" b="0">
                <a:solidFill>
                  <a:srgbClr val="FFFFFF"/>
                </a:solidFill>
                <a:latin typeface="Segoe UI Emoji"/>
              </a:defRPr>
            </a:pPr>
            <a:r>
              <a:t>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21031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Segoe UI"/>
              </a:defRPr>
            </a:pPr>
            <a:r>
              <a:t>Mini Oyunlar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09560" y="2468880"/>
            <a:ext cx="1463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  <a:defRPr sz="900" b="0">
                <a:solidFill>
                  <a:srgbClr val="94A3B8"/>
                </a:solidFill>
                <a:latin typeface="Segoe UI"/>
              </a:defRPr>
            </a:pPr>
            <a:r>
              <a:t>Matematik yarisi,</a:t>
            </a:r>
            <a:br/>
            <a:r>
              <a:t>kelime avı, hafiza,</a:t>
            </a:r>
            <a:br/>
            <a:r>
              <a:t>bulmaca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46920" y="1554480"/>
            <a:ext cx="1645920" cy="25603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46920" y="1691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800" b="0">
                <a:solidFill>
                  <a:srgbClr val="FFFFFF"/>
                </a:solidFill>
                <a:latin typeface="Segoe UI Emoji"/>
              </a:defRPr>
            </a:pPr>
            <a:r>
              <a:t>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6920" y="21031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Segoe UI"/>
              </a:defRPr>
            </a:pPr>
            <a:r>
              <a:t>Seri (Streak)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360" y="2468880"/>
            <a:ext cx="1463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  <a:defRPr sz="900" b="0">
                <a:solidFill>
                  <a:srgbClr val="94A3B8"/>
                </a:solidFill>
                <a:latin typeface="Segoe UI"/>
              </a:defRPr>
            </a:pPr>
            <a:r>
              <a:t>Ardisik gun calisma,</a:t>
            </a:r>
            <a:br/>
            <a:r>
              <a:t>kayip korkusu,</a:t>
            </a:r>
            <a:br/>
            <a:r>
              <a:t>alişkanlık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59E0B"/>
                </a:solidFill>
                <a:latin typeface="Segoe UI"/>
              </a:defRPr>
            </a:pPr>
            <a:r>
              <a:t>Arastirmalar gamification ile ogrenci katiliminin %40-60 arttigini gostermektedir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9E0B"/>
                </a:solidFill>
                <a:latin typeface="Segoe UI Semibold"/>
              </a:defRPr>
            </a:pPr>
            <a:r>
              <a:t>BONUS: SINAV GUVENLIGI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Segoe UI Black"/>
              </a:defRPr>
            </a:pPr>
            <a:r>
              <a:t>Online Sinav Gozetim Sistemi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1005840"/>
            <a:ext cx="338328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40080" y="1554480"/>
            <a:ext cx="2468880" cy="27432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200" b="0">
                <a:solidFill>
                  <a:srgbClr val="FFFFFF"/>
                </a:solidFill>
                <a:latin typeface="Segoe UI Emoji"/>
              </a:defRPr>
            </a:pPr>
            <a:r>
              <a:t>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574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Browser Lockdown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377440"/>
            <a:ext cx="21031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Tam ekran zorunlulugu.</a:t>
            </a:r>
            <a:br/>
            <a:r>
              <a:t>Diger uygulamalara gecis</a:t>
            </a:r>
            <a:br/>
            <a:r>
              <a:t>engellenir.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554480"/>
            <a:ext cx="2468880" cy="27432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16916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200" b="0">
                <a:solidFill>
                  <a:srgbClr val="FFFFFF"/>
                </a:solidFill>
                <a:latin typeface="Segoe UI Emoji"/>
              </a:defRPr>
            </a:pPr>
            <a:r>
              <a:t>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0574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Tab Izleme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377440"/>
            <a:ext cx="21031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Tab degistirme tespit.</a:t>
            </a:r>
            <a:br/>
            <a:r>
              <a:t>Otomatik uyari.</a:t>
            </a:r>
            <a:br/>
            <a:r>
              <a:t>Sinav gunlugu.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468880" cy="27432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6916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200" b="0">
                <a:solidFill>
                  <a:srgbClr val="FFFFFF"/>
                </a:solidFill>
                <a:latin typeface="Segoe UI Emoji"/>
              </a:defRPr>
            </a:pPr>
            <a:r>
              <a:t>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0574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Heartbeat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377440"/>
            <a:ext cx="21031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Periyodik baglanti kontrolu.</a:t>
            </a:r>
            <a:br/>
            <a:r>
              <a:t>Kopma tespiti.</a:t>
            </a:r>
            <a:br/>
            <a:r>
              <a:t>Otomatik devam.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69680" y="1554480"/>
            <a:ext cx="2468880" cy="27432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16916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200" b="0">
                <a:solidFill>
                  <a:srgbClr val="FFFFFF"/>
                </a:solidFill>
                <a:latin typeface="Segoe UI Emoji"/>
              </a:defRPr>
            </a:pPr>
            <a:r>
              <a:t>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20574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Risk Puanlama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2377440"/>
            <a:ext cx="21031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Supheli davranis skoru.</a:t>
            </a:r>
            <a:br/>
            <a:r>
              <a:t>Otomatik bayrak.</a:t>
            </a:r>
            <a:br/>
            <a:r>
              <a:t>Inceleme kuyrugu.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754880"/>
            <a:ext cx="2468880" cy="7315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82803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400" b="1">
                <a:solidFill>
                  <a:srgbClr val="F59E0B"/>
                </a:solidFill>
                <a:latin typeface="Segoe UI Black"/>
              </a:defRPr>
            </a:pPr>
            <a:r>
              <a:t>Tab Switch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16636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94A3B8"/>
                </a:solidFill>
                <a:latin typeface="Segoe UI"/>
              </a:defRPr>
            </a:pPr>
            <a:r>
              <a:t>Tespit &amp; Kayit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83280" y="4754880"/>
            <a:ext cx="2468880" cy="7315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83280" y="482803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400" b="1">
                <a:solidFill>
                  <a:srgbClr val="F59E0B"/>
                </a:solidFill>
                <a:latin typeface="Segoe UI Black"/>
              </a:defRPr>
            </a:pPr>
            <a:r>
              <a:t>Heartbeat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516636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94A3B8"/>
                </a:solidFill>
                <a:latin typeface="Segoe UI"/>
              </a:defRPr>
            </a:pPr>
            <a:r>
              <a:t>5 sn Aralik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26480" y="4754880"/>
            <a:ext cx="2468880" cy="7315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26480" y="482803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400" b="1">
                <a:solidFill>
                  <a:srgbClr val="F59E0B"/>
                </a:solidFill>
                <a:latin typeface="Segoe UI Black"/>
              </a:defRPr>
            </a:pPr>
            <a:r>
              <a:t>Risk Score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516636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94A3B8"/>
                </a:solidFill>
                <a:latin typeface="Segoe UI"/>
              </a:defRPr>
            </a:pPr>
            <a:r>
              <a:t>0-100 Arasi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869680" y="4754880"/>
            <a:ext cx="2468880" cy="7315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69680" y="482803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400" b="1">
                <a:solidFill>
                  <a:srgbClr val="F59E0B"/>
                </a:solidFill>
                <a:latin typeface="Segoe UI Black"/>
              </a:defRPr>
            </a:pPr>
            <a:r>
              <a:t>Audit Log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0" y="516636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94A3B8"/>
                </a:solidFill>
                <a:latin typeface="Segoe UI"/>
              </a:defRPr>
            </a:pPr>
            <a:r>
              <a:t>Tam Gecmis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9E0B"/>
                </a:solidFill>
                <a:latin typeface="Segoe UI Semibold"/>
              </a:defRPr>
            </a:pPr>
            <a:r>
              <a:t>BONUS: RAPORLAMA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Segoe UI Black"/>
              </a:defRPr>
            </a:pPr>
            <a:r>
              <a:t>Kapsamli Raporlama Sistemi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1005840"/>
            <a:ext cx="338328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40080" y="1554480"/>
            <a:ext cx="2468880" cy="30175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3B82F6"/>
                </a:solidFill>
                <a:latin typeface="Segoe UI Black"/>
              </a:defRPr>
            </a:pPr>
            <a:r>
              <a:t>AKADEMIK RAPORLAR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14400" y="2057400"/>
            <a:ext cx="1920240" cy="0"/>
          </a:xfrm>
          <a:prstGeom prst="line">
            <a:avLst/>
          </a:prstGeom>
          <a:ln w="12700">
            <a:solidFill>
              <a:srgbClr val="3B82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1945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◆  Sinif bazli basari raporu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517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◆  Ders bazli karsilastirma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089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◆  Ogrenci gelisim grafigi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661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◆  Karne &amp; transkript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1554480"/>
            <a:ext cx="2468880" cy="30175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169164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10B981"/>
                </a:solidFill>
                <a:latin typeface="Segoe UI Black"/>
              </a:defRPr>
            </a:pPr>
            <a:r>
              <a:t>IDARI RAPORLAR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657600" y="2057400"/>
            <a:ext cx="1920240" cy="0"/>
          </a:xfrm>
          <a:prstGeom prst="line">
            <a:avLst/>
          </a:prstGeom>
          <a:ln w="1270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20440" y="21945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◆  Devamsizlik analizi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6517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◆  Butce/finans raporu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31089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◆  Personel performans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35661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◆  Kayit istatistikleri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26480" y="1554480"/>
            <a:ext cx="2468880" cy="30175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0" y="169164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8B5CF6"/>
                </a:solidFill>
                <a:latin typeface="Segoe UI Black"/>
              </a:defRPr>
            </a:pPr>
            <a:r>
              <a:t>AI RAPORLAR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00800" y="2057400"/>
            <a:ext cx="1920240" cy="0"/>
          </a:xfrm>
          <a:prstGeom prst="line">
            <a:avLst/>
          </a:prstGeom>
          <a:ln w="12700">
            <a:solidFill>
              <a:srgbClr val="8B5C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263640" y="21945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◆  Risk analiz raporu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6517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◆  Tahmin modeli sonuclari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1089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◆  Soru kalite raporu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35661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◆  Ogrenme analitigi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69680" y="1554480"/>
            <a:ext cx="2468880" cy="30175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680" y="169164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F59E0B"/>
                </a:solidFill>
                <a:latin typeface="Segoe UI Black"/>
              </a:defRPr>
            </a:pPr>
            <a:r>
              <a:t>YONETICI RAPORLAR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144000" y="2057400"/>
            <a:ext cx="1920240" cy="0"/>
          </a:xfrm>
          <a:prstGeom prst="line">
            <a:avLst/>
          </a:prstGeom>
          <a:ln w="127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006840" y="21945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◆  Dashboard ozet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6840" y="26517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◆  Donem karsilastirma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6840" y="31089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◆  KPI takip tablosu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06840" y="35661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◆  Trend analizi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0292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59E0B"/>
                </a:solidFill>
                <a:latin typeface="Segoe UI"/>
              </a:defRPr>
            </a:pPr>
            <a:r>
              <a:t>Export Formatlari:  PDF  |  Excel  |  CSV  |  Plotly Interaktif  |  Email Otomatik Gonderim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59E0B"/>
                </a:solidFill>
                <a:latin typeface="Segoe UI Semibold"/>
              </a:defRPr>
            </a:pPr>
            <a:r>
              <a:t>BONUS: YOLI HARITASI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72865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Segoe UI Black"/>
              </a:defRPr>
            </a:pPr>
            <a:r>
              <a:t>Urun Yol Haritasi — 2026-2027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1005840"/>
            <a:ext cx="338328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40080" y="1554480"/>
            <a:ext cx="2468880" cy="3200400"/>
          </a:xfrm>
          <a:prstGeom prst="roundRect">
            <a:avLst>
              <a:gd name="adj" fmla="val 5000"/>
            </a:avLst>
          </a:prstGeom>
          <a:solidFill>
            <a:srgbClr val="152033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F59E0B"/>
                </a:solidFill>
                <a:latin typeface="Segoe UI Black"/>
              </a:defRPr>
            </a:pPr>
            <a:r>
              <a:t>Q2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80160" y="2057400"/>
            <a:ext cx="1188720" cy="228600"/>
          </a:xfrm>
          <a:prstGeom prst="roundRect">
            <a:avLst>
              <a:gd name="adj" fmla="val 5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205740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1">
                <a:solidFill>
                  <a:srgbClr val="FFFFFF"/>
                </a:solidFill>
                <a:latin typeface="Segoe UI"/>
              </a:defRPr>
            </a:pPr>
            <a:r>
              <a:t>MEVCUT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E2E8F0"/>
                </a:solidFill>
                <a:latin typeface="Segoe UI"/>
              </a:defRPr>
            </a:pPr>
            <a:r>
              <a:t>✅  30+ web modul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260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E2E8F0"/>
                </a:solidFill>
                <a:latin typeface="Segoe UI"/>
              </a:defRPr>
            </a:pPr>
            <a:r>
              <a:t>✅  99 mobil sayfa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E2E8F0"/>
                </a:solidFill>
                <a:latin typeface="Segoe UI"/>
              </a:defRPr>
            </a:pPr>
            <a:r>
              <a:t>✅  143 API route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8404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E2E8F0"/>
                </a:solidFill>
                <a:latin typeface="Segoe UI"/>
              </a:defRPr>
            </a:pPr>
            <a:r>
              <a:t>✅  AI soru uretimi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27248" y="28346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F59E0B"/>
                </a:solidFill>
                <a:latin typeface="Segoe UI"/>
              </a:defRPr>
            </a:pPr>
            <a: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1554480"/>
            <a:ext cx="2468880" cy="3200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83280" y="16916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3B82F6"/>
                </a:solidFill>
                <a:latin typeface="Segoe UI Black"/>
              </a:defRPr>
            </a:pPr>
            <a:r>
              <a:t>Q3 2026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23360" y="2057400"/>
            <a:ext cx="1188720" cy="228600"/>
          </a:xfrm>
          <a:prstGeom prst="roundRect">
            <a:avLst>
              <a:gd name="adj" fmla="val 5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23360" y="205740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1">
                <a:solidFill>
                  <a:srgbClr val="FFFFFF"/>
                </a:solidFill>
                <a:latin typeface="Segoe UI"/>
              </a:defRPr>
            </a:pPr>
            <a:r>
              <a:t>YAKIN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24688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○  iOS uygulamasi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9260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○  SQLite gecisi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33832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○  WhatsApp entegrasyon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8404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○  Video konferans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70448" y="28346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F59E0B"/>
                </a:solidFill>
                <a:latin typeface="Segoe UI"/>
              </a:defRPr>
            </a:pPr>
            <a:r>
              <a:t>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1554480"/>
            <a:ext cx="2468880" cy="3200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26480" y="16916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0B981"/>
                </a:solidFill>
                <a:latin typeface="Segoe UI Black"/>
              </a:defRPr>
            </a:pPr>
            <a:r>
              <a:t>Q4 2026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766560" y="2057400"/>
            <a:ext cx="1188720" cy="228600"/>
          </a:xfrm>
          <a:prstGeom prst="roundRect">
            <a:avLst>
              <a:gd name="adj" fmla="val 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0" y="205740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1">
                <a:solidFill>
                  <a:srgbClr val="FFFFFF"/>
                </a:solidFill>
                <a:latin typeface="Segoe UI"/>
              </a:defRPr>
            </a:pPr>
            <a:r>
              <a:t>PLANLANAN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24688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○  Ogrenme analitigi v2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29260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○  Veli portal web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33832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○  E-tahsilat entegrasyon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38404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○  MEB e-Okul API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13648" y="28346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F59E0B"/>
                </a:solidFill>
                <a:latin typeface="Segoe UI"/>
              </a:defRPr>
            </a:pPr>
            <a:r>
              <a:t>▶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69680" y="1554480"/>
            <a:ext cx="2468880" cy="32004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9680" y="169164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8B5CF6"/>
                </a:solidFill>
                <a:latin typeface="Segoe UI Black"/>
              </a:defRPr>
            </a:pPr>
            <a:r>
              <a:t>Q1 2027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60" y="2057400"/>
            <a:ext cx="1188720" cy="228600"/>
          </a:xfrm>
          <a:prstGeom prst="roundRect">
            <a:avLst>
              <a:gd name="adj" fmla="val 5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09760" y="205740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1">
                <a:solidFill>
                  <a:srgbClr val="FFFFFF"/>
                </a:solidFill>
                <a:latin typeface="Segoe UI"/>
              </a:defRPr>
            </a:pPr>
            <a:r>
              <a:t>VIZYON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06840" y="24688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○  Sesli AI asistan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06840" y="29260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○  AR/VR ogrenme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06840" y="33832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○  Blockchain sertifika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06840" y="38404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94A3B8"/>
                </a:solidFill>
                <a:latin typeface="Segoe UI"/>
              </a:defRPr>
            </a:pPr>
            <a:r>
              <a:t>○  Uluslararasi pazar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20617"/>
            </a:gs>
            <a:gs pos="100000">
              <a:srgbClr val="0F172A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263640"/>
            <a:ext cx="10545775" cy="0"/>
          </a:xfrm>
          <a:prstGeom prst="line">
            <a:avLst/>
          </a:prstGeom>
          <a:ln w="952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" b="0">
                <a:solidFill>
                  <a:srgbClr val="94A3B8"/>
                </a:solidFill>
                <a:latin typeface="Segoe UI"/>
              </a:defRPr>
            </a:pPr>
            <a:r>
              <a:t>SmartCampus AI  |  Gizli &amp; Ozel  |  2026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457200"/>
            <a:ext cx="182880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457200" y="457200"/>
            <a:ext cx="0" cy="137160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905695" y="457200"/>
            <a:ext cx="182880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734495" y="457200"/>
            <a:ext cx="0" cy="137160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57200" y="6400800"/>
            <a:ext cx="182880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57200" y="5029200"/>
            <a:ext cx="0" cy="137160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905695" y="6400800"/>
            <a:ext cx="1828800" cy="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1734495" y="5029200"/>
            <a:ext cx="0" cy="1371600"/>
          </a:xfrm>
          <a:prstGeom prst="line">
            <a:avLst/>
          </a:prstGeom>
          <a:ln w="381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1440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4800" b="0">
                <a:solidFill>
                  <a:srgbClr val="F59E0B"/>
                </a:solidFill>
                <a:latin typeface="Segoe UI Emoji"/>
              </a:defRPr>
            </a:pPr>
            <a:r>
              <a:t>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1031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4800" b="1">
                <a:solidFill>
                  <a:srgbClr val="FFFFFF"/>
                </a:solidFill>
                <a:latin typeface="Segoe UI Black"/>
              </a:defRPr>
            </a:pPr>
            <a:r>
              <a:t>Tesekkurler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72000" y="3017520"/>
            <a:ext cx="3047695" cy="0"/>
          </a:xfrm>
          <a:prstGeom prst="line">
            <a:avLst/>
          </a:prstGeom>
          <a:ln w="508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14400" y="32918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400" b="1">
                <a:solidFill>
                  <a:srgbClr val="F59E0B"/>
                </a:solidFill>
                <a:latin typeface="Segoe UI Light"/>
              </a:defRPr>
            </a:pPr>
            <a:r>
              <a:t>SmartCampus AI — Egitimin Gelecegi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1148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94A3B8"/>
                </a:solidFill>
                <a:latin typeface="Segoe UI"/>
              </a:defRPr>
            </a:pPr>
            <a:r>
              <a:t>Sorulariniz icin hazirdayiz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E2E8F0"/>
                </a:solidFill>
                <a:latin typeface="Segoe UI"/>
              </a:defRPr>
            </a:pPr>
            <a:r>
              <a:t>📧 info@smartcampus.com.tr  |  🌐 www.smartcampus.com.tr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69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900" b="0">
                <a:solidFill>
                  <a:srgbClr val="64748B"/>
                </a:solidFill>
                <a:latin typeface="Segoe UI"/>
              </a:defRPr>
            </a:pPr>
            <a:r>
              <a:t>© 2026 SmartCampus AI  |  Tum Hakları Saklidir  |  Gizli Dokuman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