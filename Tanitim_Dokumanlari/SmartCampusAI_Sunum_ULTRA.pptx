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457200"/>
            <a:ext cx="2743200" cy="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57200" y="457200"/>
            <a:ext cx="0" cy="182880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961120" y="365760"/>
            <a:ext cx="2743200" cy="365760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🔒  GIZLI &amp; OZEL DOKUMAN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6000" b="1">
                <a:solidFill>
                  <a:srgbClr val="FFFFFF"/>
                </a:solidFill>
                <a:latin typeface="Segoe UI Black"/>
              </a:defRPr>
            </a:pPr>
            <a:r>
              <a:t>SmartCampus AI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0" y="2926080"/>
            <a:ext cx="3962095" cy="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1">
                <a:solidFill>
                  <a:srgbClr val="F59E0B"/>
                </a:solidFill>
                <a:latin typeface="Segoe UI Light"/>
              </a:defRPr>
            </a:pPr>
            <a:r>
              <a:t>Egitimin Gelecegi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931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Turkiye'nin en kapsamli, yapay zeka destekli egitim yonetim platformu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846320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9194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F59E0B"/>
                </a:solidFill>
                <a:latin typeface="Segoe UI Black"/>
              </a:defRPr>
            </a:pPr>
            <a:r>
              <a:t>30+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257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Web Modul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4846320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49194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F59E0B"/>
                </a:solidFill>
                <a:latin typeface="Segoe UI Black"/>
              </a:defRPr>
            </a:pPr>
            <a:r>
              <a:t>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5257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Mobil Sayfa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4846320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9194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F59E0B"/>
                </a:solidFill>
                <a:latin typeface="Segoe UI Black"/>
              </a:defRPr>
            </a:pPr>
            <a:r>
              <a:t>143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257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API Route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4846320"/>
            <a:ext cx="2286000" cy="73152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49194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F59E0B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5257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Kullanici Rolu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760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Nisan 2026  |  v3.0  |  Yatirimci Sunumu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991295" y="6035040"/>
            <a:ext cx="2743200" cy="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734495" y="4206240"/>
            <a:ext cx="0" cy="182880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PROBLEM TESPITI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Neden SmartCampus AI?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0972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t>Ozel okullarin yasadigi 5 kritik problem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196596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331720"/>
            <a:ext cx="18745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0">
                <a:solidFill>
                  <a:srgbClr val="FFFFFF"/>
                </a:solidFill>
                <a:latin typeface="Segoe UI Emoji"/>
              </a:defRPr>
            </a:pPr>
            <a:r>
              <a:t>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260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Verimsizlik &amp; Zaman Kaybi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74720"/>
            <a:ext cx="1691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Ogretmenler gunde 2+ saat idari isle ugrasir. Not girisi, yoklama, raporlama hep manuel.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2286000"/>
            <a:ext cx="196596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2331720"/>
            <a:ext cx="187452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0">
                <a:solidFill>
                  <a:srgbClr val="FFFFFF"/>
                </a:solidFill>
                <a:latin typeface="Segoe UI Emoji"/>
              </a:defRPr>
            </a:pPr>
            <a:r>
              <a:t>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9260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Kagit Isler &amp; Maliyet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474720"/>
            <a:ext cx="1691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Sinav basimi, form doldurmasi, arsivleme. Yillik binlerce sayfa kagit israfi.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2286000"/>
            <a:ext cx="196596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92040" y="2331720"/>
            <a:ext cx="18745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0">
                <a:solidFill>
                  <a:srgbClr val="FFFFFF"/>
                </a:solidFill>
                <a:latin typeface="Segoe UI Emoji"/>
              </a:defRPr>
            </a:pPr>
            <a:r>
              <a:t>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9260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Iletisim Kopuklugu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3474720"/>
            <a:ext cx="1691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Veli-okul iletisimi tek yonlu. Veliler bilgiye gec ulasir. SMS maliyeti yuksek.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95160" y="2286000"/>
            <a:ext cx="196596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40880" y="2331720"/>
            <a:ext cx="18745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0">
                <a:solidFill>
                  <a:srgbClr val="FFFFFF"/>
                </a:solidFill>
                <a:latin typeface="Segoe UI Emoji"/>
              </a:defRPr>
            </a:pPr>
            <a: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9260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Takip Eksikligi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474720"/>
            <a:ext cx="1691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Ogrenci basarisi, devamsizlik, risk analizleri yapilamaz. Veri daginiik.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2286000"/>
            <a:ext cx="196596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89720" y="2331720"/>
            <a:ext cx="18745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0">
                <a:solidFill>
                  <a:srgbClr val="FFFFFF"/>
                </a:solidFill>
                <a:latin typeface="Segoe UI Emoji"/>
              </a:defRPr>
            </a:pPr>
            <a:r>
              <a:t>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29260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Dijitallesme Baskisi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3474720"/>
            <a:ext cx="1691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Rakip kurumlar dijitallesirken geride kalmak kayit kaybina neden olur.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COZUM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Tek Platform, Sinirsiz Guc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F59E0B"/>
                </a:solidFill>
                <a:latin typeface="Segoe UI"/>
              </a:defRPr>
            </a:pPr>
            <a:r>
              <a:t>Web + Mobil + API = Tam Entegre Egitim Ekosistemi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0">
                <a:solidFill>
                  <a:srgbClr val="FFFFFF"/>
                </a:solidFill>
                <a:latin typeface="Segoe UI Emoji"/>
              </a:defRPr>
            </a:pPr>
            <a:r>
              <a:t>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Segoe UI Black"/>
              </a:defRPr>
            </a:pPr>
            <a:r>
              <a:t>WEB PLATFORMU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83080" y="3200400"/>
            <a:ext cx="1371600" cy="27432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Streamlit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57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30+ modul, 390+ sekme</a:t>
            </a:r>
            <a:br/>
            <a:r>
              <a:t>Yonetici &amp; ogretmen paneli</a:t>
            </a:r>
            <a:br/>
            <a:r>
              <a:t>Analitik 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01168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240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0">
                <a:solidFill>
                  <a:srgbClr val="FFFFFF"/>
                </a:solidFill>
                <a:latin typeface="Segoe UI Emoji"/>
              </a:defRPr>
            </a:pPr>
            <a:r>
              <a:t>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788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Segoe UI Black"/>
              </a:defRPr>
            </a:pPr>
            <a:r>
              <a:t>MOBIL UYGULAMA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3200400"/>
            <a:ext cx="1371600" cy="27432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Flutter Android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657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99 sayfa, 5 rol</a:t>
            </a:r>
            <a:br/>
            <a:r>
              <a:t>Offline mod, bildirimler</a:t>
            </a:r>
            <a:br/>
            <a:r>
              <a:t>Ultra premium tasarim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01168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2240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0">
                <a:solidFill>
                  <a:srgbClr val="FFFFFF"/>
                </a:solidFill>
                <a:latin typeface="Segoe UI Emoji"/>
              </a:defRPr>
            </a:pPr>
            <a:r>
              <a:t>⚙️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788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Segoe UI Black"/>
              </a:defRPr>
            </a:pPr>
            <a:r>
              <a:t>BACKEND 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3200400"/>
            <a:ext cx="1371600" cy="274320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FastAPI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657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143 route, JWT guvenlik</a:t>
            </a:r>
            <a:br/>
            <a:r>
              <a:t>Multi-tenant mimari</a:t>
            </a:r>
            <a:br/>
            <a:r>
              <a:t>SMS/Email entegrasyon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468880.0" y="5212080"/>
            <a:ext cx="0.0" cy="27432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80760.0" y="5212080"/>
            <a:ext cx="0.0" cy="27432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692640.0" y="5212080"/>
            <a:ext cx="0.0" cy="27432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468880.0" y="5486400"/>
            <a:ext cx="7223760.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BUYUK RESIM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Rakamlarla SmartCampus AI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164592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200" b="1">
                <a:solidFill>
                  <a:srgbClr val="F59E0B"/>
                </a:solidFill>
                <a:latin typeface="Segoe UI Black"/>
              </a:defRPr>
            </a:pPr>
            <a:r>
              <a:t>30+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Web Modul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64592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8288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200" b="1">
                <a:solidFill>
                  <a:srgbClr val="F59E0B"/>
                </a:solidFill>
                <a:latin typeface="Segoe UI Black"/>
              </a:defRPr>
            </a:pPr>
            <a:r>
              <a:t>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Mobil Sayfa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164592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18288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200" b="1">
                <a:solidFill>
                  <a:srgbClr val="F59E0B"/>
                </a:solidFill>
                <a:latin typeface="Segoe UI Black"/>
              </a:defRPr>
            </a:pPr>
            <a:r>
              <a:t>143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API Route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164592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8288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200" b="1">
                <a:solidFill>
                  <a:srgbClr val="F59E0B"/>
                </a:solidFill>
                <a:latin typeface="Segoe UI Black"/>
              </a:defRPr>
            </a:pPr>
            <a:r>
              <a:t>390+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514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Toplam Sekme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38328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200" b="1">
                <a:solidFill>
                  <a:srgbClr val="FBBF24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51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Kullanici Rolu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338328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200" b="1">
                <a:solidFill>
                  <a:srgbClr val="FBBF24"/>
                </a:solidFill>
                <a:latin typeface="Segoe UI Black"/>
              </a:defRPr>
            </a:pPr>
            <a:r>
              <a:t>687+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251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Veri Dosyasi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97880" y="338328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978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200" b="1">
                <a:solidFill>
                  <a:srgbClr val="FBBF24"/>
                </a:solidFill>
                <a:latin typeface="Segoe UI Black"/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4251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Sidebar Grubu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0" y="338328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200" b="1">
                <a:solidFill>
                  <a:srgbClr val="FBBF24"/>
                </a:solidFill>
                <a:latin typeface="Segoe UI Black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251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Sertifika Sablonu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59E0B"/>
                </a:solidFill>
                <a:latin typeface="Segoe UI Light"/>
              </a:defRPr>
            </a:pPr>
            <a:r>
              <a:t>"Turkiye'nin en kapsamli egitim yonetim sistemi"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760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Web + Mobil + API  |  Yapay Zeka Destekli  |  Multi-Tenant  |  Enterprise Kalite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KULLANICI ROLLERI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5 Rol, Tek Platform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645920"/>
            <a:ext cx="201168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1920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FFFFFF"/>
                </a:solidFill>
                <a:latin typeface="Segoe UI Emoji"/>
              </a:rPr>
              <a:t>👑  </a:t>
            </a:r>
            <a:r>
              <a:rPr sz="1500" b="1">
                <a:solidFill>
                  <a:srgbClr val="FFFFFF"/>
                </a:solidFill>
                <a:latin typeface="Segoe UI Black"/>
              </a:rPr>
              <a:t>YONETICI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1737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Tum modullere erisim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Dashboard &amp; analitik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Butce &amp; odeme takip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Personel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Kurumsal raporlar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1645920"/>
            <a:ext cx="201168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1691640"/>
            <a:ext cx="19202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828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FFFFFF"/>
                </a:solidFill>
                <a:latin typeface="Segoe UI Emoji"/>
              </a:rPr>
              <a:t>📚  </a:t>
            </a:r>
            <a:r>
              <a:rPr sz="1500" b="1">
                <a:solidFill>
                  <a:srgbClr val="FFFFFF"/>
                </a:solidFill>
                <a:latin typeface="Segoe UI Black"/>
              </a:rPr>
              <a:t>OGRETMEN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331720"/>
            <a:ext cx="1737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Not &amp; yoklama girisi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Ders defteri &amp; plan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Sinav olusturma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Odev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AI soru uretimi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1645920"/>
            <a:ext cx="201168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7760" y="1691640"/>
            <a:ext cx="19202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828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FFFFFF"/>
                </a:solidFill>
                <a:latin typeface="Segoe UI Emoji"/>
              </a:rPr>
              <a:t>🧠  </a:t>
            </a:r>
            <a:r>
              <a:rPr sz="1500" b="1">
                <a:solidFill>
                  <a:srgbClr val="FFFFFF"/>
                </a:solidFill>
                <a:latin typeface="Segoe UI Black"/>
              </a:rPr>
              <a:t>REHBER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331720"/>
            <a:ext cx="1737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Vaka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Mood check-in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BEP takibi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Gorusme kaydi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Risk analizi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86600" y="1645920"/>
            <a:ext cx="201168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0" y="1691640"/>
            <a:ext cx="19202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1828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FFFFFF"/>
                </a:solidFill>
                <a:latin typeface="Segoe UI Emoji"/>
              </a:rPr>
              <a:t>👨‍👩‍👧  </a:t>
            </a:r>
            <a:r>
              <a:rPr sz="1500" b="1">
                <a:solidFill>
                  <a:srgbClr val="FFFFFF"/>
                </a:solidFill>
                <a:latin typeface="Segoe UI Black"/>
              </a:rPr>
              <a:t>VELI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331720"/>
            <a:ext cx="1737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Cocuk takip paneli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Randevu alma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Odeme durumu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Servis GPS takip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Mesajlasma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1645920"/>
            <a:ext cx="201168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26880" y="1691640"/>
            <a:ext cx="19202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1828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FFFFFF"/>
                </a:solidFill>
                <a:latin typeface="Segoe UI Emoji"/>
              </a:rPr>
              <a:t>🎓  </a:t>
            </a:r>
            <a:r>
              <a:rPr sz="1500" b="1">
                <a:solidFill>
                  <a:srgbClr val="FFFFFF"/>
                </a:solidFill>
                <a:latin typeface="Segoe UI Black"/>
              </a:rPr>
              <a:t>OGRENCI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331720"/>
            <a:ext cx="1737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Dashboard &amp; notlar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Online sinav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AI asistan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Dijital ogrenme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•  </a:t>
            </a:r>
            <a:r>
              <a:rPr sz="1000">
                <a:solidFill>
                  <a:srgbClr val="94A3B8"/>
                </a:solidFill>
                <a:latin typeface="Segoe UI"/>
              </a:rPr>
              <a:t>Etkinlik &amp; kulupler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394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Her rol sadece yetkili oldugu modulleri gorur  |  Rol bazli erisim kontrolu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GENEL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🏠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Ana Sayfa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Ana Sayfa, SmartCampus AI'ya girdiginde karsilastigin ilk ekrandir. 40+ modulun tamamina tek tiklama ile erismeni saglayan kart tabanli navigasyon merkezidir. Uzerinde hizli arama, role gore filtrelem...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Rol bazli modul kartlari — sadece yetkili olunan modulleri gosterir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Modul kartlarinda rapid-search (anlik arama) — isim yazmaya baslar baslamaz filtreler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Son ziyaret edilen moduller ve favoriler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Duyuru ve ozel gun bilgileri ust bantta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Smarti AI asistani sag-alt kosede her an ulasilabilir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GENEL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🏠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Ana Sayfa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Modul Kartlari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40+ modul 5 grupta (GENEL/KURUM/AKADEMIK/OPERASYON/SISTEM) dinamik kart olarak.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Arama Cubugu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Modul veya ozellik ismi yazarak an be an filtreleme.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Favoriler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En sik kullandigin 6 modulu sabitleyebilirsin.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Duyuru Bandi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Okul-geneli duyurular ve sistem bildirimleri ust bantta kayar.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Smarti Widget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Sag-alt kosede her sayfada erisilebilen AI asistan widget'i.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Giris yap — Ana Sayfa otomatik acilir.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Rolune gore modulleri incele; sol ustteki arama cubuguna ihtiyacin olan modulun ismini yaz.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Kart uzerine tikla — ilgili modul acilir.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Modulden cikmak icin ust sol SmartCampus logosuna tikla, Ana Sayfa'ya don.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Smarti widget ile anlik soru sor — 'Bu hafta yapilacak sinavlar neler?' gibi.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En sik kullandigin 6 modulu Favoriler'e al — her oturum acilista kisayol olarak yukaridadir.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Smarti'ye dogal dilde komut verebilirsin: 'Kayit modulunu ac' → otomatik yonlendirir.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GENEL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📊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Yonetim Tek Ekran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Yonetim Tek Ekran, okul yoneticisinin gun baslangicinda 5 dakikada tum okulun nabzini kontrol ettigi merkez dashboard'dir. 18 modulden otomatik veri toplar, KPI'lari gorsel olarak sunar, Smarti AI ile...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18 modulden otomatik cross-module veri toplama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Rol-adapte KPI kartlari — yonetici rolune gore degisir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Bugun ne var? — dinamik ders programi + etkinlik + randevu ozeti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Smarti AI asistani ile sozel rapor: 'Bu haftaki ogrenci devamsizligi nasil?'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Kampus Wiki entegrasyonu ile dahili bilgi tabanina erisim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Tek tikla rapor uretimi (Excel/PDF)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GENEL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📊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Yonetim Tek Ekran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Okul geneli KPI'lar: ogrenci/ogretmen sayisi, devamsizlik, basari ortalamasi, mali durum, kayit dönüsüm.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Gunluk Planlama ve Isler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Yoneticinin bugun ne yapacaginin otomatik listesi: toplantilar, denetimler, imzalar.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Modul Islemler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Her modulun bekleyen islemleri (onay bekleyen izinler, fatura, talep vs).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Rapor Olustur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Otomatik rapor sablonlari: haftalik, aylik, donemlik, ozel tarih.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Smarti Chat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Yoneticiye ozel AI asistan — 'Hangi ogrenciler risk altinda?', 'Butce durumu?' gibi sorular.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Sabah 08:00 — Yonetim Tek Ekran'i ac, Dashboard KPI'larini incele.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Gunluk Planlama ve Isler sekmesinden bugunun gorevlerini oku.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Modul Islemler'de bekleyen onaylari birer birer islet.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Smarti'ye sor: 'Bugun dikkat etmem gereken bir sey var mi?'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Aksam: Rapor Olustur ile gun ozeti PDF'i uret, arsivle.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Smarti'ye dogal dilde karsilastirmali sorular sor: 'Bu ay geçen aya göre devamsizlik nasil?'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Dashboard uzerindeki her sayi tiklanabilir — ilgili ekrana direct goturur.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🏢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Kurumsal Organizasyon ve Iletisim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Kurumsal Organizasyon modulu, okulun hiyerarsik yapisi, pozisyon tanimlari, organizasyon semasi, kurum profili ve halkla iliskiler yonetiminin kalbi. Hem hukuki belgeler (vergi no, tuzuk) hem de ileti...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Kurum profili CRUD — ad, vergi no, adres, iletisim, logo, mutluluk hedefleri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Pozisyon CRUD — unvan, sorumluluk, raporlanacak pozisyon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Otomatik organizasyon semasi (Graphviz ile gorsel hiyerarsi)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SWOT analizi modulu — gucler/zayifliklar/firsatlar/tehditler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Veli Memnuniyet Anketi — 5-boyutlu anket + trend grafigi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Halkla Iliskiler — PR kampanyalari, basin bulteni, kurumsal iletisim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Veli Yetenek Bankasi (v2 ★) — 13 meslek kategorisi, veli ag haritasi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🏢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Kurumsal Organizasyon ve Iletisim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Kurum Profili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Kurumun temel bilgileri (ad, vergi, adres, iletisim, logo, kurulusu yilı).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Pozisyon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Kurumdaki tum pozisyonlar CRUD (hatirla: IK ve diger moduller buradan besleniyor).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Organizasyon Semasi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Pozisyon verilerinden otomatik Graphviz tabanli hiyerarsik sema.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SWOT Analizi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4 kadran: Gucler, Zayifliklar, Firsatlar, Tehditler. Yonetim kurulu calismasi icin ideal.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Veli Memnuniyet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5-boyutlu anket sablonu (Egitim, Iletisim, Hizmet, Temizlik, Guvenlik).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Halkla Iliskiler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PR kampanyalari, basin bulteni, medya iletisim listesi.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Veli Yetenek Bankasi 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13 meslek kategorisinde veli ag haritasi — egitimsel isbirligi icin.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Kurulus surecinde: Kurum Profili'ni en bastan doldur (logo + vergi + adres).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Pozisyonlari hiyerarsik olarak ekle (once Mudur, sonra Yardimcilar, sonra diger).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Organizasyon Semasi'nda sonucu gor; hatayi pozisyon editoruyle duzelt.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Yilda 1 kez SWOT analizi yap — yonetim kurulu ile.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Donemde 2 kere Veli Memnuniyet anketi cikar, sonuclara gore PR aksiyonlari 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Pozisyon ekle-sil islemi IK'daki calisan atamalarini etkiler — dikkatli ol.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Veli Memnuniyet anketi gonderirken QR + SMS kombinasyonu en yuksek cevap oranini verir.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🎯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Kayit Modulu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Kayit Modulu, aday ogrenciyi 'ilk telefon'dan 'sozlesme imzasina' kadar 7 asamali pipeline ile takip eden, sifir kayip anlayisiyla kurulmus bir aday yonetim sistemidir. AI lead scoring, 12 ay kampanya...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7 asamali pipeline: Aday → Arandi → Randevu → Gorusme → Fiyat Teklifi → Sozlesme → Kayit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AI Lead Scoring — her aday icin %0-100 kayit olasiligi + neden + oneri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12 aylik data arama kampanyasi (her ay KPI hedefi)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Personel performans karnesi (kim kac arama, gorusme, kayit?)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Referans ve bursluluk takip sistemi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Sicak/Ilik/Soguk siniflandirma ve otomatik follow-up planlama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Kayit Diamond Kilavuzu — PDF olarak detayli surec rehberi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🎯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Kayit Modulu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Pipeline ozeti: asama sayilari, bu ay dönüşüm, hedef/gercek farki, en aktif kaynak.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Aday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Tum adaylari listele, ara, filtrele; yeni aday ekle veya Excel import.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Pipeline Asama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7 asamali Kanban goruntusunde aday hareketleri (surukle-birak).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AI Lead Scoring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Her aday icin AI skor + oneri. Yuksek skorlular once gorusulur.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12 Ay Kampanya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Her ay icin arama hedefi, teklif hazirlama, referans kampanyasi.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Personel Performans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Kayit personelinin performans karnesi: arama/gorusme/kayit, donusum orani.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Referans &amp; Bursluluk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Mevcut velilerden referans, sosyoekonomik bursluluk basvurulari.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Raporlar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Donusum analizleri, ay/yil bazli raporlar, AI trend uretimi.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Aday telefondan arayinca — Aday Yonetimi'ne '+ Yeni Aday' ile kaydet.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Pipeline'da 'Arandi' asamasina tasi, AI skora bak (yuksekse hemen randevu).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Gorusme sonrasi asamayi 'Gorusme' → 'Fiyat Teklifi' olarak ilerlet.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12 Ay Kampanya'dan o ay icin sicak aday listesini cikar, haftalik follow-up.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Ay sonu: Personel Performans ve Raporlar ile donusum oranlarini olc.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Aday kaydi ekle + ilk konusma notunu hemen gir — AI scoring dogru islemek icin bagimli.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Sicak adaylari 48 saat icinde geri ara; soguyanlari yeniden aktiflestirmek 3 kat daha zor.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📱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Sosyal Medya Yonetimi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Sosyal Medya Yonetimi, 5 platformu (Instagram, Facebook, LinkedIn, TikTok, YouTube) tek arayuzde toplar. Icerik takvimi, onay akisi, direkt/planlanmis yayin, analytics, rakip izleme, akilli saat oneri...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5 platform (IG, FB, LinkedIn, TikTok, YT) tek panelden yonetim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Icerik takvimi — aylik/haftalik gorunum, surukle-birak planlama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Onay akisi — 'Taslak → Onaya Gonderildi → Yayinlandi'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Analytics — reach/engagement/follower buyume, platform kiyaslama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Gelen kutusu — tum mesajlar ve yorumlar tek panelde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Akilli Saatler Onerisi — takipciler en aktif oldugu saat dilimleri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Hashtag Takvimi — gune ozel hashtag onerileri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Rakip Izleme — rakip okullarin paylasim ve etkilesim analizi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📱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Sosyal Medya Yonetimi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5 platformun toplu ozeti: follower, engagement, bu hafta reach.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Hesap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5 platform hesabini ayri ayri bagla, token yonetimi, yetki ayari.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Icerik Olusturma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Zengin editor: gorsel + metin + hashtag + emoji + mention.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Takvim Goruntus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Aylik/haftalik calendar, surukle-birak ile plan degistirme.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Onay Akisi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Taslak icerikler onay bekliyor; yonetici onaylar veya duzeltme ister.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Analytics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Reach, engagement, follower buyume grafikleri; platform karsilastirma.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Gelen Kutusu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Tum mesajlar ve yorumlar. Hizli cevap ve etiketleme.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Akilli Saat Onerisi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AI takipci davranisini analiz ederek en iyi yayin saatlerini onerir.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Her pazartesi: haftalik icerik planini Icerik Olusturma'da hazirla (5-7 post).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Akilli Saat Onerisi ile yayin saatlerini belirle.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Takvim Goruntus'de surukle-birak ile saatlere yerlestir.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Onay Akisi'na gonder; mudur onaylayinca otomatik yayinlanir.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Gun icinde Gelen Kutusu'nu kontrol et — tum platformlarin mesajlari tek yerde.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Cuma ogleden sonra Analytics'ten haftalik rapor cikar.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Hashtag sayisi: IG 8-12, TikTok 3-5, LinkedIn 3. Platform bazli optimize et.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Rakip Izleme'de en iyi etkilesim alan posta bak — format/saat/hashtag/uzunluk kopyalanabilir.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📱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Sosyal Medya Yonetimi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Hashtag Takvimi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Gune ozel hashtag onerileri (ozel gunler, trending vb).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Rakip Izleme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Rakip okullarin public yayinlari, etkilesim analizi.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👥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Insan Kaynaklari Yonetimi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Insan Kaynaklari modulu, ise alimdan ise cikisa (onboarding → offboarding) kadar tum calisan yasam dongusunu yonetir. AI destekli mulakat sistemi, ozluk dosyasi, izin yonetimi, performans degerlendirm...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Aday havuzu + AI mulakat soru seti + degerlendirme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Kapsamli ozluk dosyasi (kisisel, egitim, deneyim, belgeler)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Cevrimici izin basvurusu ve onay akisi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360° performans degerlendirme (kendi+yonetici+akran+ast)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Aylik bordro hazirlama + puantaj entegrasyonu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Egitim planlama — zorunlu/onerilen egitimler, sertifika takibi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Offboarding surecleri (KVKK uyumlu veri arsivleme)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Is Yuku Dengeleyici ★ — 10 yuk tipi, burnout/ideal/dusuk durumu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👥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Insan Kaynaklari Yonetimi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Calisan sayisi, acik pozisyon, izin durumu, aylik bordro ozeti.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Aday Havuzu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Acik pozisyonlara basvuran tum adaylar, CV, referans.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AI Mulakat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Pozisyona gore AI'nin onerdigi sorular + degerlendirme sablonlari.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Personel Kayit (Ozluk)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Tum calisan verileri: kisisel, egitim, deneyim, belgeler, fotograf.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Performans Degerlendirme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360° degerlendirme — 4 kaynaktan geri bildirim.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Izin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Yillik/ücretsiz/sağlık izinleri — basvuru ve onay akisi.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Egitim Planlama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Zorunlu/onerilen egitimler + sertifika takvimi.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Bordro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Aylik bordro hesaplama, kesinti ve primler, brut/net.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Acik pozisyon duyurusu — Aday Havuzu'nda pozisyon olustur, kriterleri gir.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Basvurular geldikce AI Mulakat ile sorulari hazirla, mulakat yap, puan gir.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Secilen adayi 'Personel Kayit'a ekle — ozluk dosyasi olustur.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Her ay bordro hazirla, Egitim Planlama ile zorunlu egitimleri planla.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6 ayda bir Performans Degerlendirme yap, sonuclara gore gelisim plani.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Isten cikis olacaksa Offboarding checklist'ini takip 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AI Mulakat soru setlerini pozisyona gore kisisellestir — her seferinde iyilesir.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Is Yuku Dengeleyici'de burnout uyarisi alan personele muhakkak 1:1 gorusme planla.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👥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Insan Kaynaklari Yonetimi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Offboarding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Isten cikis sureci: belge teslimi, KVKK uyumlu veri arsivleme.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Disiplin Islemleri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Uyari, kinama vb disiplin islemleri; hukuki uyumlu kayit.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11. Is Yuku Dengeleyici 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10 yuk tipi (ders, nobet, sinav, idari vb) bazli analiz.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💰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Butce Gelir Gider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Butce Gelir Gider modulu, okulun tum mali suregini tek panelden yonetir. Yillik butce planlama, aylik gelir/gider takibi, tahminsel-gerceklesen karsilastirmasi, mali analiz, donemsel raporlar ve AI de...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Yillik butce planlama (20+ kategori)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Gunluk gelir/gider kaydi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Tahminsel vs Gerceklesen karsilastirma (her kategori)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Aylik ve donemlik mali raporlar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Nakit akis projeksiyonu (AI)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Butce sapma uyarilari (%10 ustunde otomatik bildirim)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Vergi ve kesinti takibi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💰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Butce Gelir Gider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Bu ay gelir/gider, net durum, butce kullanimi, en yuksek kategori.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Butce Planlama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Yillik butce kategorileri + hedef tutar + aylik dagilim.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Gelir Kaydi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Tum gelirler (kayit ucreti, bagis, kira, hibeler vs).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Gider Kaydi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Tum giderler (maas, fatura, temizlik, yiyecek vs).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Tahmin vs Gerceklesen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Her kategori icin butce hedefi ile gercek durumu karsilastir.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Aylik Rapor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Otomatik aylik rapor: gelir/gider ayrimi, kar-zarar, onemli kalemler.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Mali Analiz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Trend, sezonluk dalgalanma, likidite orani.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Raporlar &amp; Export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Farkli sablonlar: VUK uyumlu, yonetim kurulu, SMMM icin.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Yil basi: Butce Planlama'da yillik butce olustur, kategorileri ve tutarlari gir.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Gun icinde: gelir/gider olduguca ilgili sekmede hemen kaydet (makbuz ile).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Ay sonu: Tahmin vs Gerceklesen'e bak, sapmalari analiz et.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Aylik Rapor uret, mudure sun.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3 ayda bir Mali Analiz ile buyuk resmi gor; AI projeksiyonunu dikkate 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Tekrarli giderleri 'aylik' isaretleyerek otomatik kopyala — her ay tekrar girmek zorunda kalma.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Sapma %10'u asinca otomatik uyari al — bildirim ayarlarini aktif et.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📅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Randevu ve Ziyaretci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Randevu ve Ziyaretci modulu, okula gelecek ziyaretcilerin online randevu alimi, QR kod tabanli giris/cikis takibi, ziyaretci rehberi, gorusulecek unvan + kisi atamasi ve raporlamasini tek panelden yon...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Online randevu alimi (veli/ziyaretci self-service)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QR kod ile giris/cikis (dokunmasiz)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Ziyaretci rehberi — 'Ben kimim?' cevaplayan AI panel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Gorusulecek Unvan ve Kisi atamasi (IK ile entegre)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Ziyaretci turleri (Veli, Tedarikci, Mufettis, Aday Veli)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AR Kampus Haritasi ★ — 15 lokasyon SVG harita, QR ile aktive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Detayli raporlama ve trend analizi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📅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Randevu ve Ziyaretci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Bugunun randevulari, haftanin zirvesi, ziyaretci tipi dagilimi.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Randevu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Randevu CRUD + QR kod uretimi + email/SMS bildirimi.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Ziyaretci Giris/Cikis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QR tarama ile hizli giris + manuel kayit + fotograf.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Ziyaretci Rehberi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Ziyaretci gorusulecek kisiye nasil ulasir rehberi.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Raporlar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Ziyaretci sayisi, ortalama sure, en sik gelen ziyaretci tipi.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Ayarlar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Ziyaretci turleri CRUD + bildirim sablonlari + gorusulecek unvanlar.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AR Kampus Haritasi 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15 lokasyon SVG harita + QR ile mobil AR navigasyon.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Randevu alim: Ziyaretci website'ten link uzerinden online randevu alir VEYA sekreter manuel olusturur.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Email/SMS ile QR kod gonderilir.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Ziyaretci gun icinde gelince QR'i okutur, fotograf cekilir (opsiyonel), ziyaretci karti cikar.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Gorusulen kisi SMS/notification alir.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Cikis QR tarama ile otomatik, ziyaretci suresi kaydedilir.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Hafta sonu raporlar incelenir.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Veli toplantilarini toplu randevu seklinde olustur — 1 tikla tum velilere gonder.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AR Kampus Haritasi'ni ziyaretciye onceden paylas; okul icinde kaybolma sorunu cozulur.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🤝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Toplanti ve Kurullar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Toplanti ve Kurullar modulu, 5 farkli kurul tipini (Ogretmenler Kurulu, Zumre, Okul Meclisi, Ogrenci Meclisi, Okul Gelisim Kurulu) yonetir. Toplanti planlama, gundem hazirlama, tutanak kaydi, karar ve...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5 kurul tipi (Ogretmenler/Zumre/Okul Meclisi/Ogrenci Meclisi/Okul Gelisim)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Toplanti planlama (tarih, saat, yer, Zoom/Meet linki)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Gundem maddesi ekleme ve onem siralamasi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Katilimci yonetimi + otomatik davetli listesi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Canli tutanak kaydi + sonradan duzenleme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Karar ve aksiyon atama + takip (Due date + sorumlu)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AI ozet — uzun tutanaklardan 1 paragraf ozet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PDF tutanak export (kurumsal sablon)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🤝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Toplanti ve Kurullar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Yaklasilan toplanti, bekleyen karar, aksiyon takibi.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Kurul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5 kurul tipi + her kurul icin uyeler + yetki.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Toplanti Planlama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Tarih/saat/yer + Zoom linki + katilimci davet.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Gundem Hazirlama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Madde madde gundem + onem sirasi + sunum PDF.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Katilimci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Davetli liste + RSVP + katilim takibi (yuz yuze/online).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Karar &amp; Aksiyon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Alinan kararlar + aksiyon + due date + sorumlu kisi.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Tutanak Olustur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Canli tutanak kaydi; kararlari + aksiyonlari otomatik birlestirir.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AI Ozet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Uzun tutanaklardan 1 paragraf ozet + Smarti AI ile konu bazinda sorgulama.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Toplantidan 1 hafta once: Toplanti Planlama'dan tarih + yer + katilimcilari ekle.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Gundem Hazirlama'da maddeleri madde madde gir, onem sirala.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Davet + hatirlatici email/notification otomatik gonderilir.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Toplanti anında: Tutanak Olustur 'Kayit Baslat' ile anlik not al.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Kararlari ve aksiyonlari isaretle — sorumlu ve son tarih ata.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Toplanti sonu: PDF tutanak ve AI ozet otomatik hazirlanir.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Haftalik: Karar &amp; Aksiyon'da vadeleri takip et; gecikenler kirmizi isaretlenir.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Gundem PDF'ini toplantidan 24 saat once katilimcilara gonder — hazirlikli gelirler.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AI ozet 15 dakikalik tutanaktan sonra en dogru sonucu verir — daha kisasi yetersiz olabilir.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🏛️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Kurum Hizmetleri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Kurum Hizmetleri modulu, gunluk kurumsal operasyonu yoneten yardimci hizmetleri toplar: etkinlik ve duyurular, haftalik yemek menusu, servis/rota yonetimi, veli talep formlari, mesajlasma, nobet ve de...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Etkinlik ve duyuru paneli (veli/ogrenciye gorunur)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Haftalik yemek menusu (fotograf + besin degeri)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Servis arac/sofor/rota CRUD + ogrenci atamasi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Veli talep formlari (belge, rapor, gorusme)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Dahili mesajlasma (okul ici)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Nobet yonetimi (AT'den entegre)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Zaman cizelgesi (AT'den entegre)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Ders programi (AT'den entegre)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KURUM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🏛️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Kurum Hizmetleri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Etkinlik &amp; Duyurular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Okul geneli duyurular (veli/ogrenciye gorunur).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Yemek Menu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Haftalik menu + besin degeri + alerjen uyarisi.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Servis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Servis arac/sofor CRUD + rota + ogrenci atamasi.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Veli Talepleri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Veli talep formlari — belge, donem rapor, gorusme.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Mesajlasma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Okul ici yazisma paneli (ogretmen&lt;&gt;veli, vb).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Nobet Yonetimi (AT)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Akademik Takip'ten gelen nobet programi ozeti.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Zaman Cizelgesi (AT)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Gunluk/haftalik zaman dilimleri ozet.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Ders Programi (AT)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Sinif/sube bazli ders programi ozet.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Haftalik: Yemek Menu'yu Pazartesi oncesi haftayi doldur — veli/ogrenciye otomatik yayinlanir.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Duyuru oldugunda Etkinlik &amp; Duyurular'dan hedefle birlikte yayin yap.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Servis degisiklikleri Servis Yonetimi'nden yapilir — ogrenci ataması ile.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Veli Talepleri sekmesinde gelen talepleri zamaninda yanitla (SLA 24 saat).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Mesajlasma ile ogretmen ve veliler arasinda asenkron iletisim kur.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Yemek menu fotograflari besin degerleri ile beraber gorunde veliler cok daha olumlu algilar.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Duyuru hedefini 'Tum Okul' yerine sinif/sube sec — hedefsiz duyuru ilgi kaybeder.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🎨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Okul Oncesi - Ilkokul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Okul Oncesi - Ilkokul modulu, anasinifi (4-5 yas + hazirlik) ve ilkokul (1-4) kademeleri icin ozellestirilmis arac kitidir. Gunluk bulten, gelisim takibi (milestone), haftalik veli raporu, erken uyari...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Okul oncesi gunluk bulten ve takvim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Gelisim milestone takibi (motor, dil, sosyal, bilissel)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Haftalik otomatik veli raporu (fotograf + etkinlik + gelisim notu)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Davranis DNA — davranis paternleri analizi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Erken uyari — gelisim geriligi tespiti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Portfolyo (gelisim dosyasi) — yildan yila arsivlenen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Ebeveyn okulu — veliye yonelik egitim iceriklleri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Mutluluk Indeksi — gunluk duygu takibi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🎨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Okul Oncesi - Ilkokul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Okul Oncesi Panel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4-5 yas + hazirlik sinifi gunluk bulten, duyuru, takvim.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Ilkokul Panel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1-4 sinif icin hizli erisim (yoklama, not, etkinlik).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Gelisim Takip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Motor/Dil/Sosyal/Bilissel alanlarda milestone takibi.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Haftalik Rapor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Haftanin sonu veliye gonderilen otomatik rapor.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Erken Uyari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Gelisim geriligi, davranis sorunlari tespiti.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Portfolyo (Gelisim Dosyasi)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Yillari arsivlenen gelisim dosyasi (resim, yazim, video).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Aktivite Planlama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Gunluk/haftalik etkinlik plani (oyun, bilim, sanat).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Veli-Ogretmen Koprusu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Iki yonlu hizli mesajlasma + onemli paylasimlar.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Sabah: Gunluk bulten olustur (foto + aktivite), veliye gonder.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Haftalik: Gelisim Takibi'nde her cocuk icin milestone guncelle.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Cuma aksam: Haftalik Rapor otomatik uretildigini kontrol et, kisisel not ekle, gonder.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Ayda 2 kez: Mutluluk Indeksi gun bazli analiz.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Ayda 1 kez: Portfolyo'ya yeni icerik (resim, ses kaydi, fotograf) ekle.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Ihtiyac durumunda: Davranis DNA ile pattern incele — sorun varsa rehberliğe yonlendir.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Haftalik rapordaki 'ozel an' bolumu veliye en cok duygusal baglanti saglayan kisimdir — ihmal etme.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Portfolyo yildan yila aktarilir — ilkokul mezuniyetinde veliye PDF olarak verebilirsin.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🎨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Okul Oncesi - Ilkokul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Davranis DNA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AI cocugun davranis paternlerini analiz eder + oneri.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Sinif Asistani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Ogretmenin gunluk is akisini kolaylastiran AI assistant.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11. Ebeveyn Okulu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Veliye yonelik egitim iceriklleri (uyku, beslenme, oyun).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12. Sinif Karmasi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Heterojen grup olusturma: cesitlilik icin AI eslesme.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13. Mutluluk Indeksi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Gunluk duygu check-in (emoji bazli).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14. Hazirlik Egitimi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Ilkokula hazirlik modulu (5-6 yas).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15. Smarti (Egitmen)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Erken cocukluk ozel AI asistani.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📚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Akademik Takip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Akademik Takip, okulun akademik omurgasidir. 14+ sekme ile ogrenci/ogretmen yonetimi, ders programi, yoklama, not girisi, odev, kazanim takibi, ders defteri, nobet, izin, online ders, sertifika ve ayr...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14+ ana sekme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Ogrenci ve ogretmen CRUD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Haftalik ders programi (surukle-birak)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Gunluk yoklama (Akilli Yoklama ★ ile 5 yontem)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Not girisi (yazili/sozlu/proje)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Odev atama ve takip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Kazanim takibi (islendi/islenmedi/kismen)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Ders defteri + online ders entegrasyonu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📚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Akademik Takip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Akademik ozet: ogrenci sayisi, bu hafta sinav, devamsizlik yuzde.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Ogrenci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Tum ogrenciler CRUD + Excel import + ozluk bilgisi.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Ogretmen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Ogretmen CRUD + brans + haftalik yuk.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Ders Programi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Haftalik program (surukle-birak) + catisma kontrolu.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Yoklama &amp; Devamsizlik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Gunluk yoklama + Akilli Yoklama ★ (5 yontem).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Not Girisi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Yazili/sozlu/proje notlari + kazanim eslestirme.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Odev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Odev atama + teslim tarihi + online teslim + puanlama.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Kazanim Takibi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MEB kazanimlari islendi/islenmedi/kismen isaretleme.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Yil basi: Ogrenci ve Ogretmen yonetiminde listeleri olustur veya import et.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Eylul: Ders Programi'ni haftalik gorunumde olustur.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Her gun: Yoklama al (Akilli Yoklama ile hizli), Ders Defteri'ne isledigin konuyu yaz.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Haftalik: Odev ver/teslim al.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Donem icinde: Not Girisi ile sinav notlarini + kazanim takibini yap.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Ayda 1 kez: Ogrenci Kimlik ile ogrenci profilleri gun.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Yil sonu: Sertifika talebi ve rapor cikisi.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Akilli Yoklama'da QR yontemi ogrenciler cep telefonuyla saniyeler icinde yoklama yapiyor.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Kazanim Takibi'ni her ders sonunda doldur — haftalik birikmis yazim 2 kat daha zor.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📚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Akademik Takip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Ders Defteri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Gunluk ders islenen konu + ozel not + online ders linki.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Nobet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Haftalik nobet programi + degisim talebi.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11. Izin Islemleri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Ogretmen izin talep + onay akisi.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12. Online Ders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Zoom/Meet/Teams entegrasyonu + katilim takibi.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13. Sertifika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Ogrenci sertifika talebi + imza + QR dogrulama.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14. Ogrenci Kimlik 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3 alt-sekme: Dijital Pasaport / Basari Duvari / Karsilastirmali Ilerleme.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15. Raporlar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Sinif/ogrenci/ogretmen bazli + devamsizlik + akademik trend.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📝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Olcme ve Degerlendirme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Olcme ve Degerlendirme modulu, kazanim bankasi, soru havuzu (7 soru tipi), blueprint tabanli sinav uretme, AI ile soru uretimi, IRT/CAT psikometrik analiz, QR ile ogrenci girisi, proctoring, MEB/OSYM 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Kazanim bankasi (MEB + ozel)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7 soru tipi: MCQ, D/Y, bosluk, eslestirme, siralama, cloze, matematik ifadesi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Blueprint (sinav sablonu) ile otomatik sinav uretimi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AI ile soru uretimi (OpenAI GPT-4o-mini)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IRT psikometrik analiz (1-PL/2-PL/3-PL)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CAT (Computerized Adaptive Testing)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MEB/OSYM sinav motoru (LGS/TYT/AYT/YDT)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OSYM tarzi PDF (cift sutun, profesyonel kapak, optik form)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📝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Olcme ve Degerlendirme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Soru bankasi sayisi, bu hafta yazili, ortalama zorluk.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Kazanim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MEB kazanimlari import + ozel kazanim ekleme.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Soru Bankasi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7 soru tipi + zorluk + bloom + rubrik + celdirici analizi.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AI Soru Uretimi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5 adimli wizard: kazanim/sinif/ders/soru sayisi/zorluk/tip.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Blueprint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Sinav sablonu: kac soru, hangi kazanim, zorluk dagilimi.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Sinav Olustur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Blueprint + soru havuzundan otomatik sinav uretimi.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MEB Sinav Motoru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LGS/TYT/AYT/YDT ozel bolum yapisi ve puanlama.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Online Sinav &amp; QR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Ogrenci QR ile giris, browser lockdown, otomatik puanlama.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Ilk kurulumda: Kazanim Yonetimi'nden MEB kazanimlarini import et.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Soru Bankasi'na soru ekle (elle veya AI ile).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Blueprint olustur: sinavin yapisini tanimla (zorluk + kazanim dagilimi).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Sinav Olustur: blueprint'ten otomatik sinav uret.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Online/PDF yolu sec: QR ile online veya OSYM tarzi PDF.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Ogrenciler sinavi cozer, Otomatik Puanlama yapilir.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IRT ile soru kalitesini analiz et, zayif soruyu bankaya geri cikar.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AI ile soru uretirken 'kazanim + zorluk + Bloom' uclusunu dogru sec — iyi kalite soru bir denemede cikar.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Blueprint'te zorluk dagilimi (%20 kolay / %60 orta / %20 zor) klasik ama etkili.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📝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Olcme ve Degerlendirme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Proctoring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Webcam + tab kontrol + heartbeat + risk skoru.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Otomatik Puanlama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Sinav sonuclari + negatif puanlama + IRT/CAT analiz.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11. Telafi Sistemi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Red(0-49): hemen quiz+48h quiz; Yellow: pekistirme; Green: haftalik tekrar; Blue: zor set.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12. IRT Psikometrik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1-PL Rasch / 2-PL / 3-PL parametreler + Fisher info.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13. CAT Adaptif Test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Fisher bilgi + MLE + SE ile adaptif.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14. Stok Kontrol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Soru stogu rapor + otomatik AI ile doldurma.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15. Rubric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Kriter + seviye tabanli rubrik olusturma (acik ucu sorular icin).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16. QTI Import/Export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Moodle/Canvas/Blackboard uyumlu XML.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🧠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Rehberlik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Rehberlik modulu, psikolojik danismanlik ve rehberlik hizmetlerinin tam kapsamli yonetimidir. 41 sekme ile gorusme kaydi, vaka takibi, aile gorusmesi, yonlendirme, BEP (Bireysellestirilmis Egitim Prog...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41 sekme (en genis modul)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Gorusme kaydi (bireysel/grup)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Vaka takibi (acik/devam eden/cozulmus)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Aile gorusmesi + veli kaydi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Yonlendirme islemleri (RAM, hastane, uzman)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BEP (Bireysellestirilmis Egitim Programi) kaydi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36 MEB formu (e-Rehberlik uyumlu)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20+ psikolojik test (IQ, kisilik, ilgi vs)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🧠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Rehberlik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Acik vaka, bu hafta gorusme, risk dagilimi.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Gorusme Kaydi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Bireysel/grup gorusme notlari + ses kaydi + PDF.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Vaka Takibi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Vaka CRUD + durum (acik/devam/cozuldu).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Aile Gorusmeleri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Veli ile yapilan gorusmeler + aile dinamigi.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Yonlendirme Islemleri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RAM / hastane / ozel uzmana yonlendirme.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BEP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Bireysellestirilmis Egitim Programi olusturma + takip.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Psikolojik Testler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20+ test: IQ, kisilik, ilgi, yetenek vs.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Test Degerlendirme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Testlerin puanlamasi ve yorumlanmasi.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Ogretmen ogrenciyi rehberlige yonlendirir (referral).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Rehber ogrenci ile Gorusme Kaydi yapar (not + ses).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Ihtiyac halinde Psikolojik Test uygular, Vaka aclir.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Vaka karmasikligina gore BEP olusturur veya disa Yonlendirme yapar.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Aile Gorusmesi yapar, Mood Check-in panelinden takip eder.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Risk varsa Risk Degerlendirme ve Kriz Mudahale'yi baslatir.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Vaka cozulmus: Durumu 'cozuldu' olarak isaretler, izleme suresi baslar.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Gorusme kaydinda ses kaydi cok yardimci ama KVKK onayi sart — veli/ogrenci imzali sablon kullan.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Mood Check-in panelinde 7+ gun usust agir duygular varsa 1:1 gorusme planla.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🧠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Rehberlik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Risk Degerlendirmesi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Intihar/madde/zorbalik/istismar risk matrisleri.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Rehberlik Plani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Yillik/donemlik rehberlik calisma plani.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11. Ihbar Hatti 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Anonim ihbar — 8 kategori (zorbalik, intihar, madde, taciz vs).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12. Mood Check-in Rehber Paneli 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Tum ogrencilerin gunluk mood verileri + trend.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13. Kriz Mudahale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Kriz durumlari (olum, travma) acil plani.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14. MEB Formlari (36)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e-Rehberlik uyumlu 36 form.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15. Raporlar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Vaka/test/risk bazli raporlar.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🏥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Okul Sagligi Takip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Okul Sagligi Takip modulu, okul revirinin tam kapsamli yonetimidir. Ogrenci saglik karti, revir ziyaret kaydi, ilac uygulama takibi, kaza/olay kaydi, saglik envanteri, ilk yardim dolaplari, seminer ve...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Ogrenci saglik karti (alerji, kronik hastalik, asi takvimi)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Gunluk revir ziyaret kaydi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Ilac uygulama takibi (doktor reseteli)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Kaza/olay kaydi (adli vaka olma ihtimaline karsi)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Saglik envanteri (malzeme, ilac stogu)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Ilk yardim dolaplari (lokasyon bazli)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Seminer ve egitim programlari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KVKK erisim logu (kim ne zaman baktı)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🏥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Okul Sagligi Takip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Bugunku revir, acil durumlar, malzeme uyari.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Ogrenci Saglik Karti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Her ogrenci icin detayli saglik kaydi.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Revir Ziyareti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Gunluk revir girisi (neden/isiklem/sonuc).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Ilac Uygulama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Doktor reseteli ilaclar, zamanlama, veli izni.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Kaza/Olay Kaydi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Kaza, yaralanma, adli olay kaydi — fotograf+aciklama.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Saglik Envanter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Malzeme ve ilac stogu + uyari.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Ilk Yardim Dolabi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Dolabin lokasyonu + icerigi + son kontrol tarihi.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Seminer &amp; Egitim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Ogrenci/veli/ogretmen icin saglik egitimi.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Yil basi: Ogrenci Saglik Karti'nda tum ogrencilerin bilgilerini topla (veliden form).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Gun icinde: Revir Ziyareti kaydi her ogrenci girisinde.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Ilac gerekirse: Ilac Uygulama'da zamanlama ve doz isaretleme.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Kaza olursa: Kaza/Olay Kaydi hemen olustur, fotograf ekle, mudure bildir.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Haftalik: Saglik Envanter kontrol — eksik ise satin alma talebi.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Ayda 1: Seminer olustur (ornek 'Adolesan Saglik', '1. Yardim').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Alerji bilgisini veli formunda zorunlu alan yap — hayati onem tasir.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Kaza kaydinda fotograf KVKK uygunlugunu kontrol et (yuz goruntu koruma).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🏥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Okul Sagligi Takip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KVKK Erisim Logu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Saglik verisine kim ne zaman baktı kaydi.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Raporlar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Aylik istatistik, en sik nedenler, demografik.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🎭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Sosyal Etkinlik ve Kulupler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Sosyal Etkinlik ve Kulupler modulu, okulun sosyal hayatinin kalbidir. 20 sekme ile 10+ kulup yonetimi, etkinlik takibi, turnuva/yarisma, galeri/arsiv, AI planlama, gamification, sosyal sorumluluk proj...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10+ kulup CRUD + uye yonetimi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Etkinlik takvimi ve planlama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Turnuva/yarisma yonetimi (puan tablosu)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Galeri ve dijital arsiv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AI destekli etkinlik planlama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Sosyal portfolyo (ogrenci bazli)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Gamification (rozet, XP, lig)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Sosyal sorumluluk proje takibi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🎭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Sosyal Etkinlik ve Kulupler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Aktif kulup, bu hafta etkinlik, katilimci yogunlugu.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Kulupler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Kulup CRUD + uye yonetimi + performans.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Sosyal Etkinlikler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Tum etkinlik listesi + takvim.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Kulup Performans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Kulup bazli katilim, etkinlik sayisi, memnuniyet.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Etkinlik Takvimi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Yillik etkinlik planiyla takvim gorunumu.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Sosyal Portfolyo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Her ogrencinin sosyal aktivite dosyasi.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Turnuva &amp; Yarisma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Turnuva CRUD + fikstür + puan tablosu.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Galeri &amp; Arsiv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Etkinlik fotograf/video arsivi.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Yil basi: Kulupler'de yeni yil kuluplerini acip uyelik alma donemi acki.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Eylul: Ogrenciler uyelik basvurusu yapar, sorumlu ogretmen kabul eder.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Aylik: Etkinlik Takvimi'nden aylik etkinlikleri planlar + AI Planlama'dan oneri al.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Etkinlik sonrasi: Galeri'ye foto/video ekle, Sosyal Portfolyo'yu guncelle.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Donem sonu: Turnuva/yarisma duzenle (ornek 'Kulupler Arasi Matematik Turnuvasi').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Yil sonu: Dijital Kapsul uret, velilere gonder (PDF + video).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AI Planlama tema olarak 'Dunya Cevre Gunu' verince icerige hazir etkinlik sablonu cikarir.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Sosyal Endeks'i yil sonu karnede kisminda sergileyerek ogrenciyi motive edebilirsin.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🎭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Sosyal Etkinlik ve Kulupler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AI Planlama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AI etkinlik onerileri (mevsim, bayram, tema bazli).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Gamifiye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Rozet/XP/lig sistemleri (ogrenci motivasyonu).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11. Sosyal Sorumluluk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Proje bazli takip (cevre, yardimlasma, farkindalik).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12. Otomasyon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Tekrarli etkinlikler icin sablonlar + otomatik olustur.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13. Medya Merkezi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Video/foto/metin icerik uretimi + sosyal medya entegrasyonu.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14. Dis Isbirligi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Diger okul/STK ile ortak proje yonetimi.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15. Inovasyon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Ogrenci inovasyon projeleri (Tubitak/proje pazari).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16. Dijital Kapsul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Yil sonu anilari paketi (PDF/video).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📖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Kutuphane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Kutuphane modulu, fiziksel kutuphane materyallerinin kaydi, odunc/iade islemleri, gecikme ve ceza hesaplamasi, populer kitaplarin analizi ve okuma trendlerinin izlenmesini saglar. Okumayi tesvik eden 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Materyal CRUD (kitap, dergi, DVD)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ISBN tarayici (barkod) ile hizli kayit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Odunc/iade islemi (barcode/QR)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Gecikme takibi + ceza hesabi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Populer kitap analizi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Ogrenci okuma profili + gamification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Kayip/hasar kayit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📖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Kutuphane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Toplam materyal, bugun odunc, gecikme sayisi.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Materyal Kaydi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ISBN ile hizli kayit veya manuel.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Odunc Islemleri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Ogrenci + kitap ile odunc alma.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Iade Islemleri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Kitap iade + gecikme kontrolu.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Gecikmeler &amp; Cezalar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Gecikmis ogrenci listesi + otomatik ceza hesabi.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Populer Kitaplar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En cok odunc alinan kitap ve kategori.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Ogrenci Profil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Her ogrencinin okuma gecmisi + rozet.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Kayip &amp; Hasar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Kaybolmus/hasarli materyal kaydi + bedel.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Yeni kitap alinca: Materyal Kaydi'nda ISBN tara, bilgileri kontrol et, kaydet.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Ogrenci gelince: Odunc Islemleri sekmesinde iki tarama (ogrenci + kitap).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Iade: Iade Islemleri'nde barkodu tara, gecikme varsa ceza otomatik hesaplanir.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Haftalik: Gecikmeler listesini kontrol et, ogrencilere SMS/veliye bildirim gonder.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Donem sonu: Populer Kitaplar ve Raporlar ile okuma trendlerini analiz 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Barkod tarayicisi yatirimla 3 kat hizli kayit olur — fiziksel cihazi aktarma.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Ogrenci rozet sistemini duyur — 'Yilin Okumaz' ogrenci odulu motivasyon yaratir.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📖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Kutuphane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Raporlar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Donemlik okuma trend + kategori analizi.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🌍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Yabanci Dil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Yabanci Dil modulu, CEFR-uyumlu kurumsal dil ogretim platformudur. Pre-A1'den B2'ye mufredat, interaktif aktiviteler, quiz/sinav, odev, dinleme/konusma, grup calismalari, projeler, e-kitaplik ve Smart...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CEFR uyumlu (Pre-A1 - B2)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79 ozellik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Interaktif aktiviteler (listening/speaking/reading/writing)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Quiz + sinav + online cozme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Odev atama + teslim + puanlama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Dinleme/konusma (mikrofon)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Grup calismasi araclari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Proje takibi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🌍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Yabanci Dil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Sinif ozeti, CEFR dagilimi, bu hafta sinav.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Sinif Secimi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Sinif/sube bazli is parcasi.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Ders Programi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Haftalik mufredat plani.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Mufredat (CEFR)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Pre-A1'den B2'ye seviye bazli unite.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Ders Materyalleri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PDF/sunum/video dagitimi.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Odev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Atama + teslim + puanlama.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Quiz &amp; Test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Hizli quiz + formal test.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Sinav (Mock/Final)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Mock sinav + final sinav.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Yil basi: Ogrencilerin CEFR seviyesi belirle (diagnostic test).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Haftalik: Ders Programi'nda mufredat plani takip et.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Her hafta: Odev ver + quiz uygula.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Aylik: Mock sinav cik, sonuclara gore mufredat uyarla.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Yil sonu: Final sinav + CEFR raporu.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Dinleme &amp; Konusma modulunde AI telaffuz analizi ogrencinin kendi kendine calismasini saglar.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Grup Calismalari'nda 3-4 kisiyi farkli seviyelerde karisik sec — yuksek seviye dusugu ceker.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🌍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Yabanci Dil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Dinleme &amp; Konusma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Ses kaydi + AI degerlendirme.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Grup Calismalari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Grup projeleri + online isbirligi.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11. Projeler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Uzun donemli proje takibi.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12. E-Kitaplik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CEFR'a gore kitap onerileri.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13. Raporlar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Ilerleme + yetenek bazli degerlendirme.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14. Smarti (Tutor)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AI dil tutor asistani.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🎓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Kisisel Dil Gelisimi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Kisisel Dil Gelisimi modulu, 10 alt modulluk dil ogrenme hub'i: Fono Ingilizce (104 ders), Fono Almanca/Fransizca/Italyanca/Ispanyolca, KDG Premium Ingilizce ve Almanca, Pratik Dil (5 dil hub), Dil Tr...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10 alt modul (dil)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520+ ders (toplam)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CEFR seviyeli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104 Ingilizce ders (Fono)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10 dil flashcard (Dil Treni)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Pratik Dil — 5 dil hub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Telaffuz + dinleme + yazma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Seviye testi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🎓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Kisisel Dil Gelisimi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Fono Ingilizce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104 ders, A1-B1.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Fono Almanca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Fono Fransizca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Fono Italyanca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Fono Ispanyolca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KDG Ingilizce (Premium)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CEFR Premium.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KDG Almanca (Premium)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Pratik Dil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5 dil hub.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Dil sec (menu).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Seviye testi yap (varsa).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Ders yolunda ilerle (her ders ~15 dk).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Alistirmalari tamamla.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Haftalik quiz ile pekistir.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Aylik seviye sinavi.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Dil Treni'nin '10 dil' modunda haftada 2 yeni kelime prensibiyle hifiza baglanti kurabiliyor.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Pratik Dil hub 5 dilde ozet konusma sablonlari — tatillerde cok pratik.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🎓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Kisisel Dil Gelisimi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Dil Treni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10 dilli flashcard + tren.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Smarti + Ayarlar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🏅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Egitim Koclugu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Egitim Koclugu modulu, 1:1 bireysel kocluk platformudur. SMART hedef belirleme, haftalik plan, gorusme kaydi, motivasyon takibi, deneme sinavi analizi, zaman yonetimi, veli raporlari ve Smarti coachin...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Ogrenci-koc atama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1:1 gorusme kaydi (ses/metin)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SMART hedef belirleme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Haftalik plan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Motivasyon egrisi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Odev izlemesi (kocluk disi)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Deneme sinavi analizi (TYT/AYT/LGS)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Zaman yonetimi (calendar)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🏅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Egitim Koclugu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Kocluk alti ogrenci sayisi, haftalik durum.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Ogrenciler (Atama)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Ogrenci-koc atama yonetimi.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Gorusmeler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1:1 gorusme kaydi — ses + not.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SMART Hedef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Spesifik/Olculebilir/Ulasilabilir/Relevant/Zamanli hedef.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Haftalik Plan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Haftanin gunluk task listesi.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Motivasyon Takibi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Motivasyon egrisi + trend.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Odev Izleme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Kocluk disi odev takibi.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Deneme Analizi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TYT/AYT/LGS deneme sonuc + trend.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Koc atama: Dashboard &gt; Ogrenciler &gt; Atama.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Ilk gorusme: Ogrenci tanima + needs assessment (60 dk).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SMART Hedef olustur (ornek: '6 hafta sonunda TYT mat neti 15'ten 22'ye cikmak').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Haftalik Plan olustur (her gunu detaylandir).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Haftalik gorusme: Gorusmeler'de kaydet, Motivasyon isaretle.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Deneme sonrasi Deneme Analizi'nde konu bazli net + dusum/yukselis.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Aylik: Veli Raporu otomatik olustur, veliye gonder.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SMART hedeflerde 'Spesifik' ve 'Zamanli' kisimlari cok onemli — 'iyi olsun' degil '15 puan artsin' yaz.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Motivasyon 3 hafta ust uste dusukse mutlaka velisi ile ortak gorusme yap.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🏅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Egitim Koclugu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Zaman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Calendar ile ders/gorusme/sinav.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Canli Ders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Online ders linki + katilim.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11. Soru Kutusu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Asenkron ogrenci sorulari.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12. Veli Rapor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Aylik veli raporlari.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13. Ilerleme Grafikleri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Net/puan/hedef trend.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14. Smarti Coaching Bot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Koc ve ogrenci AI destegi.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🚂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AI Treni (Bilgi Treni)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AI Treni (Bilgi Treni) modulu, her sinif (1-12) icin ayri bir vagon, her vagonda 10 kompartiman (Konu Anlatimi, Kultur&amp;Sanat, Bilim, Edebiyat, Quiz, Oyun, Matematik Atolyesi, Yabanci Dil, Deney Lab, G...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12 vagon (1-12. sinif)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10 kompartiman (her vagon)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Konu Anlatimi (MEB uyumlu)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Kultur &amp; Sanat bolumleri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Bilim &amp; Teknik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Edebiyat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Bilgi Yarismasi (quiz)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Oyunlar (Memory, Stroop, Math Races, Riddle)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🚂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AI Treni (Bilgi Treni)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Vagon Secimi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1-12 sinif icinden secim.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Konu Anlatimi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MEB uyumlu konu anlatimi.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Kultur &amp; Sanat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Muze, tarih, sanat icerigi.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Bilim &amp; Teknik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Populer bilim iceriklleri.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Edebiyat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Yazar-eser-tema analizleri.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Bilgi Yarismasi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Quiz oyunlari.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Oyunlar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Memory, Riddle, Stroop, Math Races.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Matematik Atolyesi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Math Games.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Ogrenci sinifini sec &gt; vagonuna bin.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Kompartiman sec (ornek Deney Lab).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Icerik izle/oyun oyna/quiz coz.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Rozet kazan.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Diger kompartimanlara gec.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Hafta sonu siralama bakimi.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Ogrenci motivasyonunu yuksek tutmak icin haftalik rozet hedefi tanimla.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Deney Lab'i fen dersi ile entegre et — ogretmen oneri ver.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🚂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AI Treni (Bilgi Treni)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Yabanci Dil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Vocabulary + Pronunciation.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Deney Lab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Video + simulasyon.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11. Genel Kultur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12. Rozetler &amp; Skorlar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Kazanilan rozet + siralama.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🔬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STEAM Merkezi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STEAM Merkezi (v2.0 ★) ekosistemi — 100 proje, 5 disiplin (Bilim, Teknoloji, Muhendislik, Sanat, Matematik), Robotik, Kodlama, 3D modelleme, Maker atolyesi, yarismalar ve turnuvalar ile 21. yuzyil yet...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100 proje katalogu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5 disiplin (Bilim/Tekno/Muh/Sanat/Mat)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Skill Tree (yetkinlikler)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Live Lab (canli deney)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Rozet sistemi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Proje yonetimi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Muhendislik gorevleri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Yarismalar ve turnuvalar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🔬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STEAM Merkezi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Panel (Dashboard)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Proje sayisi, aktif ogrenci, yarismalar.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Showcase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En iyi projeler.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Skill Tree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Yetkinlik agaci.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Live Lab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Canli deney odasi.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Rozetler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Kazanilan rozet.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Proje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Proje CRUD + atama.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Muhendislik Gorevleri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Problem cozme challenge.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Yarismalar &amp; Turnuvalar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TUBITAK + diger yarismalar.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Ogrenci Panel'den proje kataloguna bakar.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Ilgi + yetkinligine gore proje sec.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Mentor ata (sorumlu ogretmen).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Proje Yonetimi'nde asamalari yonet.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Tamamlandiginda Showcase'e ekle.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Yarismaya katil.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Skill Tree her yil guncellenmeli — yeni teknolojiler (AI, Web3) ekle.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Showcase'e giren proje kendi dalinda yarismaya gitmeye adaydir.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🔬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STEAM Merkezi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Profil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Basarilar + portfolio.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Matematik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Matematik ekrani.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11. Bilisim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Kodlama.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12. Sanat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3D/Design.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13. Mentor Paneli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Mentor atama + takip.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14. Kaynak Kutuphane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STEM kaynaklari.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15. Raporlar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Proje tamamlanma + yetkinlik.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OPERASYON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⛑️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Sivil Savunma ve IS Guvenligi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Sivil Savunma ve IS Guvenligi modulu, 3 bolumu tek panelden yonetir: Sivil Savunma (yangin/deprem tatbikati), ISG (is saglik + guvenlik, risk matrisi), Okul/Ogrenci Guvenligi (zorbalik, bagimsiz ihbar...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3 bolum (Sivil Savunma / ISG / Ogrenci Guvenlik)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Checklist yonetimi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Tatbikat planlama + degerlendirme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Risk yonetimi + matris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Denetim kaydi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Olay kaydi (kaza, zorbalik)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Eylem plani + takip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Sorumlular yonetimi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OPERASYON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⛑️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Sivil Savunma ve IS Guvenligi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Aktif risk, yakin tatbikat, acik olay.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Checklist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Guvenlik + saglik checklist.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Tatbikat Planlama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Yangin + deprem + sizdirma tatbikatlari.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Tatbikat Degerlendirme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Tatbikat sonrasi puanlama + rapor.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Risk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Risk envanteri (5x5 matris).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Risk Matrisi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Olasilik x siddet gorseli.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Denetim Kaydi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Periyodik denetim sonuclari.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Olay Kaydi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Kaza/yaralanma/zorbalik kaydi.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Yil basi: Risk envanteri olustur (ornek 'yangin', 'deprem', 'su baskini', 'siber').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Risk Matrisi'nde olasilik + siddet isaretle.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Tatbikat Planlama'da aylik/ucer aylik tatbikat ata.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Tatbikat gunu: Tatbikati yap, Degerlendirme'de puan ver.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Periyodik: Denetim Kaydi + Egitim Akademisi ★.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Olay cikarsa: Olay Kaydi + Eylem Plani hemen olustur.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Yangin tatbikati yilda 2 kez zorunlu — Tatbikat Planlama'da otomatik olarak hatirlatma ayarla.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Zorbalik Onleme ★ Ihbar Hatti'na entegre — ihbar gelen olay otomatik olay kaydi olur.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OPERASYON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⛑️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Sivil Savunma ve IS Guvenligi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Eylem Plani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Olay sonrasi aksiyon + sorumlu + tarih.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Egitim Akademisi 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Calisan + ogrenci guvenlik egitimleri.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11. ISG Olcum 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Gurultu, isik, hava kalite olcumu.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12. Zorbalik Onleme 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Bagimsiz ihbar hatti entegrasyonlu.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13. Sorumlular Yonetimi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Bolum bazli sorumlu ata.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14. Raporlar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Tatbikat + risk + olay raporlari.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OPERASYON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🎓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Mezunlar ve Kariyer Yonetimi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Mezunlar ve Kariyer Yonetimi modulu, mezun veritabanini canli tutar, hedef kampanyalari (etkinlik, reunion), mentorluk eslesmeleri, is/staj havuzu, anket/feedback, bagis ve sponsorluk, referans adayla...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Mezun veritabani (her yildan)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Hedef gruplar (5 yil, 10 yil mezunu vs)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Iletisim kampanyalari (email/SMS)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Mentorluk (mezun &lt;&gt; ogrenci)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Etkinlik duzenleme (reunion, konferans)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Is &amp; Staj havuzu (mezun tarafindan acilan)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Anket &amp; Feedback (yaptigi mesleklere gore)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Bagis ve sponsorluk takibi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OPERASYON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🎓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Mezunlar ve Kariyer Yonetimi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Mezun sayisi, bu ay etkinlik, aktif kampanya.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Mezun Veritabani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Tum mezunlar + filtre + ara.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Hedef Gruplar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Kampanya icin hedef grup olustur.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Iletisim Kampanyalari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Email/SMS toplu gonderim.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Mentorluk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Mezun-ogrenci eslesme.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Etkinlik Duzenle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Reunion, kariyer gunu vs.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Is &amp; Staj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Mezunlarin actigi pozisyonlar.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Anket &amp; Feedback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Mesleklere dair yillik anket.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Mezuniyet sonrasi: Ogrenciyi Mezun Veritabani'na aktar.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Yilda 1 kez: Mezun profil guncelleme anketi gonder.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Aylik: Ilgili hedef gruba kampanya (ornek '5 yil mezunlari icin reunion').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Mentorluk'te lise son ogrencilerini mezunlara ile eslestir.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Is &amp; Staj havuzundan fakulteye giden ogrencilere staj/is onerisi.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Yil sonu: Bagis &amp; Sponsorluk raporu.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Mezunlarla ilisiyi kes KOPMA — yilda en az 2 kez temas (mezun gunu + kariyer gunu).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Mentorluk eslesmesi mezunu geri okulla buluşturur — uzun vadede bagis potansiyeli artar.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OPERASYON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🎓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Mezunlar ve Kariyer Yonetimi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Bagis &amp; Sponsorluk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Bagis takibi + sponsorluk teklifi.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Tavsiye Adaylari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Mezunun tanidigi potansiyel kayit adaylari.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11. Raporlar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Mezun istihdam + bagis raporu.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12. Ayarlar &amp; Sablonlar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Email sablonlari, kampanya sablonlari.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🤖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AI Destek (Smarti AI)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AI Destek modulu, SmartCampus'un merkez beyni ve 26 Smarti AI asistaninin kalbidir. 18 modulden veri toplayan yonetici dashboard, AI analiz, sesli/yazili Smarti chatbot, yol haritasi, sistem saglik du...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Yonetici Dashboard (18 modulden agregre)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AI Analiz Raporlari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Yol Haritasi (sistem onerisi)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Smarti Chatbot (yazili)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Sesli Asistan (audio record + TTS)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Genel istatistikler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Sistem Saglik (API logs, cache)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26 Smarti AI asistani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🤖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AI Destek (Smarti AI)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Yonetici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18 modulden veri + KPI + uyari.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AI Analiz Raporlari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Otomatik uretilen analiz raporlari.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Yol Haritasi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Sistem onerileri (iyilesme noktalari).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Smarti Chatbot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Yazili AI asistan.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Sesli Asistan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Mikrofonla konus + TTS ile dinle.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6. 23+ Tab Araci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Her biri ayri bir Smarti asistani (Hafiza, Bildirim, Rapor vs).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7. Ders Plani Copilot 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Ogretmen icin AI ders plani uretici (plan+quiz+etkinlik+slayt+kaynaklar).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8. Ogretmen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Ogretmene ozel gorunum (AI onerileri ders).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Mudur sabah: Yonetici Dashboard &gt; 18 modulden agregre KPI'lar.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AI Analiz Raporlari'nda gunluk rapor oku.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Smarti'ye dogal dilde soru: 'Bu hafta risk altindaki ogrenciler?'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Ogretmen: Ders Plani Copilot ile yarinki dersini 2 dakikada hazirla.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23+ Tab Araci'ndan ilgili olani sec (ornek: 'Toplanti' tutanak ozeti isterken).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Sistem Saglik'i haftalik kontrol 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Smarti'ya daha fazla baglam verirsen daha iyi cevap alirsin — 'Bu ogrencinin matematik dersinde...' gibi.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Ders Plani Copilot ★ ciktisini OD'ye aktarabilirsin — soru ureterek dersi tam sabotla.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🤖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AI Destek (Smarti AI) (devam)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9. Ogrenci 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Ogrenciye ozel gorunum (bugun ne yapacagim AI).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10. Genel Istatistikler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AI kullanim, sorgu sayisi, model performans.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11. Sistem Saglik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API logs, cache, yedekleme durumu.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12. Ayarlar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OpenAI key, model secimi, TTS, dil.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GENEL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📈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Analitik Dashboard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Okul geneli analitik dashboard. Ogrenci performansi, devamsizlik analizi, ogretmen metrikleri, sinif karsilastirmasi. Plotly grafikleri ile goruntuler.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Genel bakis (ogrenci/ogretmen/sinif sayilari, cinsiyet dagilimi)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Akademik performans (sinif ortalamasi, top 10, ders bazli)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Devamsizlik analizi (sinif/gun/ay bazli trend)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Ogretmen performans metrikleri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Iki sinif yan yana karsilastirma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GENEL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📈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Analitik Dashboard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Genel Bakis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4 metrik karti + cinsiyet pie chart + sinif dagilimi bar chart.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Akademik Performans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Sinif ortalamasi, top 10 ogrenci, ders bazli karsilastirma.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Devamsizlik Analizi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Aylik trend, gun bazli pattern (hangi gun en cok devamsizlik).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Ogretmen Performans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Brans dagilimi, sinif basina ogretmen, ogrenci basari ortalamasi.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5. Karsilastirma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Iki sinif sec — yan yana ortalama, devamsizlik, ders bazli grafik.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1. Donem sonunda Analitik Dashboard'u ac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2. Sinif karsilastirmasi yap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3. Raporlari indir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13716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Plotly grafikleri interaktiftir — ustune gel, detay gor.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Karsilastirma sekmesinde ayni sinifin iki donemini de karsilastirabilirsin.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ILETISIM &amp; RANDEVU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👨‍👩‍👦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Veli-Ogretmen Gorusme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Veli-ogretmen gorusme randevu sistemi. Slot bazli randevu, cakisma kontrolu, gorusme notlari, puanlama.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Haftalik gorusme takvimi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Cakisma kontrolu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Gorusme sonrasi puanlama (1-5)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Konu bazli istatistik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ILETISIM &amp; RANDEVU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👨‍👩‍👦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Veli-Ogretmen Gorusme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Gorusme Takvimi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Bu haftanin gorusmeleri, durum badge'leri.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Yeni Talep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Ogretmen/tarih/saat/konu secimi, cakisma kontrolu.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Gecmis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Tamamlanan gorusmeler, notlar, puanlama.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4. Istatistik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Toplam gorusme, konu dagilimi pie chart, trend.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1. Veli gorusme talebi olusturur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2. Ogretmen onaylar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3. Gorusme yapilir, not yazilir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4. Veli puanlar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86868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Ayni saat+ogretmen icin cakisma otomatik engellenir.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🏆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Sertifika Uretici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Sertifika ve belge uretim sistemi. 7 sablon, HTML onizleme, ReportLab PDF, toplu uretim + ZIP.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ANA OZELLIKLER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7 sertifika sablonu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HTML onizleme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ReportLab PDF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Toplu uretim + ZIP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◆  </a:t>
            </a:r>
            <a:r>
              <a:rPr sz="1100">
                <a:solidFill>
                  <a:srgbClr val="E2E8F0"/>
                </a:solidFill>
                <a:latin typeface="Segoe UI"/>
              </a:rPr>
              <a:t>Sertifika arsivi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Sekme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01168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BBF24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06B6D4"/>
                </a:solidFill>
                <a:latin typeface="Segoe UI Black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 Adimi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291840"/>
            <a:ext cx="20116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8B5CF6"/>
                </a:solidFill>
                <a:latin typeface="Segoe UI Black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SSS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AKADEMIK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59E0B"/>
                </a:solidFill>
                <a:latin typeface="Segoe UI Emoji"/>
              </a:rPr>
              <a:t>🏆  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SEKMELER — Sertifika Uretici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9601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1430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1. Sertifika Olustur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Sablon sec, ogrenci sec, onizle, PDF uret.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2. Toplu Sertifika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Sinif sec, tum ogrencilere batch uret, ZIP indir.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3. Arsiv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Gecmis sertifikalar, filtre, yeniden indirme.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Semibold"/>
              </a:defRPr>
            </a:pPr>
            <a:r>
              <a:t>IS AKISI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1. Sablon sec (Basari/Katilim/Takdir/...)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2. Ogrenci sec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3. Onizle, PDF uret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▶  </a:t>
            </a:r>
            <a:r>
              <a:rPr sz="900">
                <a:solidFill>
                  <a:srgbClr val="E2E8F0"/>
                </a:solidFill>
                <a:latin typeface="Segoe UI"/>
              </a:rPr>
              <a:t>4. Indir veya yazdir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26280"/>
            <a:ext cx="4572000" cy="86868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994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BBF24"/>
                </a:solidFill>
                <a:latin typeface="Segoe UI Semibold"/>
              </a:defRPr>
            </a:pPr>
            <a:r>
              <a:t>IPUCLARI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84632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✨  </a:t>
            </a:r>
            <a:r>
              <a:rPr sz="900">
                <a:solidFill>
                  <a:srgbClr val="94A3B8"/>
                </a:solidFill>
                <a:latin typeface="Segoe UI"/>
              </a:rPr>
              <a:t>Toplu sertifika ile tum sinifa tek tikla uret.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MOBIL UYGULAMA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59E0B"/>
                </a:solidFill>
                <a:latin typeface="Segoe UI Emoji"/>
              </a:rPr>
              <a:t>📱  </a:t>
            </a:r>
            <a:r>
              <a:rPr sz="3000" b="1">
                <a:solidFill>
                  <a:srgbClr val="FFFFFF"/>
                </a:solidFill>
                <a:latin typeface="Segoe UI Black"/>
              </a:rPr>
              <a:t>SmartCampus Mobil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97280"/>
            <a:ext cx="38404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234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t>Flutter Android — 99 Dart dosyasi, 5 rol, ultra premium tasarim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228600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74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Dart Dosyasi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737360"/>
            <a:ext cx="228600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874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1737360"/>
            <a:ext cx="228600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1874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50+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Ekran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737360"/>
            <a:ext cx="228600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874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59E0B"/>
                </a:solidFill>
                <a:latin typeface="Segoe UI Black"/>
              </a:defRPr>
            </a:pPr>
            <a:r>
              <a:t>Dark/Light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9260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👑  </a:t>
            </a:r>
            <a:r>
              <a:rPr sz="1200">
                <a:solidFill>
                  <a:srgbClr val="E2E8F0"/>
                </a:solidFill>
                <a:latin typeface="Segoe UI"/>
              </a:rPr>
              <a:t>Yonetici: Dashboard, ogrenci listesi, bildirim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📚  </a:t>
            </a:r>
            <a:r>
              <a:rPr sz="1200">
                <a:solidFill>
                  <a:srgbClr val="E2E8F0"/>
                </a:solidFill>
                <a:latin typeface="Segoe UI"/>
              </a:rPr>
              <a:t>Ogretmen: Siniflarim, yoklama, not, ders defteri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🧠  </a:t>
            </a:r>
            <a:r>
              <a:rPr sz="1200">
                <a:solidFill>
                  <a:srgbClr val="E2E8F0"/>
                </a:solidFill>
                <a:latin typeface="Segoe UI"/>
              </a:rPr>
              <a:t>Rehber: Vaka, gorusme, mood,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9260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👨‍👩‍👧  </a:t>
            </a:r>
            <a:r>
              <a:rPr sz="1200">
                <a:solidFill>
                  <a:srgbClr val="E2E8F0"/>
                </a:solidFill>
                <a:latin typeface="Segoe UI"/>
              </a:rPr>
              <a:t>Veli: Cocuk takip, randevu, servis, odeme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🎓  </a:t>
            </a:r>
            <a:r>
              <a:rPr sz="1200">
                <a:solidFill>
                  <a:srgbClr val="E2E8F0"/>
                </a:solidFill>
                <a:latin typeface="Segoe UI"/>
              </a:rPr>
              <a:t>Ogrenci: Dashboard, AI, sinav, oyunlar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🎨  </a:t>
            </a:r>
            <a:r>
              <a:rPr sz="1200">
                <a:solidFill>
                  <a:srgbClr val="E2E8F0"/>
                </a:solidFill>
                <a:latin typeface="Segoe UI"/>
              </a:rPr>
              <a:t>Ultra Premium: Gold-navy tasarim, glass effect, shimmer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MOBIL OZELLIKLER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Mobil Uygulama Detay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64592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Offline Cache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Internet olmadan da calisir.</a:t>
            </a:r>
            <a:br/>
            <a:r>
              <a:t>Veri senkronizasyonu otomatik.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64592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148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Push Bildirim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468880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Aninda bildirim.</a:t>
            </a:r>
            <a:br/>
            <a:r>
              <a:t>Sinav, not, duyuru, randevu.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64592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148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Dark/Light Tema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2468880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Kullanici tercihine gore.</a:t>
            </a:r>
            <a:br/>
            <a:r>
              <a:t>Goz yorgunlugu azaltici.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490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886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251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Sifre Degistirme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Guvenli giris.</a:t>
            </a:r>
            <a:br/>
            <a:r>
              <a:t>bcrypt sifreleme.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37490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3886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251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Responsive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572000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Her ekran boyutunda</a:t>
            </a:r>
            <a:br/>
            <a:r>
              <a:t>mukemmel gorunum.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37490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0" y="3886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4251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Auto Update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0" y="4572000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Yeni versiyon bildirimi.</a:t>
            </a:r>
            <a:br/>
            <a:r>
              <a:t>Tek tikla guncelleme.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CI/CD &amp; DAGITIM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APK Build &amp; Dagitim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164592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59E0B"/>
                </a:solidFill>
                <a:latin typeface="Segoe UI Emoji"/>
              </a:defRPr>
            </a:pPr>
            <a:r>
              <a:t>1️⃣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Git Push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Kod degisikligi</a:t>
            </a:r>
            <a:br/>
            <a:r>
              <a:t>GitHub'a push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0">
                <a:solidFill>
                  <a:srgbClr val="F59E0B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64592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59E0B"/>
                </a:solidFill>
                <a:latin typeface="Segoe UI Emoji"/>
              </a:defRPr>
            </a:pPr>
            <a:r>
              <a:t>2️⃣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GitHub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5603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Otomatik CI/CD</a:t>
            </a:r>
            <a:br/>
            <a:r>
              <a:t>Test &amp;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0">
                <a:solidFill>
                  <a:srgbClr val="F59E0B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64592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59E0B"/>
                </a:solidFill>
                <a:latin typeface="Segoe UI Emoji"/>
              </a:defRPr>
            </a:pPr>
            <a:r>
              <a:t>3️⃣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Flutter 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5603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APK uretimi</a:t>
            </a:r>
            <a:br/>
            <a:r>
              <a:t>Release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0">
                <a:solidFill>
                  <a:srgbClr val="F59E0B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64592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59E0B"/>
                </a:solidFill>
                <a:latin typeface="Segoe UI Emoji"/>
              </a:defRPr>
            </a:pPr>
            <a:r>
              <a:t>4️⃣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Play 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5603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Dagitim hazir</a:t>
            </a:r>
            <a:br/>
            <a:r>
              <a:t>AAB format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931920"/>
            <a:ext cx="10698480" cy="201168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1148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✅  </a:t>
            </a:r>
            <a:r>
              <a:rPr sz="1100">
                <a:solidFill>
                  <a:srgbClr val="E2E8F0"/>
                </a:solidFill>
                <a:latin typeface="Segoe UI"/>
              </a:rPr>
              <a:t>GitHub Actions workflow: otomatik test + build her push'ta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✅  </a:t>
            </a:r>
            <a:r>
              <a:rPr sz="1100">
                <a:solidFill>
                  <a:srgbClr val="E2E8F0"/>
                </a:solidFill>
                <a:latin typeface="Segoe UI"/>
              </a:rPr>
              <a:t>Flutter 3.x + Dart 3.x: en guncel framework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✅  </a:t>
            </a:r>
            <a:r>
              <a:rPr sz="1100">
                <a:solidFill>
                  <a:srgbClr val="E2E8F0"/>
                </a:solidFill>
                <a:latin typeface="Segoe UI"/>
              </a:rPr>
              <a:t>Release APK: ProGuard optimizasyonu, ~25MB boyut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✅  </a:t>
            </a:r>
            <a:r>
              <a:rPr sz="1100">
                <a:solidFill>
                  <a:srgbClr val="E2E8F0"/>
                </a:solidFill>
                <a:latin typeface="Segoe UI"/>
              </a:rPr>
              <a:t>AAB format: Play Store icin optimize edilmis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✅  </a:t>
            </a:r>
            <a:r>
              <a:rPr sz="1100">
                <a:solidFill>
                  <a:srgbClr val="E2E8F0"/>
                </a:solidFill>
                <a:latin typeface="Segoe UI"/>
              </a:rPr>
              <a:t>Versiyon yonetimi: semantic versioning (major.minor.patch)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✅  </a:t>
            </a:r>
            <a:r>
              <a:rPr sz="1100">
                <a:solidFill>
                  <a:srgbClr val="E2E8F0"/>
                </a:solidFill>
                <a:latin typeface="Segoe UI"/>
              </a:rPr>
              <a:t>Kod imzalama: keystore ile guvenli dagitim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TEKNIK ALTYAPI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Mimari &amp; Teknoloji Stack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554480"/>
            <a:ext cx="246888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Segoe UI Black"/>
              </a:defRPr>
            </a:pPr>
            <a:r>
              <a:t>FRONTEND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377440"/>
            <a:ext cx="1828800" cy="256032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3774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Streamlit (Python)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30+ modul, 390+ sekme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91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Responsive tasarim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49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Custom CSS temaları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Session state yonetimi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1554480"/>
            <a:ext cx="246888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057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Segoe UI Black"/>
              </a:defRPr>
            </a:pPr>
            <a:r>
              <a:t>MOBILE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2377440"/>
            <a:ext cx="1828800" cy="256032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23774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Flutter (Dart)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99 sayfa, 5 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291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Material Design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749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Provider state mgmt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Offline-first mimari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1554480"/>
            <a:ext cx="246888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⚙️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057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Segoe UI Black"/>
              </a:defRPr>
            </a:pPr>
            <a:r>
              <a:t>BACKEND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20" y="2377440"/>
            <a:ext cx="1828800" cy="256032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23774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FastAPI (Python)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143 REST API route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291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Async/await pattern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749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Pydantic 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OpenAPI (Swagger) docs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69680" y="1554480"/>
            <a:ext cx="246888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2057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Segoe UI Black"/>
              </a:defRPr>
            </a:pPr>
            <a:r>
              <a:t>DATA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89720" y="2377440"/>
            <a:ext cx="1828800" cy="256032"/>
          </a:xfrm>
          <a:prstGeom prst="roundRect">
            <a:avLst>
              <a:gd name="adj" fmla="val 5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9720" y="23774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JSON + File Store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687+ veri dosyasi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3291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Multi-tenant izolasyon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3749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Otomatik yedekleme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SQLite'a gecise hazir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669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4748B"/>
                </a:solidFill>
                <a:latin typeface="Segoe UI"/>
              </a:defRPr>
            </a:pPr>
            <a:r>
              <a:t>Python 3.11+  |  Dart 3.x  |  FastAPI 0.100+  |  Streamlit 1.30+  |  OpenAI API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GUVENLIK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Enterprise Guvenlik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645920"/>
            <a:ext cx="329184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JWT 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JSON Web Token ile guvenli oturum yonetimi. Access + refresh token pattern.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645920"/>
            <a:ext cx="329184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148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bcrypt Sifreleme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4688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Endstri standardi sifre hashleme. Brute-force koruması. Salt + hash.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645920"/>
            <a:ext cx="329184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148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Rate Limiting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24688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API isteklerinde hiz sinirlandirma. DDoS korumasi. IP bazli limit.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66160"/>
            <a:ext cx="329184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🛡️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069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CORS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8912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Cross-origin guvenlik. Sadece yetkili domain'ler erisebilir.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3566160"/>
            <a:ext cx="329184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069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Env Var Sifreler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38912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Hassas bilgiler .env dosyasinda. Kod icerisinde sifre yok.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3566160"/>
            <a:ext cx="329184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4069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Rol Bazli Erisim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0" y="438912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5 rol, granular yetki. Her kullanici sadece yetkili ekranlari gorur.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ENTEGRASYONLAR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Dis Sistem Entegrasyonlari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" y="1645920"/>
            <a:ext cx="502920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0">
                <a:solidFill>
                  <a:srgbClr val="FFFFFF"/>
                </a:solidFill>
                <a:latin typeface="Segoe UI Emoji"/>
              </a:defRPr>
            </a:pPr>
            <a:r>
              <a:t>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SMS</a:t>
            </a:r>
            <a:r>
              <a:rPr sz="1000" b="0">
                <a:solidFill>
                  <a:srgbClr val="64748B"/>
                </a:solidFill>
                <a:latin typeface="Segoe UI"/>
              </a:rPr>
              <a:t>  |  </a:t>
            </a:r>
            <a:r>
              <a:rPr sz="1100" b="1">
                <a:solidFill>
                  <a:srgbClr val="3B82F6"/>
                </a:solidFill>
                <a:latin typeface="Segoe UI"/>
              </a:rPr>
              <a:t>NetGSM / Twilio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031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Otomatik bildirim, toplu SMS, maliyet takibi, sablon yonetimi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34640"/>
            <a:ext cx="502920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26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0">
                <a:solidFill>
                  <a:srgbClr val="FFFFFF"/>
                </a:solidFill>
                <a:latin typeface="Segoe UI Emoji"/>
              </a:defRPr>
            </a:pPr>
            <a:r>
              <a:t>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Email</a:t>
            </a:r>
            <a:r>
              <a:rPr sz="1000" b="0">
                <a:solidFill>
                  <a:srgbClr val="64748B"/>
                </a:solidFill>
                <a:latin typeface="Segoe UI"/>
              </a:rPr>
              <a:t>  |  </a:t>
            </a:r>
            <a:r>
              <a:rPr sz="1100" b="1">
                <a:solidFill>
                  <a:srgbClr val="10B981"/>
                </a:solidFill>
                <a:latin typeface="Segoe UI"/>
              </a:rPr>
              <a:t>SMTP Protokolu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918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Otomatik email, HTML sablon, toplu gonderim, bounce takibi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23360"/>
            <a:ext cx="502920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14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0">
                <a:solidFill>
                  <a:srgbClr val="FFFFFF"/>
                </a:solidFill>
                <a:latin typeface="Segoe UI Emoji"/>
              </a:defRPr>
            </a:pPr>
            <a: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AI</a:t>
            </a:r>
            <a:r>
              <a:rPr sz="1000" b="0">
                <a:solidFill>
                  <a:srgbClr val="64748B"/>
                </a:solidFill>
                <a:latin typeface="Segoe UI"/>
              </a:rPr>
              <a:t>  |  </a:t>
            </a:r>
            <a:r>
              <a:rPr sz="1100" b="1">
                <a:solidFill>
                  <a:srgbClr val="8B5CF6"/>
                </a:solidFill>
                <a:latin typeface="Segoe UI"/>
              </a:rPr>
              <a:t>OpenAI GPT-4o-mini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805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Soru uretimi, ders plani, ogrenci analiz, chat asistan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12080"/>
            <a:ext cx="502920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303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0">
                <a:solidFill>
                  <a:srgbClr val="FFFFFF"/>
                </a:solidFill>
                <a:latin typeface="Segoe UI Emoji"/>
              </a:defRPr>
            </a:pPr>
            <a:r>
              <a:t>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303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Odeme</a:t>
            </a:r>
            <a:r>
              <a:rPr sz="1000" b="0">
                <a:solidFill>
                  <a:srgbClr val="64748B"/>
                </a:solidFill>
                <a:latin typeface="Segoe UI"/>
              </a:rPr>
              <a:t>  |  </a:t>
            </a:r>
            <a:r>
              <a:rPr sz="1100" b="1">
                <a:solidFill>
                  <a:srgbClr val="F59E0B"/>
                </a:solidFill>
                <a:latin typeface="Segoe UI"/>
              </a:rPr>
              <a:t>Banka Entegrasyon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6692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Online odeme, taksit takibi, otomatik eslestirme, makbuz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645920"/>
            <a:ext cx="5029200" cy="41148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7830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ENTEGRASYON AKISI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19456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1">
                <a:solidFill>
                  <a:srgbClr val="E2E8F0"/>
                </a:solidFill>
                <a:latin typeface="Segoe UI"/>
              </a:defRPr>
            </a:pPr>
            <a:r>
              <a:t>◆  SmartCampus Web/Mobil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    ↓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1">
                <a:solidFill>
                  <a:srgbClr val="E2E8F0"/>
                </a:solidFill>
                <a:latin typeface="Segoe UI"/>
              </a:defRPr>
            </a:pPr>
            <a:r>
              <a:t>◆  FastAPI Backend (143 route)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    ↓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1">
                <a:solidFill>
                  <a:srgbClr val="E2E8F0"/>
                </a:solidFill>
                <a:latin typeface="Segoe UI"/>
              </a:defRPr>
            </a:pPr>
            <a:r>
              <a:t>◆  Service Layer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├─ SMS Gateway (NetGSM/Twilio)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├─ Email Server (SMTP)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├─ OpenAI API (GPT-4o-mini)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└─ Payment Gateway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     ↓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1">
                <a:solidFill>
                  <a:srgbClr val="E2E8F0"/>
                </a:solidFill>
                <a:latin typeface="Segoe UI"/>
              </a:defRPr>
            </a:pPr>
            <a:r>
              <a:t>◆  Data Store (JSON / SQLite)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REKABET ANALIZI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Rakip Karsilastirma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554480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OZELLIK</a:t>
            </a:r>
          </a:p>
        </p:txBody>
      </p:sp>
      <p:sp>
        <p:nvSpPr>
          <p:cNvPr id="9" name="Rectangle 8"/>
          <p:cNvSpPr/>
          <p:nvPr/>
        </p:nvSpPr>
        <p:spPr>
          <a:xfrm>
            <a:off x="2712659" y="1554480"/>
            <a:ext cx="2255459" cy="384048"/>
          </a:xfrm>
          <a:prstGeom prst="rect">
            <a:avLst/>
          </a:prstGeom>
          <a:solidFill>
            <a:srgbClr val="D97706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58379" y="1554480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t>SmartCampus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68118" y="1554480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13838" y="1554480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94A3B8"/>
                </a:solidFill>
                <a:latin typeface="Segoe UI"/>
              </a:defRPr>
            </a:pPr>
            <a:r>
              <a:t>Vedubox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577" y="1554480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297" y="1554480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94A3B8"/>
                </a:solidFill>
                <a:latin typeface="Segoe UI"/>
              </a:defRPr>
            </a:pPr>
            <a:r>
              <a:t>Edval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79036" y="1554480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4756" y="1554480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94A3B8"/>
                </a:solidFill>
                <a:latin typeface="Segoe UI"/>
              </a:defRPr>
            </a:pPr>
            <a:r>
              <a:t>Turkcell Kampus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938528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1938528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2E8F0"/>
                </a:solidFill>
                <a:latin typeface="Segoe UI"/>
              </a:defRPr>
            </a:pPr>
            <a:r>
              <a:t>Web Modul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12659" y="1938528"/>
            <a:ext cx="2255459" cy="384048"/>
          </a:xfrm>
          <a:prstGeom prst="rect">
            <a:avLst/>
          </a:prstGeom>
          <a:solidFill>
            <a:srgbClr val="1A2537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58379" y="1938528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59E0B"/>
                </a:solidFill>
                <a:latin typeface="Segoe UI"/>
              </a:defRPr>
            </a:pPr>
            <a:r>
              <a:t>30+  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68118" y="1938528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13838" y="1938528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10-15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577" y="1938528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297" y="1938528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5-8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79036" y="1938528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24756" y="1938528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8-12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322576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322576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2E8F0"/>
                </a:solidFill>
                <a:latin typeface="Segoe UI"/>
              </a:defRPr>
            </a:pPr>
            <a:r>
              <a:t>Mobil Uygulama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12659" y="2322576"/>
            <a:ext cx="2255459" cy="384048"/>
          </a:xfrm>
          <a:prstGeom prst="rect">
            <a:avLst/>
          </a:prstGeom>
          <a:solidFill>
            <a:srgbClr val="1A2537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58379" y="2322576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59E0B"/>
                </a:solidFill>
                <a:latin typeface="Segoe UI"/>
              </a:defRPr>
            </a:pPr>
            <a:r>
              <a:t>5 Rol  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68118" y="2322576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13838" y="2322576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1 Rol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577" y="2322576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9297" y="2322576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9036" y="2322576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24756" y="2322576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2 Rol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706624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2706624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2E8F0"/>
                </a:solidFill>
                <a:latin typeface="Segoe UI"/>
              </a:defRPr>
            </a:pPr>
            <a:r>
              <a:t>AI Soru Uretimi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12659" y="2706624"/>
            <a:ext cx="2255459" cy="384048"/>
          </a:xfrm>
          <a:prstGeom prst="rect">
            <a:avLst/>
          </a:prstGeom>
          <a:solidFill>
            <a:srgbClr val="1A2537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58379" y="2706624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59E0B"/>
                </a:solidFill>
                <a:latin typeface="Segoe UI"/>
              </a:defRPr>
            </a:pPr>
            <a:r>
              <a:t>GPT-4o  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68118" y="2706624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13838" y="2706624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23577" y="2706624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69297" y="2706624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79036" y="2706624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24756" y="2706624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090672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3090672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2E8F0"/>
                </a:solidFill>
                <a:latin typeface="Segoe UI"/>
              </a:defRPr>
            </a:pPr>
            <a:r>
              <a:t>Online Sinav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12659" y="3090672"/>
            <a:ext cx="2255459" cy="384048"/>
          </a:xfrm>
          <a:prstGeom prst="rect">
            <a:avLst/>
          </a:prstGeom>
          <a:solidFill>
            <a:srgbClr val="1A2537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58379" y="3090672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59E0B"/>
                </a:solidFill>
                <a:latin typeface="Segoe UI"/>
              </a:defRPr>
            </a:pPr>
            <a:r>
              <a:t>Tam  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68118" y="3090672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13838" y="3090672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Temel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23577" y="3090672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69297" y="3090672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79036" y="3090672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24756" y="3090672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Temel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3474720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3474720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2E8F0"/>
                </a:solidFill>
                <a:latin typeface="Segoe UI"/>
              </a:defRPr>
            </a:pPr>
            <a:r>
              <a:t>Erken Uyari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12659" y="3474720"/>
            <a:ext cx="2255459" cy="384048"/>
          </a:xfrm>
          <a:prstGeom prst="rect">
            <a:avLst/>
          </a:prstGeom>
          <a:solidFill>
            <a:srgbClr val="1A2537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58379" y="3474720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59E0B"/>
                </a:solidFill>
                <a:latin typeface="Segoe UI"/>
              </a:defRPr>
            </a:pPr>
            <a:r>
              <a:t>32 Boyut  ✅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68118" y="3474720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13838" y="3474720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23577" y="3474720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69297" y="3474720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79036" y="3474720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24756" y="3474720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858768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" y="3858768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2E8F0"/>
                </a:solidFill>
                <a:latin typeface="Segoe UI"/>
              </a:defRPr>
            </a:pPr>
            <a:r>
              <a:t>Servis GPS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12659" y="3858768"/>
            <a:ext cx="2255459" cy="384048"/>
          </a:xfrm>
          <a:prstGeom prst="rect">
            <a:avLst/>
          </a:prstGeom>
          <a:solidFill>
            <a:srgbClr val="1A2537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58379" y="3858768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59E0B"/>
                </a:solidFill>
                <a:latin typeface="Segoe UI"/>
              </a:defRPr>
            </a:pPr>
            <a:r>
              <a:t>Canli  ✅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68118" y="3858768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13838" y="3858768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223577" y="3858768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269297" y="3858768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479036" y="3858768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524756" y="3858768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Var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4242816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2920" y="4242816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2E8F0"/>
                </a:solidFill>
                <a:latin typeface="Segoe UI"/>
              </a:defRPr>
            </a:pPr>
            <a:r>
              <a:t>Odeme Takip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12659" y="4242816"/>
            <a:ext cx="2255459" cy="384048"/>
          </a:xfrm>
          <a:prstGeom prst="rect">
            <a:avLst/>
          </a:prstGeom>
          <a:solidFill>
            <a:srgbClr val="1A2537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58379" y="4242816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59E0B"/>
                </a:solidFill>
                <a:latin typeface="Segoe UI"/>
              </a:defRPr>
            </a:pPr>
            <a:r>
              <a:t>Tam  ✅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968118" y="4242816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13838" y="4242816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Temel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223577" y="4242816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269297" y="4242816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479036" y="4242816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524756" y="4242816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Temel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626864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02920" y="4626864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2E8F0"/>
                </a:solidFill>
                <a:latin typeface="Segoe UI"/>
              </a:defRPr>
            </a:pPr>
            <a:r>
              <a:t>Mood Check-in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12659" y="4626864"/>
            <a:ext cx="2255459" cy="384048"/>
          </a:xfrm>
          <a:prstGeom prst="rect">
            <a:avLst/>
          </a:prstGeom>
          <a:solidFill>
            <a:srgbClr val="1A2537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58379" y="4626864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59E0B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68118" y="4626864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13838" y="4626864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223577" y="4626864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269297" y="4626864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479036" y="4626864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524756" y="4626864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" y="5010912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02920" y="5010912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2E8F0"/>
                </a:solidFill>
                <a:latin typeface="Segoe UI"/>
              </a:defRPr>
            </a:pPr>
            <a:r>
              <a:t>Multi-tenant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712659" y="5010912"/>
            <a:ext cx="2255459" cy="384048"/>
          </a:xfrm>
          <a:prstGeom prst="rect">
            <a:avLst/>
          </a:prstGeom>
          <a:solidFill>
            <a:srgbClr val="1A2537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758379" y="5010912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59E0B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968118" y="5010912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13838" y="5010912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10B981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223577" y="5010912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269297" y="5010912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479036" y="5010912"/>
            <a:ext cx="2255459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524756" y="5010912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10B981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7200" y="5394960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02920" y="5394960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2E8F0"/>
                </a:solidFill>
                <a:latin typeface="Segoe UI"/>
              </a:defRPr>
            </a:pPr>
            <a:r>
              <a:t>Sertifika PDF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712659" y="5394960"/>
            <a:ext cx="2255459" cy="384048"/>
          </a:xfrm>
          <a:prstGeom prst="rect">
            <a:avLst/>
          </a:prstGeom>
          <a:solidFill>
            <a:srgbClr val="1A2537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758379" y="5394960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59E0B"/>
                </a:solidFill>
                <a:latin typeface="Segoe UI"/>
              </a:defRPr>
            </a:pPr>
            <a:r>
              <a:t>7 Sablon  ✅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968118" y="5394960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013838" y="5394960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223577" y="5394960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269297" y="5394960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479036" y="5394960"/>
            <a:ext cx="2255459" cy="384048"/>
          </a:xfrm>
          <a:prstGeom prst="rect">
            <a:avLst/>
          </a:prstGeom>
          <a:solidFill>
            <a:srgbClr val="152033"/>
          </a:solidFill>
          <a:ln w="6350">
            <a:solidFill>
              <a:srgbClr val="333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524756" y="5394960"/>
            <a:ext cx="21640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1 Sablon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5760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t>✅ = Tam ozellik  |  Temel = Sinirli  |  ❌ = Yok   —   SmartCampus AI her kategoride lider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REKABET AVANTAJI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Fark Yaratan 10 Ozellik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645920"/>
            <a:ext cx="2011680" cy="1417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AI Soru Uretimi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Kazanim bazli GPT-4o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1645920"/>
            <a:ext cx="2011680" cy="1417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Mood Check-in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Gunluk duygu takibi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1645920"/>
            <a:ext cx="2011680" cy="1417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Servis GPS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Canli konum takibi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86600" y="1645920"/>
            <a:ext cx="2011680" cy="1417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Odeme Takip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Taksit + makbuz + geciken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1645920"/>
            <a:ext cx="2011680" cy="1417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⚠️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32 Boyut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AI erken uyari sistemi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246120"/>
            <a:ext cx="2011680" cy="1417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337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749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Soru Bankasi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7 tip, IRT, CAT, QTI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3246120"/>
            <a:ext cx="2011680" cy="1417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80" y="3337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3749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Sertifika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7 sablon, QR, toplu PDF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92040" y="3246120"/>
            <a:ext cx="2011680" cy="1417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92040" y="3337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3749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Barkod Kutuphane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348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1 saniye odunc/iade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86600" y="3246120"/>
            <a:ext cx="2011680" cy="1417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86600" y="3337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3749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 Rol Mobil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Offline, bildirim, tema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81160" y="3246120"/>
            <a:ext cx="2011680" cy="1417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81160" y="3337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3749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Multi-tenant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7260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Coklu kurum, izole veri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371600" y="5120640"/>
            <a:ext cx="9418320" cy="73152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71600" y="51206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🎯  Bu 10 ozelligin HICBIRI rakip platformlarda bir arada bulunmaz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DEGER ONERISI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Neden Biz?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164592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78308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77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FFFFFF"/>
                </a:solidFill>
                <a:latin typeface="Segoe UI Black"/>
              </a:defRPr>
            </a:pPr>
            <a:r>
              <a:t>TAM ENTEGRASYON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80160" y="2743200"/>
            <a:ext cx="237744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51560" y="292608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30+ modul birbirine bagli calisir.</a:t>
            </a:r>
            <a:br/>
            <a:r>
              <a:t>Veri tek merkezde, tekrarsiz.</a:t>
            </a:r>
            <a:br/>
            <a:r>
              <a:t>Kayittan mezuniyete tek platform.</a:t>
            </a:r>
            <a:br/>
            <a:r>
              <a:t>Hicbir veri kaybi veya tekrari yok.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4592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0" y="178308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77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FFFFFF"/>
                </a:solidFill>
                <a:latin typeface="Segoe UI Black"/>
              </a:defRPr>
            </a:pPr>
            <a:r>
              <a:t>AI NATIVE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92040" y="2743200"/>
            <a:ext cx="2377440" cy="0"/>
          </a:xfrm>
          <a:prstGeom prst="line">
            <a:avLst/>
          </a:prstGeom>
          <a:ln w="254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663440" y="292608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Yapay zeka sonradan eklenmedi.</a:t>
            </a:r>
            <a:br/>
            <a:r>
              <a:t>Temelinden AI ile tasarlandi.</a:t>
            </a:r>
            <a:br/>
            <a:r>
              <a:t>Soru uretimi, risk analizi, chat.</a:t>
            </a:r>
            <a:br/>
            <a:r>
              <a:t>Surekli gelisen AI yetenekleri.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64592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83880" y="178308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377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FFFFFF"/>
                </a:solidFill>
                <a:latin typeface="Segoe UI Black"/>
              </a:defRPr>
            </a:pPr>
            <a:r>
              <a:t>ENTERPRISE KALITE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503920" y="2743200"/>
            <a:ext cx="237744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75320" y="2926080"/>
            <a:ext cx="2834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Dunya standartlarinda UI/UX.</a:t>
            </a:r>
            <a:br/>
            <a:r>
              <a:t>JWT + bcrypt guvenlik.</a:t>
            </a:r>
            <a:br/>
            <a:r>
              <a:t>Multi-tenant mimari.</a:t>
            </a:r>
            <a:br/>
            <a:r>
              <a:t>99.9% uptime hedefi.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YATIRIM GETIRISI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ROI &amp; Deger Analizi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554480"/>
            <a:ext cx="24688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Segoe UI Black"/>
              </a:defRPr>
            </a:pPr>
            <a:r>
              <a:t>ZAMAN TASARRUFU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Ogretmen basi haftada</a:t>
            </a:r>
            <a:br/>
            <a:r>
              <a:t>5+ saat tasarruf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000" b="1">
                <a:solidFill>
                  <a:srgbClr val="3B82F6"/>
                </a:solidFill>
                <a:latin typeface="Segoe UI Black"/>
              </a:defRPr>
            </a:pPr>
            <a:r>
              <a:t>~%60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Idari is yukundeki azalma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554480"/>
            <a:ext cx="24688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057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Segoe UI Black"/>
              </a:defRPr>
            </a:pPr>
            <a:r>
              <a:t>KAGIT AZALMA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423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Dijital sinav, yoklama,</a:t>
            </a:r>
            <a:br/>
            <a:r>
              <a:t>form ile kagit maliyeti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2004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000" b="1">
                <a:solidFill>
                  <a:srgbClr val="10B981"/>
                </a:solidFill>
                <a:latin typeface="Segoe UI Black"/>
              </a:defRPr>
            </a:pPr>
            <a:r>
              <a:t>~%80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840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Kagit tuketimi azalma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554480"/>
            <a:ext cx="24688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057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Segoe UI Black"/>
              </a:defRPr>
            </a:pPr>
            <a:r>
              <a:t>VELI MEMNUNIYETI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423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Aninda bilgilenme, randevu,</a:t>
            </a:r>
            <a:br/>
            <a:r>
              <a:t>odeme kolayligi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2004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000" b="1">
                <a:solidFill>
                  <a:srgbClr val="8B5CF6"/>
                </a:solidFill>
                <a:latin typeface="Segoe UI Black"/>
              </a:defRPr>
            </a:pPr>
            <a:r>
              <a:t>~%40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840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Memnuniyet artisi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1554480"/>
            <a:ext cx="24688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057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Segoe UI Black"/>
              </a:defRPr>
            </a:pPr>
            <a:r>
              <a:t>KAYIT ARTISI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423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Dijital imaj, hizli iletisim,</a:t>
            </a:r>
            <a:br/>
            <a:r>
              <a:t>profesyonel algi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2004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000" b="1">
                <a:solidFill>
                  <a:srgbClr val="F59E0B"/>
                </a:solidFill>
                <a:latin typeface="Segoe UI Black"/>
              </a:defRPr>
            </a:pPr>
            <a:r>
              <a:t>~%25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840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Yeni kayit artisi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* Tahminler sektordeki dijital donusum verilerine dayanmaktadir. Gercek sonuclar kuruma gore degisebilir.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FIYATLANDIRMA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Esnek Paketler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137160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3B82F6"/>
                </a:solidFill>
                <a:latin typeface="Segoe UI Black"/>
              </a:defRPr>
            </a:pPr>
            <a:r>
              <a:t>⭐  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Kucuk Okullar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2286000"/>
            <a:ext cx="2743200" cy="0"/>
          </a:xfrm>
          <a:prstGeom prst="line">
            <a:avLst/>
          </a:prstGeom>
          <a:ln w="127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05840" y="2423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2E8F0"/>
                </a:solidFill>
                <a:latin typeface="Segoe UI"/>
              </a:defRPr>
            </a:pPr>
            <a:r>
              <a:t>✓  10 temel modul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706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2E8F0"/>
                </a:solidFill>
                <a:latin typeface="Segoe UI"/>
              </a:defRPr>
            </a:pPr>
            <a:r>
              <a:t>✓  1 yonetici + 10 ogretmen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181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2E8F0"/>
                </a:solidFill>
                <a:latin typeface="Segoe UI"/>
              </a:defRPr>
            </a:pPr>
            <a:r>
              <a:t>✓  Mobil uygulama (2 rol)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46557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2E8F0"/>
                </a:solidFill>
                <a:latin typeface="Segoe UI"/>
              </a:defRPr>
            </a:pPr>
            <a:r>
              <a:t>✓  Email destek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130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2E8F0"/>
                </a:solidFill>
                <a:latin typeface="Segoe UI"/>
              </a:defRPr>
            </a:pPr>
            <a:r>
              <a:t>✓  Aylik guncelleme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37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3B82F6"/>
                </a:solidFill>
                <a:latin typeface="Segoe UI"/>
              </a:defRPr>
            </a:pPr>
            <a:r>
              <a:t>Aylik TBD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137160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94960" y="1234440"/>
            <a:ext cx="1371600" cy="27432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1234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020617"/>
                </a:solidFill>
                <a:latin typeface="Segoe UI"/>
              </a:defRPr>
            </a:pPr>
            <a:r>
              <a:t>EN POPULER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F59E0B"/>
                </a:solidFill>
                <a:latin typeface="Segoe UI Black"/>
              </a:defRPr>
            </a:pPr>
            <a:r>
              <a:t>💎  PRO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19659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Orta Olcekli Okullar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09160" y="2286000"/>
            <a:ext cx="2743200" cy="0"/>
          </a:xfrm>
          <a:prstGeom prst="line">
            <a:avLst/>
          </a:prstGeom>
          <a:ln w="127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617720" y="2423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F59E0B"/>
                </a:solidFill>
                <a:latin typeface="Segoe UI"/>
              </a:defRPr>
            </a:pPr>
            <a:r>
              <a:t>✓  20 modul + AI ozellikler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7706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F59E0B"/>
                </a:solidFill>
                <a:latin typeface="Segoe UI"/>
              </a:defRPr>
            </a:pPr>
            <a:r>
              <a:t>✓  Sinirsiz kullanici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1181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F59E0B"/>
                </a:solidFill>
                <a:latin typeface="Segoe UI"/>
              </a:defRPr>
            </a:pPr>
            <a:r>
              <a:t>✓  Mobil uygulama (5 rol)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46557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F59E0B"/>
                </a:solidFill>
                <a:latin typeface="Segoe UI"/>
              </a:defRPr>
            </a:pPr>
            <a:r>
              <a:t>✓  SMS + Email entegrasyon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8130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F59E0B"/>
                </a:solidFill>
                <a:latin typeface="Segoe UI"/>
              </a:defRPr>
            </a:pPr>
            <a:r>
              <a:t>✓  Haftalik guncelleme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160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F59E0B"/>
                </a:solidFill>
                <a:latin typeface="Segoe UI"/>
              </a:defRPr>
            </a:pPr>
            <a:r>
              <a:t>✓  Oncelikli destek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937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Aylik TBD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137160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8B5CF6"/>
                </a:solidFill>
                <a:latin typeface="Segoe UI Black"/>
              </a:defRPr>
            </a:pPr>
            <a:r>
              <a:t>🚀  ENTERPRISE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19659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Buyuk Egitim Kurumlari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321040" y="2286000"/>
            <a:ext cx="2743200" cy="0"/>
          </a:xfrm>
          <a:prstGeom prst="line">
            <a:avLst/>
          </a:prstGeom>
          <a:ln w="127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229600" y="2423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2E8F0"/>
                </a:solidFill>
                <a:latin typeface="Segoe UI"/>
              </a:defRPr>
            </a:pPr>
            <a:r>
              <a:t>✓  30+ modul — TAM ERISIM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27706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2E8F0"/>
                </a:solidFill>
                <a:latin typeface="Segoe UI"/>
              </a:defRPr>
            </a:pPr>
            <a:r>
              <a:t>✓  Multi-tenant / coklu kampus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31181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2E8F0"/>
                </a:solidFill>
                <a:latin typeface="Segoe UI"/>
              </a:defRPr>
            </a:pPr>
            <a:r>
              <a:t>✓  Ozel entegrasyon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46557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2E8F0"/>
                </a:solidFill>
                <a:latin typeface="Segoe UI"/>
              </a:defRPr>
            </a:pPr>
            <a:r>
              <a:t>✓  7/24 destek + SLA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8130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2E8F0"/>
                </a:solidFill>
                <a:latin typeface="Segoe UI"/>
              </a:defRPr>
            </a:pPr>
            <a:r>
              <a:t>✓  Onsight egitim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160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2E8F0"/>
                </a:solidFill>
                <a:latin typeface="Segoe UI"/>
              </a:defRPr>
            </a:pPr>
            <a:r>
              <a:t>✓  Kaynak kod lisansi opsiyonu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4937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8B5CF6"/>
                </a:solidFill>
                <a:latin typeface="Segoe UI"/>
              </a:defRPr>
            </a:pPr>
            <a:r>
              <a:t>Ozel Teklif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760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4748B"/>
                </a:solidFill>
                <a:latin typeface="Segoe UI"/>
              </a:defRPr>
            </a:pPr>
            <a:r>
              <a:t>Fiyatlar ogrenci sayisina ve secilen modullere gore belirlenir  |  Yillik odeme %15 indirim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UYGULAMA SURECI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4 Adimda Hayata Gecis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1554480"/>
            <a:ext cx="228600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14500" y="173736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4500" y="17373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Segoe UI Black"/>
              </a:defRPr>
            </a:pPr>
            <a:r>
              <a:t>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08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Canli demo ile platformu</a:t>
            </a:r>
            <a:br/>
            <a:r>
              <a:t>taniyin. Sorularinizi</a:t>
            </a:r>
            <a:br/>
            <a:r>
              <a:t>yonetim ekibimize sorun.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4297680"/>
            <a:ext cx="1280160" cy="27432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42976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1-2 Gun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926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0">
                <a:solidFill>
                  <a:srgbClr val="F59E0B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1554480"/>
            <a:ext cx="228600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57700" y="173736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7700" y="17373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⚙️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Segoe UI Black"/>
              </a:defRPr>
            </a:pPr>
            <a:r>
              <a:t>KURULUM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108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Kurum bilgileri, kullanici</a:t>
            </a:r>
            <a:br/>
            <a:r>
              <a:t>tanimlama, veri aktarimi.</a:t>
            </a:r>
            <a:br/>
            <a:r>
              <a:t>Ozel yapilandirma.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69080" y="4297680"/>
            <a:ext cx="1280160" cy="27432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69080" y="42976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1-2 Hafta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2926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0">
                <a:solidFill>
                  <a:srgbClr val="F59E0B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554480"/>
            <a:ext cx="228600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00900" y="17373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00900" y="17373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Segoe UI Black"/>
              </a:defRPr>
            </a:pPr>
            <a:r>
              <a:t>EGITIM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108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Yonetici, ogretmen ve</a:t>
            </a:r>
            <a:br/>
            <a:r>
              <a:t>personel egitimi.</a:t>
            </a:r>
            <a:br/>
            <a:r>
              <a:t>Kullanim kilavuzlari.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12280" y="4297680"/>
            <a:ext cx="1280160" cy="274320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42976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1 Hafta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2926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0">
                <a:solidFill>
                  <a:srgbClr val="F59E0B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52560" y="1554480"/>
            <a:ext cx="228600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44100" y="173736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44100" y="17373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Segoe UI Black"/>
              </a:defRPr>
            </a:pPr>
            <a:r>
              <a:t>GO-LIVE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3108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Canli ortama gecis.</a:t>
            </a:r>
            <a:br/>
            <a:r>
              <a:t>7/24 destek.</a:t>
            </a:r>
            <a:br/>
            <a:r>
              <a:t>Ilk ay yogun takip.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55480" y="4297680"/>
            <a:ext cx="1280160" cy="27432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55480" y="42976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Surekli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71600" y="5212080"/>
            <a:ext cx="9418320" cy="64008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600" y="521208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🤝  Uygulama sureci boyunca ozel proje yoneticisi atanir  |  7/24 teknik destek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REFERANSLAR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Referanslar &amp; Basari Hikayeleri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1645920"/>
            <a:ext cx="3291840" cy="2926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200" b="0">
                <a:solidFill>
                  <a:srgbClr val="FFFFFF"/>
                </a:solidFill>
                <a:latin typeface="Segoe UI Emoji"/>
              </a:defRPr>
            </a:pPr>
            <a:r>
              <a:t>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Ozel Koleji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Istanbul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80160" y="2834640"/>
            <a:ext cx="2377440" cy="0"/>
          </a:xfrm>
          <a:prstGeom prst="line">
            <a:avLst/>
          </a:prstGeom>
          <a:ln w="127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3017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 sz="1000" b="0">
                <a:solidFill>
                  <a:srgbClr val="E2E8F0"/>
                </a:solidFill>
                <a:latin typeface="Segoe UI Light"/>
              </a:defRPr>
            </a:pPr>
            <a:r>
              <a:t>"SmartCampus ile idari islerimiz %60 azaldi.</a:t>
            </a:r>
            <a:br/>
            <a:r>
              <a:t>Velilerimiz cok memnun."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59E0B"/>
                </a:solidFill>
                <a:latin typeface="Segoe UI"/>
              </a:defRPr>
            </a:pPr>
            <a:r>
              <a:t>— Okul Muduru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45920"/>
            <a:ext cx="3291840" cy="2926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828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200" b="0">
                <a:solidFill>
                  <a:srgbClr val="FFFFFF"/>
                </a:solidFill>
                <a:latin typeface="Segoe UI Emoji"/>
              </a:defRPr>
            </a:pPr>
            <a:r>
              <a:t>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240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Ozel Koleji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5146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Ankara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92040" y="2834640"/>
            <a:ext cx="2377440" cy="0"/>
          </a:xfrm>
          <a:prstGeom prst="line">
            <a:avLst/>
          </a:prstGeom>
          <a:ln w="127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617720" y="3017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 sz="1000" b="0">
                <a:solidFill>
                  <a:srgbClr val="E2E8F0"/>
                </a:solidFill>
                <a:latin typeface="Segoe UI Light"/>
              </a:defRPr>
            </a:pPr>
            <a:r>
              <a:t>"AI soru uretimi ogretmenlerimizin</a:t>
            </a:r>
            <a:br/>
            <a:r>
              <a:t>is yukunu inanilmaz azaltti."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023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59E0B"/>
                </a:solidFill>
                <a:latin typeface="Segoe UI"/>
              </a:defRPr>
            </a:pPr>
            <a:r>
              <a:t>— Akademik Koordinator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645920"/>
            <a:ext cx="3291840" cy="2926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1828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200" b="0">
                <a:solidFill>
                  <a:srgbClr val="FFFFFF"/>
                </a:solidFill>
                <a:latin typeface="Segoe UI Emoji"/>
              </a:defRPr>
            </a:pPr>
            <a:r>
              <a:t>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240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Ozel Koleji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5146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Izmir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03920" y="2834640"/>
            <a:ext cx="2377440" cy="0"/>
          </a:xfrm>
          <a:prstGeom prst="line">
            <a:avLst/>
          </a:prstGeom>
          <a:ln w="127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29600" y="3017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 sz="1000" b="0">
                <a:solidFill>
                  <a:srgbClr val="E2E8F0"/>
                </a:solidFill>
                <a:latin typeface="Segoe UI Light"/>
              </a:defRPr>
            </a:pPr>
            <a:r>
              <a:t>"Mobil uygulama ile velilerimizle</a:t>
            </a:r>
            <a:br/>
            <a:r>
              <a:t>iletisimimiz mukemmel seviyede."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023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59E0B"/>
                </a:solidFill>
                <a:latin typeface="Segoe UI"/>
              </a:defRPr>
            </a:pPr>
            <a:r>
              <a:t>— Genel Mudur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5029200"/>
            <a:ext cx="9418320" cy="73152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0292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📋  Referans bilgileri guncellenmektedir.</a:t>
            </a:r>
            <a:br/>
            <a:r>
              <a:t>Canli demo sirasinda mevcut kullanicilarin deneyimlerini paylasmaktayiz.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ILETISIM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Bize Ulasin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828800" y="1645920"/>
            <a:ext cx="8503920" cy="3840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1">
                <a:solidFill>
                  <a:srgbClr val="F59E0B"/>
                </a:solidFill>
                <a:latin typeface="Segoe UI Black"/>
              </a:defRPr>
            </a:pPr>
            <a:r>
              <a:t>🏫  SmartCampus AI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0" y="2606040"/>
            <a:ext cx="484632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20040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59E0B"/>
                </a:solidFill>
                <a:latin typeface="Segoe UI Emoji"/>
              </a:rPr>
              <a:t>📧  </a:t>
            </a:r>
            <a:r>
              <a:rPr sz="1400" b="1">
                <a:solidFill>
                  <a:srgbClr val="94A3B8"/>
                </a:solidFill>
                <a:latin typeface="Segoe UI"/>
              </a:rPr>
              <a:t>Email:  </a:t>
            </a:r>
            <a:r>
              <a:rPr sz="1400" b="0">
                <a:solidFill>
                  <a:srgbClr val="FFFFFF"/>
                </a:solidFill>
                <a:latin typeface="Segoe UI"/>
              </a:rPr>
              <a:t>info@smartcampus.com.tr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337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59E0B"/>
                </a:solidFill>
                <a:latin typeface="Segoe UI Emoji"/>
              </a:rPr>
              <a:t>📱  </a:t>
            </a:r>
            <a:r>
              <a:rPr sz="1400" b="1">
                <a:solidFill>
                  <a:srgbClr val="94A3B8"/>
                </a:solidFill>
                <a:latin typeface="Segoe UI"/>
              </a:rPr>
              <a:t>Telefon:  </a:t>
            </a:r>
            <a:r>
              <a:rPr sz="1400" b="0">
                <a:solidFill>
                  <a:srgbClr val="FFFFFF"/>
                </a:solidFill>
                <a:latin typeface="Segoe UI"/>
              </a:rPr>
              <a:t>+90 (XXX) XXX XX XX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59E0B"/>
                </a:solidFill>
                <a:latin typeface="Segoe UI Emoji"/>
              </a:rPr>
              <a:t>🌐  </a:t>
            </a:r>
            <a:r>
              <a:rPr sz="1400" b="1">
                <a:solidFill>
                  <a:srgbClr val="94A3B8"/>
                </a:solidFill>
                <a:latin typeface="Segoe UI"/>
              </a:rPr>
              <a:t>Web:  </a:t>
            </a:r>
            <a:r>
              <a:rPr sz="1400" b="0">
                <a:solidFill>
                  <a:srgbClr val="FFFFFF"/>
                </a:solidFill>
                <a:latin typeface="Segoe UI"/>
              </a:rPr>
              <a:t>www.smartcampus.com.tr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343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59E0B"/>
                </a:solidFill>
                <a:latin typeface="Segoe UI Emoji"/>
              </a:rPr>
              <a:t>📍  </a:t>
            </a:r>
            <a:r>
              <a:rPr sz="1400" b="1">
                <a:solidFill>
                  <a:srgbClr val="94A3B8"/>
                </a:solidFill>
                <a:latin typeface="Segoe UI"/>
              </a:rPr>
              <a:t>Adres:  </a:t>
            </a:r>
            <a:r>
              <a:rPr sz="1400" b="0">
                <a:solidFill>
                  <a:srgbClr val="FFFFFF"/>
                </a:solidFill>
                <a:latin typeface="Segoe UI"/>
              </a:rPr>
              <a:t>Istanbul, Turkiye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8463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Demo talep edin  |  Ucretsiz deneme  |  Ozel teklif alin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60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Satis ekibimiz 24 saat icerisinde size donecektir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457200"/>
            <a:ext cx="2743200" cy="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57200" y="457200"/>
            <a:ext cx="0" cy="182880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5600" b="1">
                <a:solidFill>
                  <a:srgbClr val="FFFFFF"/>
                </a:solidFill>
                <a:latin typeface="Segoe UI Black"/>
              </a:defRPr>
            </a:pPr>
            <a:r>
              <a:t>SmartCampus 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3108960"/>
            <a:ext cx="3962095" cy="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600" b="1">
                <a:solidFill>
                  <a:srgbClr val="F59E0B"/>
                </a:solidFill>
                <a:latin typeface="Segoe UI Light"/>
              </a:defRPr>
            </a:pPr>
            <a:r>
              <a:t>Egitimin Gelecegi Burada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Yatiriminiz icin tesekkur ederiz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91295" y="6035040"/>
            <a:ext cx="2743200" cy="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734495" y="4206240"/>
            <a:ext cx="0" cy="182880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5029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4748B"/>
                </a:solidFill>
                <a:latin typeface="Segoe UI"/>
              </a:defRPr>
            </a:pPr>
            <a:r>
              <a:t>© 2026 SmartCampus AI  |  Tum haklari saklidir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BONUS: VERI MIMARISI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Veri Modeli &amp; Depolama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554480"/>
            <a:ext cx="24688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Akademik</a:t>
            </a:r>
            <a:r>
              <a:rPr sz="900" b="0">
                <a:solidFill>
                  <a:srgbClr val="64748B"/>
                </a:solidFill>
                <a:latin typeface="Segoe UI"/>
              </a:rPr>
              <a:t>  |  </a:t>
            </a:r>
            <a:r>
              <a:rPr sz="1100" b="1">
                <a:solidFill>
                  <a:srgbClr val="3B82F6"/>
                </a:solidFill>
                <a:latin typeface="Segoe UI"/>
              </a:rPr>
              <a:t>9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students, grades, attendance, schedule...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554480"/>
            <a:ext cx="24688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645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Olcme</a:t>
            </a:r>
            <a:r>
              <a:rPr sz="900" b="0">
                <a:solidFill>
                  <a:srgbClr val="64748B"/>
                </a:solidFill>
                <a:latin typeface="Segoe UI"/>
              </a:rPr>
              <a:t>  |  </a:t>
            </a:r>
            <a:r>
              <a:rPr sz="1100" b="1">
                <a:solidFill>
                  <a:srgbClr val="8B5CF6"/>
                </a:solidFill>
                <a:latin typeface="Segoe UI"/>
              </a:rPr>
              <a:t>12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questions, exams, sessions, results...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554480"/>
            <a:ext cx="24688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645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Rehberlik</a:t>
            </a:r>
            <a:r>
              <a:rPr sz="900" b="0">
                <a:solidFill>
                  <a:srgbClr val="64748B"/>
                </a:solidFill>
                <a:latin typeface="Segoe UI"/>
              </a:rPr>
              <a:t>  |  </a:t>
            </a:r>
            <a:r>
              <a:rPr sz="1100" b="1">
                <a:solidFill>
                  <a:srgbClr val="10B981"/>
                </a:solidFill>
                <a:latin typeface="Segoe UI"/>
              </a:rPr>
              <a:t>6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cases, interviews, mood, BEP...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1554480"/>
            <a:ext cx="24688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45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IK</a:t>
            </a:r>
            <a:r>
              <a:rPr sz="900" b="0">
                <a:solidFill>
                  <a:srgbClr val="64748B"/>
                </a:solidFill>
                <a:latin typeface="Segoe UI"/>
              </a:rPr>
              <a:t>  |  </a:t>
            </a:r>
            <a:r>
              <a:rPr sz="1100" b="1">
                <a:solidFill>
                  <a:srgbClr val="F97316"/>
                </a:solidFill>
                <a:latin typeface="Segoe UI"/>
              </a:rPr>
              <a:t>8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employees, positions, leaves, interviews...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743200"/>
            <a:ext cx="24688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834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Kayit</a:t>
            </a:r>
            <a:r>
              <a:rPr sz="900" b="0">
                <a:solidFill>
                  <a:srgbClr val="64748B"/>
                </a:solidFill>
                <a:latin typeface="Segoe UI"/>
              </a:rPr>
              <a:t>  |  </a:t>
            </a:r>
            <a:r>
              <a:rPr sz="1100" b="1">
                <a:solidFill>
                  <a:srgbClr val="06B6D4"/>
                </a:solidFill>
                <a:latin typeface="Segoe UI"/>
              </a:rPr>
              <a:t>5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applications, leads, campaigns...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2743200"/>
            <a:ext cx="24688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2834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Finans</a:t>
            </a:r>
            <a:r>
              <a:rPr sz="900" b="0">
                <a:solidFill>
                  <a:srgbClr val="64748B"/>
                </a:solidFill>
                <a:latin typeface="Segoe UI"/>
              </a:rPr>
              <a:t>  |  </a:t>
            </a:r>
            <a:r>
              <a:rPr sz="1100" b="1">
                <a:solidFill>
                  <a:srgbClr val="F59E0B"/>
                </a:solidFill>
                <a:latin typeface="Segoe UI"/>
              </a:rPr>
              <a:t>6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payments, invoices, plans...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2743200"/>
            <a:ext cx="24688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2834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Kurum</a:t>
            </a:r>
            <a:r>
              <a:rPr sz="900" b="0">
                <a:solidFill>
                  <a:srgbClr val="64748B"/>
                </a:solidFill>
                <a:latin typeface="Segoe UI"/>
              </a:rPr>
              <a:t>  |  </a:t>
            </a:r>
            <a:r>
              <a:rPr sz="1100" b="1">
                <a:solidFill>
                  <a:srgbClr val="14B8A6"/>
                </a:solidFill>
                <a:latin typeface="Segoe UI"/>
              </a:rPr>
              <a:t>7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schedule, menu, transport, requests...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32520" y="2743200"/>
            <a:ext cx="246888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2834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Iletisim</a:t>
            </a:r>
            <a:r>
              <a:rPr sz="900" b="0">
                <a:solidFill>
                  <a:srgbClr val="64748B"/>
                </a:solidFill>
                <a:latin typeface="Segoe UI"/>
              </a:rPr>
              <a:t>  |  </a:t>
            </a:r>
            <a:r>
              <a:rPr sz="1100" b="1">
                <a:solidFill>
                  <a:srgbClr val="EC4899"/>
                </a:solidFill>
                <a:latin typeface="Segoe UI"/>
              </a:rPr>
              <a:t>4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messages, SMS logs, templates...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931920"/>
            <a:ext cx="10881360" cy="201168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069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59E0B"/>
                </a:solidFill>
                <a:latin typeface="Segoe UI"/>
              </a:defRPr>
            </a:pPr>
            <a:r>
              <a:t>VERI AKIS DIYAGRAMI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4348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Kullanici (Web/Mobil)  →  API Gateway (FastAPI)  →  Service Layer  →  Data Store (JSON)</a:t>
            </a:r>
            <a:br/>
            <a:r>
              <a:t>              ↓                          ↓                       ↓                    ↓</a:t>
            </a:r>
            <a:br/>
            <a:r>
              <a:t>        Auth (JWT)            Validation           Business Logic      File System</a:t>
            </a:r>
            <a:br/>
            <a:r>
              <a:t>              ↓                          ↓                       ↓                    ↓</a:t>
            </a:r>
            <a:br/>
            <a:r>
              <a:t>        Session              Rate Limit             AI Services        Backup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BONUS: MEB UYUMU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MEB Mevzuat Uyumu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55448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✅  </a:t>
            </a:r>
            <a:r>
              <a:rPr sz="1200">
                <a:solidFill>
                  <a:srgbClr val="E2E8F0"/>
                </a:solidFill>
                <a:latin typeface="Segoe UI"/>
              </a:rPr>
              <a:t>MEB Mufredat: 6839 yillik plan kaydi, 14 ders, 1-12. sinif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✅  </a:t>
            </a:r>
            <a:r>
              <a:rPr sz="1200">
                <a:solidFill>
                  <a:srgbClr val="E2E8F0"/>
                </a:solidFill>
                <a:latin typeface="Segoe UI"/>
              </a:rPr>
              <a:t>Kazanim bazli takip: her ders icin MEB kazanim listesi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✅  </a:t>
            </a:r>
            <a:r>
              <a:rPr sz="1200">
                <a:solidFill>
                  <a:srgbClr val="E2E8F0"/>
                </a:solidFill>
                <a:latin typeface="Segoe UI"/>
              </a:rPr>
              <a:t>e-Okul entegrasyonu: veri export/import uyumlulugu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✅  </a:t>
            </a:r>
            <a:r>
              <a:rPr sz="1200">
                <a:solidFill>
                  <a:srgbClr val="E2E8F0"/>
                </a:solidFill>
                <a:latin typeface="Segoe UI"/>
              </a:rPr>
              <a:t>Sinav standartlari: LGS/TYT/AYT bolum yapilari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✅  </a:t>
            </a:r>
            <a:r>
              <a:rPr sz="1200">
                <a:solidFill>
                  <a:srgbClr val="E2E8F0"/>
                </a:solidFill>
                <a:latin typeface="Segoe UI"/>
              </a:rPr>
              <a:t>Devamsizlik kurallari: MEB mevzuati ile uyumlu limitter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✅  </a:t>
            </a:r>
            <a:r>
              <a:rPr sz="1200">
                <a:solidFill>
                  <a:srgbClr val="E2E8F0"/>
                </a:solidFill>
                <a:latin typeface="Segoe UI"/>
              </a:rPr>
              <a:t>Not sistemi: 100'luk + 5'lik + harf notu donusum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✅  </a:t>
            </a:r>
            <a:r>
              <a:rPr sz="1200">
                <a:solidFill>
                  <a:srgbClr val="E2E8F0"/>
                </a:solidFill>
                <a:latin typeface="Segoe UI"/>
              </a:rPr>
              <a:t>Karne formati: MEB standart karne sablonu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✅  </a:t>
            </a:r>
            <a:r>
              <a:rPr sz="1200">
                <a:solidFill>
                  <a:srgbClr val="E2E8F0"/>
                </a:solidFill>
                <a:latin typeface="Segoe UI"/>
              </a:rPr>
              <a:t>Disiplin sureci: MEB disiplin yonetmeligi adimlari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✅  </a:t>
            </a:r>
            <a:r>
              <a:rPr sz="1200">
                <a:solidFill>
                  <a:srgbClr val="E2E8F0"/>
                </a:solidFill>
                <a:latin typeface="Segoe UI"/>
              </a:rPr>
              <a:t>Ozel okul yonetmeligi: idari ve mali surecler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>
                <a:latin typeface="Segoe UI Emoji"/>
              </a:rPr>
              <a:t>✅  </a:t>
            </a:r>
            <a:r>
              <a:rPr sz="1200">
                <a:solidFill>
                  <a:srgbClr val="E2E8F0"/>
                </a:solidFill>
                <a:latin typeface="Segoe UI"/>
              </a:rPr>
              <a:t>KVKK uyumlulugu: kisisel veri koruma gereksinimleri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554480"/>
            <a:ext cx="3931920" cy="41148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6916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MEB VERI BANKASI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103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59E0B"/>
                </a:solidFill>
                <a:latin typeface="Segoe UI"/>
              </a:rPr>
              <a:t>6,839</a:t>
            </a:r>
            <a:r>
              <a:rPr sz="1100" b="0">
                <a:solidFill>
                  <a:srgbClr val="94A3B8"/>
                </a:solidFill>
                <a:latin typeface="Segoe UI"/>
              </a:rPr>
              <a:t>  Yillik Plan Kaydi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59E0B"/>
                </a:solidFill>
                <a:latin typeface="Segoe UI"/>
              </a:rPr>
              <a:t>14</a:t>
            </a:r>
            <a:r>
              <a:rPr sz="1100" b="0">
                <a:solidFill>
                  <a:srgbClr val="94A3B8"/>
                </a:solidFill>
                <a:latin typeface="Segoe UI"/>
              </a:rPr>
              <a:t>  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0175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59E0B"/>
                </a:solidFill>
                <a:latin typeface="Segoe UI"/>
              </a:rPr>
              <a:t>1-12</a:t>
            </a:r>
            <a:r>
              <a:rPr sz="1100" b="0">
                <a:solidFill>
                  <a:srgbClr val="94A3B8"/>
                </a:solidFill>
                <a:latin typeface="Segoe UI"/>
              </a:rPr>
              <a:t>  Sinif Kademesi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474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59E0B"/>
                </a:solidFill>
                <a:latin typeface="Segoe UI"/>
              </a:rPr>
              <a:t>7</a:t>
            </a:r>
            <a:r>
              <a:rPr sz="1100" b="0">
                <a:solidFill>
                  <a:srgbClr val="94A3B8"/>
                </a:solidFill>
                <a:latin typeface="Segoe UI"/>
              </a:rPr>
              <a:t>  Soru Tipi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931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59E0B"/>
                </a:solidFill>
                <a:latin typeface="Segoe UI"/>
              </a:rPr>
              <a:t>6</a:t>
            </a:r>
            <a:r>
              <a:rPr sz="1100" b="0">
                <a:solidFill>
                  <a:srgbClr val="94A3B8"/>
                </a:solidFill>
                <a:latin typeface="Segoe UI"/>
              </a:rPr>
              <a:t>  Bloom Seviyesi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BONUS: TELAFI SISTEMI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Otomatik Telafi &amp; Pekistirme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155448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F4444"/>
                </a:solidFill>
                <a:latin typeface="Segoe UI"/>
              </a:rPr>
              <a:t>RED (0-49)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11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Ciddi eksiklik — yogun telafi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69164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E2E8F0"/>
                </a:solidFill>
                <a:latin typeface="Segoe UI"/>
              </a:defRPr>
            </a:pPr>
            <a:r>
              <a:t>Ozet + Quiz-1 (hemen) + Quiz-2 (48 saat)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60604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697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97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59E0B"/>
                </a:solidFill>
                <a:latin typeface="Segoe UI"/>
              </a:rPr>
              <a:t>YELLOW (50-69)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63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Orta eksiklik — destekleyici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74320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E2E8F0"/>
                </a:solidFill>
                <a:latin typeface="Segoe UI"/>
              </a:defRPr>
            </a:pPr>
            <a:r>
              <a:t>Pekistirme (5 soru)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65760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749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749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0B981"/>
                </a:solidFill>
                <a:latin typeface="Segoe UI"/>
              </a:rPr>
              <a:t>GREEN (70-84)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Iyi seviye — surdurme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79476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E2E8F0"/>
                </a:solidFill>
                <a:latin typeface="Segoe UI"/>
              </a:defRPr>
            </a:pPr>
            <a:r>
              <a:t>Haftalik tekrar (8 soru)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70916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800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800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B82F6"/>
                </a:solidFill>
                <a:latin typeface="Segoe UI"/>
              </a:rPr>
              <a:t>BLUE (85-100)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66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Ustun — meydan okuma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484632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E2E8F0"/>
                </a:solidFill>
                <a:latin typeface="Segoe UI"/>
              </a:defRPr>
            </a:pPr>
            <a:r>
              <a:t>Zor set (5) + Hiz calismasi (10)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486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59E0B"/>
                </a:solidFill>
                <a:latin typeface="Segoe UI"/>
              </a:defRPr>
            </a:pPr>
            <a:r>
              <a:t>AutoGrader sinav sonrasi otomatik telafi gorevi olusturur  |  RemediationEngine ile entegre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BONUS: SINAV TIPLERI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7 Soru Tipi &amp; Sinav Cesitleri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554480"/>
            <a:ext cx="141732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MCQ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Coktan secmeli (4-5 sik)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1554480"/>
            <a:ext cx="141732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64592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0116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True/False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3317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Dogru-Yanlis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1554480"/>
            <a:ext cx="141732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164592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✍️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0116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Fill Blank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3317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Bosluk doldurma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1554480"/>
            <a:ext cx="141732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164592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0116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Matching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3317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Eslestirme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1554480"/>
            <a:ext cx="141732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164592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0116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Ordering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3317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Siralama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1554480"/>
            <a:ext cx="141732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164592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0116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Cloze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3317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Metin ici bosluk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84080" y="1554480"/>
            <a:ext cx="141732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164592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20116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Math Expr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23317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Matematik ifade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329184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3429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37947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Yazili Sinav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1148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Klasik kagit sinav, PDF cikti, optik form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83280" y="329184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0" y="3429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37947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Online Sinav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41148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Tab guvenlik, heartbeat, zamanlayici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26480" y="329184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3429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37947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AI Uretim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41148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Kazanim bazli otomatik soru uretimi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69680" y="329184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0" y="3429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📊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0" y="37947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LGS/TYT/AYT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41148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OSYM formati, bolum yapilari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BONUS: MULTI-TENANT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Coklu Kurum Mimarisi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55448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Kurum Izolasyonu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2103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Her kurum kendi veri alaninda.</a:t>
            </a:r>
            <a:br/>
            <a:r>
              <a:t>Bir kurumun verisi digerine</a:t>
            </a:r>
            <a:br/>
            <a:r>
              <a:t>asla gorulmez.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55448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057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Guvenli Ayristirma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377440"/>
            <a:ext cx="2103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Tenant ID bazli filtreleme.</a:t>
            </a:r>
            <a:br/>
            <a:r>
              <a:t>API seviyesinde zorunlu kontrol.</a:t>
            </a:r>
            <a:br/>
            <a:r>
              <a:t>Veri sizintisi imkansiz.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57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Kolay Ekleme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377440"/>
            <a:ext cx="2103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Yeni kurum dakikalar icinde.</a:t>
            </a:r>
            <a:br/>
            <a:r>
              <a:t>Sablon tabanli kurulum.</a:t>
            </a:r>
            <a:br/>
            <a:r>
              <a:t>Otomatik yapilandirma.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155448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057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Merkezi Yonetim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377440"/>
            <a:ext cx="2103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Super admin paneli.</a:t>
            </a:r>
            <a:br/>
            <a:r>
              <a:t>Tum kurumlar tek ekrandan.</a:t>
            </a:r>
            <a:br/>
            <a:r>
              <a:t>Toplu raporlama.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663440"/>
            <a:ext cx="10881360" cy="118872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54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  <a:spcAft>
                <a:spcPts val="0"/>
              </a:spcAft>
              <a:defRPr sz="1200" b="0">
                <a:solidFill>
                  <a:srgbClr val="E2E8F0"/>
                </a:solidFill>
                <a:latin typeface="Segoe UI"/>
              </a:defRPr>
            </a:pPr>
            <a:r>
              <a:t>🏫 Kurum A  ←→  🗄️ Veri A     |     🏫 Kurum B  ←→  🗄️ Veri B     |     🏫 Kurum C  ←→  🗄️ Veri C</a:t>
            </a:r>
            <a:br/>
            <a:br/>
            <a:r>
              <a:t>                                       ⬆️  Merkezi API Gateway + Auth  ⬆️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BONUS: GAMIFICATION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Ogrenci Motivasyonu &amp; Oyunlastirma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554480"/>
            <a:ext cx="164592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Rozetler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Basari rozetleri ile</a:t>
            </a:r>
            <a:br/>
            <a:r>
              <a:t>belirli hedeflere ulasma</a:t>
            </a:r>
            <a:br/>
            <a:r>
              <a:t>motivasyonu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1554480"/>
            <a:ext cx="164592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XP Puanlar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4688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Her aktivite icin</a:t>
            </a:r>
            <a:br/>
            <a:r>
              <a:t>puan kazanma,</a:t>
            </a:r>
            <a:br/>
            <a:r>
              <a:t>seviye atlama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554480"/>
            <a:ext cx="164592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Lider Tablosu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24688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Haftalik/aylik</a:t>
            </a:r>
            <a:br/>
            <a:r>
              <a:t>siralama listesi,</a:t>
            </a:r>
            <a:br/>
            <a:r>
              <a:t>sinif bazli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1554480"/>
            <a:ext cx="164592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Oduller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4688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Dijital ve fiziksel</a:t>
            </a:r>
            <a:br/>
            <a:r>
              <a:t>oduller, kupon</a:t>
            </a:r>
            <a:br/>
            <a:r>
              <a:t>sistemi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1554480"/>
            <a:ext cx="164592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Mini Oyunlar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24688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Matematik yarisi,</a:t>
            </a:r>
            <a:br/>
            <a:r>
              <a:t>kelime avı, hafiza,</a:t>
            </a:r>
            <a:br/>
            <a:r>
              <a:t>bulmaca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1554480"/>
            <a:ext cx="164592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FFFFFF"/>
                </a:solidFill>
                <a:latin typeface="Segoe UI Emoji"/>
              </a:defRPr>
            </a:pPr>
            <a:r>
              <a:t>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Seri (Streak)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24688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Ardisik gun calisma,</a:t>
            </a:r>
            <a:br/>
            <a:r>
              <a:t>kayip korkusu,</a:t>
            </a:r>
            <a:br/>
            <a:r>
              <a:t>alişkanlık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59E0B"/>
                </a:solidFill>
                <a:latin typeface="Segoe UI"/>
              </a:defRPr>
            </a:pPr>
            <a:r>
              <a:t>Arastirmalar gamification ile ogrenci katiliminin %40-60 arttigini gostermektedir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BONUS: SINAV GUVENLIGI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Online Sinav Gozetim Sistemi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55448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Browser Lockdown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2103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Tam ekran zorunlulugu.</a:t>
            </a:r>
            <a:br/>
            <a:r>
              <a:t>Diger uygulamalara gecis</a:t>
            </a:r>
            <a:br/>
            <a:r>
              <a:t>engellenir.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55448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057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Tab Izleme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377440"/>
            <a:ext cx="2103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Tab degistirme tespit.</a:t>
            </a:r>
            <a:br/>
            <a:r>
              <a:t>Otomatik uyari.</a:t>
            </a:r>
            <a:br/>
            <a:r>
              <a:t>Sinav gunlugu.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57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Heartbeat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377440"/>
            <a:ext cx="2103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Periyodik baglanti kontrolu.</a:t>
            </a:r>
            <a:br/>
            <a:r>
              <a:t>Kopma tespiti.</a:t>
            </a:r>
            <a:br/>
            <a:r>
              <a:t>Otomatik devam.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155448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FFFFFF"/>
                </a:solidFill>
                <a:latin typeface="Segoe UI Emoji"/>
              </a:defRPr>
            </a:pPr>
            <a:r>
              <a:t>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057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Risk Puanlama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377440"/>
            <a:ext cx="2103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Supheli davranis skoru.</a:t>
            </a:r>
            <a:br/>
            <a:r>
              <a:t>Otomatik bayrak.</a:t>
            </a:r>
            <a:br/>
            <a:r>
              <a:t>Inceleme kuyrugu.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54880"/>
            <a:ext cx="2468880" cy="731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8280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F59E0B"/>
                </a:solidFill>
                <a:latin typeface="Segoe UI Black"/>
              </a:defRPr>
            </a:pPr>
            <a:r>
              <a:t>Tab Switch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66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Tespit &amp; Kayit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4754880"/>
            <a:ext cx="2468880" cy="731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48280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F59E0B"/>
                </a:solidFill>
                <a:latin typeface="Segoe UI Black"/>
              </a:defRPr>
            </a:pPr>
            <a:r>
              <a:t>Heartbeat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5166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5 sn Aralik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4754880"/>
            <a:ext cx="2468880" cy="731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48280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F59E0B"/>
                </a:solidFill>
                <a:latin typeface="Segoe UI Black"/>
              </a:defRPr>
            </a:pPr>
            <a:r>
              <a:t>Risk 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5166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0-100 Arasi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69680" y="4754880"/>
            <a:ext cx="2468880" cy="731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0" y="48280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F59E0B"/>
                </a:solidFill>
                <a:latin typeface="Segoe UI Black"/>
              </a:defRPr>
            </a:pPr>
            <a:r>
              <a:t>Audit 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5166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Tam Gecmis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BONUS: RAPORLAMA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Kapsamli Raporlama Sistemi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554480"/>
            <a:ext cx="2468880" cy="3017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3B82F6"/>
                </a:solidFill>
                <a:latin typeface="Segoe UI Black"/>
              </a:defRPr>
            </a:pPr>
            <a:r>
              <a:t>AKADEMIK RAPORLAR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2057400"/>
            <a:ext cx="1920240" cy="0"/>
          </a:xfrm>
          <a:prstGeom prst="line">
            <a:avLst/>
          </a:prstGeom>
          <a:ln w="127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2194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Sinif bazli basari raporu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Ders bazli karsilastirma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Ogrenci gelisim grafigi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Karne &amp; transkript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554480"/>
            <a:ext cx="2468880" cy="3017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691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0B981"/>
                </a:solidFill>
                <a:latin typeface="Segoe UI Black"/>
              </a:defRPr>
            </a:pPr>
            <a:r>
              <a:t>IDARI RAPORLAR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57600" y="2057400"/>
            <a:ext cx="1920240" cy="0"/>
          </a:xfrm>
          <a:prstGeom prst="line">
            <a:avLst/>
          </a:prstGeom>
          <a:ln w="127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20440" y="2194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Devamsizlik analizi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Butce/finans raporu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Personel performans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Kayit istatistikleri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1554480"/>
            <a:ext cx="2468880" cy="3017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691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8B5CF6"/>
                </a:solidFill>
                <a:latin typeface="Segoe UI Black"/>
              </a:defRPr>
            </a:pPr>
            <a:r>
              <a:t>AI RAPORLAR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0" y="2057400"/>
            <a:ext cx="1920240" cy="0"/>
          </a:xfrm>
          <a:prstGeom prst="line">
            <a:avLst/>
          </a:prstGeom>
          <a:ln w="127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63640" y="2194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Risk analiz raporu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Tahmin modeli sonuclari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Soru kalite raporu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Ogrenme analitigi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1554480"/>
            <a:ext cx="2468880" cy="3017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1691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59E0B"/>
                </a:solidFill>
                <a:latin typeface="Segoe UI Black"/>
              </a:defRPr>
            </a:pPr>
            <a:r>
              <a:t>YONETICI RAPORLAR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44000" y="2057400"/>
            <a:ext cx="1920240" cy="0"/>
          </a:xfrm>
          <a:prstGeom prst="line">
            <a:avLst/>
          </a:prstGeom>
          <a:ln w="127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006840" y="2194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Dashboard ozet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Donem karsilastirma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KPI takip tablosu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◆  Trend analizi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029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59E0B"/>
                </a:solidFill>
                <a:latin typeface="Segoe UI"/>
              </a:defRPr>
            </a:pPr>
            <a:r>
              <a:t>Export Formatlari:  PDF  |  Excel  |  CSV  |  Plotly Interaktif  |  Email Otomatik Gonderim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9E0B"/>
                </a:solidFill>
                <a:latin typeface="Segoe UI Semibold"/>
              </a:defRPr>
            </a:pPr>
            <a:r>
              <a:t>BONUS: YOLI HARITASI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Segoe UI Black"/>
              </a:defRPr>
            </a:pPr>
            <a:r>
              <a:t>Urun Yol Haritasi — 2026-2027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005840"/>
            <a:ext cx="338328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554480"/>
            <a:ext cx="2468880" cy="32004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59E0B"/>
                </a:solidFill>
                <a:latin typeface="Segoe UI Black"/>
              </a:defRPr>
            </a:pPr>
            <a:r>
              <a:t>Q2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2057400"/>
            <a:ext cx="1188720" cy="22860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0574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MEVCUT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2E8F0"/>
                </a:solidFill>
                <a:latin typeface="Segoe UI"/>
              </a:defRPr>
            </a:pPr>
            <a:r>
              <a:t>✅  30+ web modul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2E8F0"/>
                </a:solidFill>
                <a:latin typeface="Segoe UI"/>
              </a:defRPr>
            </a:pPr>
            <a:r>
              <a:t>✅  99 mobil sayfa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83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2E8F0"/>
                </a:solidFill>
                <a:latin typeface="Segoe UI"/>
              </a:defRPr>
            </a:pPr>
            <a:r>
              <a:t>✅  143 API route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2E8F0"/>
                </a:solidFill>
                <a:latin typeface="Segoe UI"/>
              </a:defRPr>
            </a:pPr>
            <a:r>
              <a:t>✅  AI soru uretimi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248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F59E0B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1554480"/>
            <a:ext cx="24688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1691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B82F6"/>
                </a:solidFill>
                <a:latin typeface="Segoe UI Black"/>
              </a:defRPr>
            </a:pPr>
            <a:r>
              <a:t>Q3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2057400"/>
            <a:ext cx="1188720" cy="22860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20574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YAKIN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○  iOS uygulamasi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○  SQLite gecisi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383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○  WhatsApp entegrasyon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○  Video konferans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0448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F59E0B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1554480"/>
            <a:ext cx="24688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1691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0B981"/>
                </a:solidFill>
                <a:latin typeface="Segoe UI Black"/>
              </a:defRPr>
            </a:pPr>
            <a:r>
              <a:t>Q4 2026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0" y="2057400"/>
            <a:ext cx="1188720" cy="22860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20574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PLANLANAN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○  Ogrenme analitigi v2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○  Veli portal web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383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○  E-tahsilat entegrasyon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○  MEB e-Okul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13648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F59E0B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69680" y="1554480"/>
            <a:ext cx="24688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1691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8B5CF6"/>
                </a:solidFill>
                <a:latin typeface="Segoe UI Black"/>
              </a:defRPr>
            </a:pPr>
            <a:r>
              <a:t>Q1 2027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60" y="2057400"/>
            <a:ext cx="1188720" cy="228600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0" y="20574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VIZYON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○  Sesli AI asistan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○  AR/VR ogrenme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3383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○  Blockchain sertifika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○  Uluslararasi pazar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0617"/>
            </a:gs>
            <a:gs pos="100000">
              <a:srgbClr val="0F172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263640"/>
            <a:ext cx="10545775" cy="0"/>
          </a:xfrm>
          <a:prstGeom prst="line">
            <a:avLst/>
          </a:prstGeom>
          <a:ln w="952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94A3B8"/>
                </a:solidFill>
                <a:latin typeface="Segoe UI"/>
              </a:defRPr>
            </a:pPr>
            <a:r>
              <a:t>SmartCampus AI  |  Gizli &amp; Ozel  | 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457200"/>
            <a:ext cx="182880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57200" y="457200"/>
            <a:ext cx="0" cy="137160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905695" y="457200"/>
            <a:ext cx="182880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734495" y="457200"/>
            <a:ext cx="0" cy="137160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" y="6400800"/>
            <a:ext cx="182880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200" y="5029200"/>
            <a:ext cx="0" cy="137160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905695" y="6400800"/>
            <a:ext cx="1828800" cy="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734495" y="5029200"/>
            <a:ext cx="0" cy="1371600"/>
          </a:xfrm>
          <a:prstGeom prst="line">
            <a:avLst/>
          </a:prstGeom>
          <a:ln w="381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1371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0">
                <a:solidFill>
                  <a:srgbClr val="F59E0B"/>
                </a:solidFill>
                <a:latin typeface="Segoe UI Emoji"/>
              </a:defRPr>
            </a:pPr>
            <a:r>
              <a:t>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FFFFFF"/>
                </a:solidFill>
                <a:latin typeface="Segoe UI Black"/>
              </a:defRPr>
            </a:pPr>
            <a:r>
              <a:t>Tesekkurler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3017520"/>
            <a:ext cx="3047695" cy="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F59E0B"/>
                </a:solidFill>
                <a:latin typeface="Segoe UI Light"/>
              </a:defRPr>
            </a:pPr>
            <a:r>
              <a:t>SmartCampus AI — Egitimin Gelecegi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Sorulariniz icin hazirdayiz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E2E8F0"/>
                </a:solidFill>
                <a:latin typeface="Segoe UI"/>
              </a:defRPr>
            </a:pPr>
            <a:r>
              <a:t>📧 info@smartcampus.com.tr  |  🌐 www.smartcampus.com.tr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69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64748B"/>
                </a:solidFill>
                <a:latin typeface="Segoe UI"/>
              </a:defRPr>
            </a:pPr>
            <a:r>
              <a:t>© 2026 SmartCampus AI  |  Tum Hakları Saklidir  |  Gizli Dokuman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