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6803136"/>
            <a:ext cx="12191695" cy="54864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SmartCampus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59E0B"/>
                </a:solidFill>
              </a:defRPr>
            </a:pPr>
            <a:r>
              <a:t>Turkiye'nin En Kapsamli Egitim Yonetim Platformu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200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</a:defRPr>
            </a:pPr>
            <a:r>
              <a:t>40+ Modul  |  1.200+ Sekme  |  138+ AI Ozellik  |  28+ Tasarim Katmani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4114800"/>
            <a:ext cx="2286000" cy="4572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0" y="4114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20617"/>
                </a:solidFill>
              </a:defRPr>
            </a:pPr>
            <a:r>
              <a:t>ULTRA DIAMOND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Enterprise SaaS  |  Multi-Tenant  |  %100 Yerli  |  KVKK Uyumlu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1264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2025-2026 Ozel Okul Cozumleri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Ozel Okullarin Ortak Sorunlari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</a:defRPr>
            </a:pPr>
            <a:r>
              <a:t>Neden SmartCampus AI?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47472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4444"/>
                </a:solidFill>
              </a:defRPr>
            </a:pPr>
            <a:r>
              <a:t>X  Dagnik Sistemler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Farkli isler icin farkli yazilimlar.</a:t>
            </a:r>
            <a:br/>
            <a:r>
              <a:t>10+ ayri programa giris.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188720"/>
            <a:ext cx="347472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258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4444"/>
                </a:solidFill>
              </a:defRPr>
            </a:pPr>
            <a:r>
              <a:t>X  Veri Kaybi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82880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Excel tablolari kaybolur.</a:t>
            </a:r>
            <a:br/>
            <a:r>
              <a:t>Veri tutarsizligi olusur.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188720"/>
            <a:ext cx="347472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3258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4444"/>
                </a:solidFill>
              </a:defRPr>
            </a:pPr>
            <a:r>
              <a:t>X  Kayit Donus. Dusuk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182880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Arayan veliye geri donus yapilmaz.</a:t>
            </a:r>
            <a:br/>
            <a:r>
              <a:t>Pipeline takibi yok.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749040"/>
            <a:ext cx="347472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8862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4444"/>
                </a:solidFill>
              </a:defRPr>
            </a:pPr>
            <a:r>
              <a:t>X  Ogretmen Yuku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891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Kagit evrak, manuel raporlama.</a:t>
            </a:r>
            <a:br/>
            <a:r>
              <a:t>AI destegi yok.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3749040"/>
            <a:ext cx="347472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38862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4444"/>
                </a:solidFill>
              </a:defRPr>
            </a:pPr>
            <a:r>
              <a:t>X  Veli Memnuniyetsiz.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3891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Bilgiye erisemez.</a:t>
            </a:r>
            <a:br/>
            <a:r>
              <a:t>Cocugunun durumunu bilmez.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3749040"/>
            <a:ext cx="347472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38862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4444"/>
                </a:solidFill>
              </a:defRPr>
            </a:pPr>
            <a:r>
              <a:t>X  Olcme Yetersiz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3891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Sadece sinav notu.</a:t>
            </a:r>
            <a:br/>
            <a:r>
              <a:t>Kazanim, analiz, telafi yok.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SmartCampus AI — Tek Platformda Her Sey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</a:defRPr>
            </a:pPr>
            <a:r>
              <a:t>40+ Modul, 1.200+ Sekme, Sinirsiz Entegrasyon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2560320" cy="54864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</a:defRPr>
            </a:pPr>
            <a:r>
              <a:t>KURUM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9 Modul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0312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Kayit, IK, Butce, Randevu,</a:t>
            </a:r>
            <a:br/>
            <a:r>
              <a:t>Toplanti, Sosyal Medya,</a:t>
            </a:r>
            <a:br/>
            <a:r>
              <a:t>Kurum Hizm., Veli Kapsul (★)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18872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83280" y="1188720"/>
            <a:ext cx="2560320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371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</a:defRPr>
            </a:pPr>
            <a:r>
              <a:t>AKADEMIK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16916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17 Modul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10312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Akademik Takip, Olcme,</a:t>
            </a:r>
            <a:br/>
            <a:r>
              <a:t>Rehberlik, Yabanci Dil, Kocluk,</a:t>
            </a:r>
            <a:br/>
            <a:r>
              <a:t>AI Egitim, STEAM (★), Takvim (★)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18872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09360" y="1188720"/>
            <a:ext cx="2560320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371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CF6"/>
                </a:solidFill>
              </a:defRPr>
            </a:pPr>
            <a:r>
              <a:t>OPERASYON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6916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4 Modul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10312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Demirbas, Destek Hizmeti,</a:t>
            </a:r>
            <a:br/>
            <a:r>
              <a:t>Sivil Savunma &amp; ISG,</a:t>
            </a:r>
            <a:br/>
            <a:r>
              <a:t>Mezun Kariyer Yonetimi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118872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35440" y="1188720"/>
            <a:ext cx="2560320" cy="54864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1371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6B6D4"/>
                </a:solidFill>
              </a:defRPr>
            </a:pPr>
            <a:r>
              <a:t>AI &amp; SISTEM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16916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10+ Asistan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210312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AI Destek, Smarti AI 26 Asistan,</a:t>
            </a:r>
            <a:br/>
            <a:r>
              <a:t>AI Treni, Matematik Koyu,</a:t>
            </a:r>
            <a:br/>
            <a:r>
              <a:t>Bilisim Vadisi, Sanat Sokagi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754880"/>
            <a:ext cx="11247120" cy="1645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93776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59E0B"/>
                </a:solidFill>
              </a:defRPr>
            </a:pPr>
            <a:r>
              <a:t>40+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4864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Modul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06039" y="493776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59E0B"/>
                </a:solidFill>
              </a:defRPr>
            </a:pPr>
            <a:r>
              <a:t>1.200+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39" y="54864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Sekme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59" y="493776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59E0B"/>
                </a:solidFill>
              </a:defRPr>
            </a:pPr>
            <a:r>
              <a:t>700+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59" y="54864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Ozellik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79" y="493776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59E0B"/>
                </a:solidFill>
              </a:defRPr>
            </a:pPr>
            <a:r>
              <a:t>138+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79" y="54864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AI Ozellik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599" y="493776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59E0B"/>
                </a:solidFill>
              </a:defRPr>
            </a:pPr>
            <a:r>
              <a:t>28+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599" y="54864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Tasarim Katmani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04120" y="493776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59E0B"/>
                </a:solidFill>
              </a:defRPr>
            </a:pPr>
            <a:r>
              <a:t>K-12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04120" y="54864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Tum Kademeler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Kayit Modulu — Sifir Kayip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</a:defRPr>
            </a:pPr>
            <a:r>
              <a:t>Adaydan Kayda: Tam Otomasyon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47472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🎯  Pipeline Yonetimi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7 asamali aday takibi:</a:t>
            </a:r>
            <a:br/>
            <a:r>
              <a:t>Aday &gt; Arandi &gt; Randevu &gt;</a:t>
            </a:r>
            <a:br/>
            <a:r>
              <a:t>Gorusme &gt; Fiyat &gt; Sozlesme &gt; Kayit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188720"/>
            <a:ext cx="347472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280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🎯  12 Ay Data Arama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4592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Her ay icin performans KPI'lari.</a:t>
            </a:r>
            <a:br/>
            <a:r>
              <a:t>Gunluk/aylik arama hedefi.</a:t>
            </a:r>
            <a:br/>
            <a:r>
              <a:t>Ulasma, gorusme, kayit orani.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188720"/>
            <a:ext cx="347472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280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🎯  AI Kampanya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64592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AI kampanya stratejisti.</a:t>
            </a:r>
            <a:br/>
            <a:r>
              <a:t>Kademe bazli hedefleme.</a:t>
            </a:r>
            <a:br/>
            <a:r>
              <a:t>Referans + bursluluk sistemi.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749040"/>
            <a:ext cx="347472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840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🎯  Personel Performans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2062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Kim kac arama yapti?</a:t>
            </a:r>
            <a:br/>
            <a:r>
              <a:t>Gorusme/sozlesme/kayit sayisi.</a:t>
            </a:r>
            <a:br/>
            <a:r>
              <a:t>Karsilastirmali raporlar.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3749040"/>
            <a:ext cx="347472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840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🎯  Akilli Takip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2062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Otomatik takip planlama.</a:t>
            </a:r>
            <a:br/>
            <a:r>
              <a:t>Geciken aday uyarilari.</a:t>
            </a:r>
            <a:br/>
            <a:r>
              <a:t>Sicak/ilik/soguk analizi.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3749040"/>
            <a:ext cx="347472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3840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🎯  AI Lead Scoring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42062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Her aday icin kayit olasiligi.</a:t>
            </a:r>
            <a:br/>
            <a:r>
              <a:t>%0-100 skor + neden + aksiyon.</a:t>
            </a:r>
            <a:br/>
            <a:r>
              <a:t>Priorite belirleme.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Akademik Takip — 14 Sekmeli Mega Modul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</a:defRPr>
            </a:pPr>
            <a:r>
              <a:t>Kadro, Program, Not, Odev, Sinav, Rapor, KYT, Erken Uyari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188720"/>
            <a:ext cx="2743200" cy="14173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</a:defRPr>
            </a:pPr>
            <a:r>
              <a:t>Kadro &amp; Ogrenci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64592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Ogretmen + ogrenci</a:t>
            </a:r>
            <a:br/>
            <a:r>
              <a:t>yonetimi, PDF liste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1188720"/>
            <a:ext cx="2743200" cy="14173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280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</a:defRPr>
            </a:pPr>
            <a:r>
              <a:t>Ogretim &amp; Planlama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64592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MEB yillik plan,</a:t>
            </a:r>
            <a:br/>
            <a:r>
              <a:t>uygulama takibi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188720"/>
            <a:ext cx="2743200" cy="14173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280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</a:defRPr>
            </a:pPr>
            <a:r>
              <a:t>Ders Defteri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64592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Dijital ders defteri,</a:t>
            </a:r>
            <a:br/>
            <a:r>
              <a:t>sinif/ogretmen programi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89720" y="1188720"/>
            <a:ext cx="2743200" cy="14173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1280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</a:defRPr>
            </a:pPr>
            <a:r>
              <a:t>Gunluk Plan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164592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AI destekli gunluk</a:t>
            </a:r>
            <a:br/>
            <a:r>
              <a:t>ders plan olusturucu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" y="2880360"/>
            <a:ext cx="2743200" cy="14173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9718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</a:defRPr>
            </a:pPr>
            <a:r>
              <a:t>Dijital Ogrenme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33756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Online ders + platform</a:t>
            </a:r>
            <a:br/>
            <a:r>
              <a:t>entegrasyonu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46120" y="2880360"/>
            <a:ext cx="2743200" cy="14173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83280" y="29718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</a:defRPr>
            </a:pPr>
            <a:r>
              <a:t>Odev Takip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333756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Odev atama, teslim,</a:t>
            </a:r>
            <a:br/>
            <a:r>
              <a:t>QR kod, puan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2880360"/>
            <a:ext cx="2743200" cy="14173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29718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</a:defRPr>
            </a:pPr>
            <a:r>
              <a:t>Yoklama &amp; Not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33756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Toplu/tekil not girisi,</a:t>
            </a:r>
            <a:br/>
            <a:r>
              <a:t>devamsizlik takibi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89720" y="2880360"/>
            <a:ext cx="2743200" cy="14173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0" y="29718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</a:defRPr>
            </a:pPr>
            <a:r>
              <a:t>Sinav Sonuclari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333756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7 kaynaktan konsolide</a:t>
            </a:r>
            <a:br/>
            <a:r>
              <a:t>sonuc merkezi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4320" y="4572000"/>
            <a:ext cx="2743200" cy="14173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6634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</a:defRPr>
            </a:pPr>
            <a:r>
              <a:t>Raporlar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502920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Ogrenci/ogretmen</a:t>
            </a:r>
            <a:br/>
            <a:r>
              <a:t>performans analizi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46120" y="4572000"/>
            <a:ext cx="2743200" cy="14173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83280" y="46634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</a:defRPr>
            </a:pPr>
            <a:r>
              <a:t>Erken Uyari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3280" y="502920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10 bilesikli risk skoru,</a:t>
            </a:r>
            <a:br/>
            <a:r>
              <a:t>otomatik mudahale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4572000"/>
            <a:ext cx="2743200" cy="14173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46634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</a:defRPr>
            </a:pPr>
            <a:r>
              <a:t>Kazanim Takip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502920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Gunluk KYT yoklama,</a:t>
            </a:r>
            <a:br/>
            <a:r>
              <a:t>otomatik soru uretimi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89720" y="4572000"/>
            <a:ext cx="2743200" cy="14173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0" y="46634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</a:defRPr>
            </a:pPr>
            <a:r>
              <a:t>Borc Bankasi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502920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Kazanim borclari,</a:t>
            </a:r>
            <a:br/>
            <a:r>
              <a:t>AI yol haritasi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Olcme &amp; Degerlendirme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</a:defRPr>
            </a:pPr>
            <a:r>
              <a:t>MEB + OSYM Standartlarinda Sinav Sistemi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47472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5CF6"/>
                </a:solidFill>
              </a:defRPr>
            </a:pPr>
            <a:r>
              <a:t>📝  Soru Bankasi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7 soru tipi: Coktan secmeli, D/Y,</a:t>
            </a:r>
            <a:br/>
            <a:r>
              <a:t>bosluk, eslestirme, siralama,</a:t>
            </a:r>
            <a:br/>
            <a:r>
              <a:t>cloze, matematik ifadesi.</a:t>
            </a:r>
            <a:br/>
            <a:r>
              <a:t>Bloom taksonomisi + rubrik.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188720"/>
            <a:ext cx="347472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280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5CF6"/>
                </a:solidFill>
              </a:defRPr>
            </a:pPr>
            <a:r>
              <a:t>📝  AI Soru Uretimi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4592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Kazanim bazli otomatik soru.</a:t>
            </a:r>
            <a:br/>
            <a:r>
              <a:t>20 kademe blueprint.</a:t>
            </a:r>
            <a:br/>
            <a:r>
              <a:t>PDF + online sinav cikti.</a:t>
            </a:r>
            <a:br/>
            <a:r>
              <a:t>OSYM tarzi 2 sutun format.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188720"/>
            <a:ext cx="347472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280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5CF6"/>
                </a:solidFill>
              </a:defRPr>
            </a:pPr>
            <a:r>
              <a:t>📝  Online Sinav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64592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Tab guvenlik, sure takibi,</a:t>
            </a:r>
            <a:br/>
            <a:r>
              <a:t>sik karistirma, negatif puan.</a:t>
            </a:r>
            <a:br/>
            <a:r>
              <a:t>Otomatik puanlama.</a:t>
            </a:r>
            <a:br/>
            <a:r>
              <a:t>Aninda geri bildirim.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840480"/>
            <a:ext cx="347472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931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5CF6"/>
                </a:solidFill>
              </a:defRPr>
            </a:pPr>
            <a:r>
              <a:t>📝  Psikometrik Analiz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29768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IRT (1PL, 2PL, 3PL) modeli.</a:t>
            </a:r>
            <a:br/>
            <a:r>
              <a:t>Madde ayirt edicilik.</a:t>
            </a:r>
            <a:br/>
            <a:r>
              <a:t>Guvenilirlik + gecerlilik.</a:t>
            </a:r>
            <a:br/>
            <a:r>
              <a:t>Ulusal benchmark.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3840480"/>
            <a:ext cx="347472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931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5CF6"/>
                </a:solidFill>
              </a:defRPr>
            </a:pPr>
            <a:r>
              <a:t>📝  Adaptif Test (CAT)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29768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Fisher bilgi secimi.</a:t>
            </a:r>
            <a:br/>
            <a:r>
              <a:t>MLE yetenek tahmini.</a:t>
            </a:r>
            <a:br/>
            <a:r>
              <a:t>Otomatik zorluk ayari.</a:t>
            </a:r>
            <a:br/>
            <a:r>
              <a:t>SE bazli durdurma.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3840480"/>
            <a:ext cx="347472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3931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5CF6"/>
                </a:solidFill>
              </a:defRPr>
            </a:pPr>
            <a:r>
              <a:t>📝  Telafi Sistemi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429768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RED/YELLOW/GREEN/BLUE bant.</a:t>
            </a:r>
            <a:br/>
            <a:r>
              <a:t>Otomatik telafi gorevi.</a:t>
            </a:r>
            <a:br/>
            <a:r>
              <a:t>Quiz + tekrar + hiz calismasi.</a:t>
            </a:r>
            <a:br/>
            <a:r>
              <a:t>Renk kodlu performans.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Yabanci Dil &amp; AI Bireysel Egitim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</a:defRPr>
            </a:pPr>
            <a:r>
              <a:t>CEFR Uyumlu, Adaptif, Kisisellestirilmis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47472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B6D4"/>
                </a:solidFill>
              </a:defRPr>
            </a:pPr>
            <a:r>
              <a:t>CEFR Seviye Testi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Pre-A1'den C1'e seviye belirleme.</a:t>
            </a:r>
            <a:br/>
            <a:r>
              <a:t>Listening + Reading + Writing.</a:t>
            </a:r>
            <a:br/>
            <a:r>
              <a:t>Otomatik seviye atama.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188720"/>
            <a:ext cx="347472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280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B6D4"/>
                </a:solidFill>
              </a:defRPr>
            </a:pPr>
            <a:r>
              <a:t>4 Sinav Turu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4592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Haftalik, Quiz, Yazili, Deneme.</a:t>
            </a:r>
            <a:br/>
            <a:r>
              <a:t>Otomatik puanlama.</a:t>
            </a:r>
            <a:br/>
            <a:r>
              <a:t>Beceri bazli analiz.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188720"/>
            <a:ext cx="347472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280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B6D4"/>
                </a:solidFill>
              </a:defRPr>
            </a:pPr>
            <a:r>
              <a:t>Speaking Assessment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64592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Konusma degerlendirme.</a:t>
            </a:r>
            <a:br/>
            <a:r>
              <a:t>WPM + akicilik + telaffuz.</a:t>
            </a:r>
            <a:br/>
            <a:r>
              <a:t>CEFR seviye eslestirme.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840480"/>
            <a:ext cx="347472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931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AI Bireysel Egitim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29768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Kisisellestirilmis ogrenme yolu.</a:t>
            </a:r>
            <a:br/>
            <a:r>
              <a:t>Adaptif icerik secimi.</a:t>
            </a:r>
            <a:br/>
            <a:r>
              <a:t>Ogrenme stili analizi.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3840480"/>
            <a:ext cx="347472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931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Gamification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29768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XP, seviye, rozet sistemi.</a:t>
            </a:r>
            <a:br/>
            <a:r>
              <a:t>Haftalik siralama.</a:t>
            </a:r>
            <a:br/>
            <a:r>
              <a:t>Seri takibi + motivasyon.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3840480"/>
            <a:ext cx="347472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3931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5 Dil Destegi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429768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Ingilizce, Almanca, Fransizca,</a:t>
            </a:r>
            <a:br/>
            <a:r>
              <a:t>Ispanyolca, Italyanca.</a:t>
            </a:r>
            <a:br/>
            <a:r>
              <a:t>Fonetik + gramer + kelime.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Rehberlik &amp; Okul Sagligi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</a:defRPr>
            </a:pPr>
            <a:r>
              <a:t>Ogrenci Refahinin Tam Takibi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47472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🧠  Vaka Yonetimi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Ogrenci bazli vaka kaydi.</a:t>
            </a:r>
            <a:br/>
            <a:r>
              <a:t>Oncelik + durum takibi.</a:t>
            </a:r>
            <a:br/>
            <a:r>
              <a:t>Gorusme planlama.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188720"/>
            <a:ext cx="347472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280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🧠  36 MEB Formu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4592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B.K.G dijital formlar.</a:t>
            </a:r>
            <a:br/>
            <a:r>
              <a:t>Otomatik PDF cikti.</a:t>
            </a:r>
            <a:br/>
            <a:r>
              <a:t>MEB uyumlu arsivleme.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188720"/>
            <a:ext cx="347472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280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🧠  Psikolojik Testler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64592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Envanter uygulama.</a:t>
            </a:r>
            <a:br/>
            <a:r>
              <a:t>Otomatik puanlama.</a:t>
            </a:r>
            <a:br/>
            <a:r>
              <a:t>Olcek bazli analiz.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840480"/>
            <a:ext cx="347472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931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🧠  Aile Bilgi Formu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29768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Detayli aile profili.</a:t>
            </a:r>
            <a:br/>
            <a:r>
              <a:t>Sosyoekonomik analiz.</a:t>
            </a:r>
            <a:br/>
            <a:r>
              <a:t>Ozel ihtiyac tespiti.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3840480"/>
            <a:ext cx="347472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931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🧠  Revir Takibi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29768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Saglik ziyaret kaydi.</a:t>
            </a:r>
            <a:br/>
            <a:r>
              <a:t>Kronik durum takibi.</a:t>
            </a:r>
            <a:br/>
            <a:r>
              <a:t>Ilac + ası kaydı.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3840480"/>
            <a:ext cx="347472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3931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🧠  AI Risk Analizi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429768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Rehberlik + akademik + devamsizlik</a:t>
            </a:r>
            <a:br/>
            <a:r>
              <a:t>verileri birlestirip risk</a:t>
            </a:r>
            <a:br/>
            <a:r>
              <a:t>skoru hesaplama.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Ogrenci Zeka Merkezi (360 + Erken Uyari)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</a:defRPr>
            </a:pPr>
            <a:r>
              <a:t>Bir Ogrencinin A'dan Z'ye Tum Verileri Tek Ekranda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486400" cy="50292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9E0B"/>
                </a:solidFill>
              </a:defRPr>
            </a:pPr>
            <a:r>
              <a:t>43+ Veri Kaynagi — Tek Ekran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830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Akademik Notlar (yazili/proje/katilim)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7568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Devamsizlik Takibi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6829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Sinav Sonuclari (OD + YD + CEFR)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6090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Egitim Koclugu (12 veri turu)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5351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Rehberlik Vakalari + Gorusmeleri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461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MEB Dijital Formlar (36 form)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3872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Aile Bilgi Formu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83133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Erken Uyari Risk Skoru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12394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Kazanim Borclari + Telafi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41655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Kutuphane Odunc Gecmisi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7091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Servis &amp; Ulasim Bilgisi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00176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Sosyal Etkinlik &amp; Kulupler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9437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Gamification (XP, rozet, seri)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8698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Matematik/Bilisim/Sanat ilerleme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87959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English Progress &amp; Speaking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1722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Veli Randevulari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188720"/>
            <a:ext cx="5486400" cy="50292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1325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F4444"/>
                </a:solidFill>
              </a:defRPr>
            </a:pPr>
            <a:r>
              <a:t>Ogrenci Zeka Merkezi — Erken Uyari + 360 Profil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17830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</a:defRPr>
            </a:pPr>
            <a:r>
              <a:t>Not Riski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17830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Dusuk notlar → otomatik tespit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2402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</a:defRPr>
            </a:pPr>
            <a:r>
              <a:t>Devamsizlik Riski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22402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Artan devamsizlik → veli bildirim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6974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</a:defRPr>
            </a:pPr>
            <a:r>
              <a:t>Sinav Trendi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26974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Dusen sinav ortalamalari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1546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</a:defRPr>
            </a:pPr>
            <a:r>
              <a:t>Odev Riski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31546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Teslim edilmeyen odevler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6118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</a:defRPr>
            </a:pPr>
            <a:r>
              <a:t>Kazanim Borcu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36118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Kapanmayan kazanimlar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0690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</a:defRPr>
            </a:pPr>
            <a:r>
              <a:t>Rehberlik Riski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40690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Acik vakalar, gorusme ihtiyaci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5262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</a:defRPr>
            </a:pPr>
            <a:r>
              <a:t>Saglik Riski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45262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Sik revir ziyareti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9834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</a:defRPr>
            </a:pPr>
            <a:r>
              <a:t>Davranis Riski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49834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Disiplin olaylari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54406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</a:defRPr>
            </a:pPr>
            <a:r>
              <a:t>Trend Riski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54406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Yil bazli gerileme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8978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</a:defRPr>
            </a:pPr>
            <a:r>
              <a:t>YD Riski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2480" y="58978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CEFR seviye altinda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Kurum Yonetimi &amp; Operasyon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</a:defRPr>
            </a:pPr>
            <a:r>
              <a:t>IK, Butce, Toplanti, Demirbas, Guvenlik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188720"/>
            <a:ext cx="274320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</a:defRPr>
            </a:pPr>
            <a:r>
              <a:t>👥  Insan Kaynaklari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645920"/>
            <a:ext cx="2468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Personel kayit, izin takibi,</a:t>
            </a:r>
            <a:br/>
            <a:r>
              <a:t>performans degerlendirme,</a:t>
            </a:r>
            <a:br/>
            <a:r>
              <a:t>ozluk dosyasi.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1188720"/>
            <a:ext cx="274320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280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</a:defRPr>
            </a:pPr>
            <a:r>
              <a:t>💰  Butce &amp; Gelir-Gider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645920"/>
            <a:ext cx="2468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Gelir-gider takibi, butce</a:t>
            </a:r>
            <a:br/>
            <a:r>
              <a:t>planlama, fatura yonetimi,</a:t>
            </a:r>
            <a:br/>
            <a:r>
              <a:t>donem bazli raporlar.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188720"/>
            <a:ext cx="274320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280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</a:defRPr>
            </a:pPr>
            <a:r>
              <a:t>🤝  Toplanti &amp; Kurullar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645920"/>
            <a:ext cx="2468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Gundem, katilimci, karar</a:t>
            </a:r>
            <a:br/>
            <a:r>
              <a:t>takibi, PDF tutanak,</a:t>
            </a:r>
            <a:br/>
            <a:r>
              <a:t>otomatik hatirlatma.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89720" y="1188720"/>
            <a:ext cx="274320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1280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</a:defRPr>
            </a:pPr>
            <a:r>
              <a:t>🏛️  Kurum Hizmetleri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1645920"/>
            <a:ext cx="2468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Nobet, zaman cizelgesi,</a:t>
            </a:r>
            <a:br/>
            <a:r>
              <a:t>ders programi, yemek,</a:t>
            </a:r>
            <a:br/>
            <a:r>
              <a:t>servis, veli talepleri.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" y="3840480"/>
            <a:ext cx="274320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9319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</a:defRPr>
            </a:pPr>
            <a:r>
              <a:t>📱  Sosyal Medya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297680"/>
            <a:ext cx="2468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Icerik takvimi, AI post</a:t>
            </a:r>
            <a:br/>
            <a:r>
              <a:t>olusturucu, coklu platform</a:t>
            </a:r>
            <a:br/>
            <a:r>
              <a:t>paylasim + analitik.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46120" y="3840480"/>
            <a:ext cx="274320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83280" y="39319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</a:defRPr>
            </a:pPr>
            <a:r>
              <a:t>🗄️  Tuketim &amp; Demirbas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4297680"/>
            <a:ext cx="2468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Stok takibi, satin alma,</a:t>
            </a:r>
            <a:br/>
            <a:r>
              <a:t>zimmet, bakim kaydi,</a:t>
            </a:r>
            <a:br/>
            <a:r>
              <a:t>QR kodlu envanter.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840480"/>
            <a:ext cx="274320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39319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</a:defRPr>
            </a:pPr>
            <a:r>
              <a:t>⛑️  Sivil Savunma &amp; ISG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4297680"/>
            <a:ext cx="2468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Tatbikat planlama,</a:t>
            </a:r>
            <a:br/>
            <a:r>
              <a:t>risk degerlendirme,</a:t>
            </a:r>
            <a:br/>
            <a:r>
              <a:t>acil durum protokolleri.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89720" y="3840480"/>
            <a:ext cx="274320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0" y="39319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</a:defRPr>
            </a:pPr>
            <a:r>
              <a:t>📢  Halkla Iliskiler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4297680"/>
            <a:ext cx="2468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Kurum tanitim, etkinlik</a:t>
            </a:r>
            <a:br/>
            <a:r>
              <a:t>planlama, basin bulteni,</a:t>
            </a:r>
            <a:br/>
            <a:r>
              <a:t>e-dergi olusturucu.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Egitim Koclugu &amp; Veli Paneli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</a:defRPr>
            </a:pPr>
            <a:r>
              <a:t>Ogrenci Basarisini En Ust Seviyeye Tasima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2651760" cy="29260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🏅  1:1 Kocluk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2377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Bireysel hedef belirleme.</a:t>
            </a:r>
            <a:br/>
            <a:r>
              <a:t>Haftalik gorusme takibi.</a:t>
            </a:r>
            <a:br/>
            <a:r>
              <a:t>Motivasyon olcumu (6 olcek).</a:t>
            </a:r>
            <a:br/>
            <a:r>
              <a:t>Ilerleme raporlari.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188720"/>
            <a:ext cx="2651760" cy="29260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2801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🏅  Deneme Analizi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645920"/>
            <a:ext cx="2377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LGS/YKS/TYT deneme takibi.</a:t>
            </a:r>
            <a:br/>
            <a:r>
              <a:t>Ders bazli analiz.</a:t>
            </a:r>
            <a:br/>
            <a:r>
              <a:t>Net hesaplama + trend.</a:t>
            </a:r>
            <a:br/>
            <a:r>
              <a:t>Siralama karsilastirma.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188720"/>
            <a:ext cx="2651760" cy="29260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2801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🏅  Haftalik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645920"/>
            <a:ext cx="2377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Kisisellesmis calisma plani.</a:t>
            </a:r>
            <a:br/>
            <a:r>
              <a:t>Gunluk aktivite takibi.</a:t>
            </a:r>
            <a:br/>
            <a:r>
              <a:t>Tamamlanma orani.</a:t>
            </a:r>
            <a:br/>
            <a:r>
              <a:t>Veli gorunturlugu.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5440" y="1188720"/>
            <a:ext cx="2651760" cy="29260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12801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🏅  Veli Paneli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1645920"/>
            <a:ext cx="2377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Canli not/devamsizlik takibi.</a:t>
            </a:r>
            <a:br/>
            <a:r>
              <a:t>Sinav sonuclari gorunumu.</a:t>
            </a:r>
            <a:br/>
            <a:r>
              <a:t>Online sinav cozme.</a:t>
            </a:r>
            <a:br/>
            <a:r>
              <a:t>Mesaj sistemi + randevu.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572000"/>
            <a:ext cx="11247120" cy="13716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70916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59E0B"/>
                </a:solidFill>
              </a:defRPr>
            </a:pPr>
            <a:r>
              <a:t>AI 360° Mega Degerlendirme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</a:defRPr>
            </a:pPr>
            <a:r>
              <a:t>43+ veri kaynagindan toplanan tum ogrenci verileri → AI analiz → Guclu/zayif yonler + Risk + Tavsiye + Mudahale plani.</a:t>
            </a:r>
            <a:br/>
            <a:r>
              <a:t>Okul yoneticisi tek tikla ogrencinin tam resmini gorur. Uydurma yok — sadece veriye dayali analiz.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Yapay Zeka Entegrasyonu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</a:defRPr>
            </a:pPr>
            <a:r>
              <a:t>40+ AI Fonksiyon — Her Modülde Akilli Destek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188720"/>
            <a:ext cx="274320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BBF24"/>
                </a:solidFill>
              </a:defRPr>
            </a:pPr>
            <a:r>
              <a:t>🤖  AI Soru Uretimi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645920"/>
            <a:ext cx="2468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Kazanim bazli otomatik</a:t>
            </a:r>
            <a:br/>
            <a:r>
              <a:t>soru olusturma. Bloom</a:t>
            </a:r>
            <a:br/>
            <a:r>
              <a:t>taksonomisine uygun.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1188720"/>
            <a:ext cx="274320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280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BBF24"/>
                </a:solidFill>
              </a:defRPr>
            </a:pPr>
            <a:r>
              <a:t>🤖  AI Kampanya Stratejisi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645920"/>
            <a:ext cx="2468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Aylik kampanya plani.</a:t>
            </a:r>
            <a:br/>
            <a:r>
              <a:t>Icerik uretimi.</a:t>
            </a:r>
            <a:br/>
            <a:r>
              <a:t>Hedef kitle analizi.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188720"/>
            <a:ext cx="274320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280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BBF24"/>
                </a:solidFill>
              </a:defRPr>
            </a:pPr>
            <a:r>
              <a:t>🤖  AI Lead Scoring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645920"/>
            <a:ext cx="2468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Kayit olasiligi tahmini.</a:t>
            </a:r>
            <a:br/>
            <a:r>
              <a:t>Onceliklendirme.</a:t>
            </a:r>
            <a:br/>
            <a:r>
              <a:t>Aksiyon onerisi.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89720" y="1188720"/>
            <a:ext cx="274320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1280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BBF24"/>
                </a:solidFill>
              </a:defRPr>
            </a:pPr>
            <a:r>
              <a:t>🤖  AI Not Analizi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1645920"/>
            <a:ext cx="2468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Gorusme notlarindan</a:t>
            </a:r>
            <a:br/>
            <a:r>
              <a:t>duygu + niyet analizi.</a:t>
            </a:r>
            <a:br/>
            <a:r>
              <a:t>Sonraki adim onerisi.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" y="3840480"/>
            <a:ext cx="274320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9319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BBF24"/>
                </a:solidFill>
              </a:defRPr>
            </a:pPr>
            <a:r>
              <a:t>🤖  AI Gorusme Stratejisi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297680"/>
            <a:ext cx="2468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Veli profiline gore</a:t>
            </a:r>
            <a:br/>
            <a:r>
              <a:t>gorusme plani.</a:t>
            </a:r>
            <a:br/>
            <a:r>
              <a:t>Itiraz yonetimi.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46120" y="3840480"/>
            <a:ext cx="274320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83280" y="39319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BBF24"/>
                </a:solidFill>
              </a:defRPr>
            </a:pPr>
            <a:r>
              <a:t>🤖  AI 360° Rapor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4297680"/>
            <a:ext cx="2468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43 kaynaktan toplam</a:t>
            </a:r>
            <a:br/>
            <a:r>
              <a:t>gelisim raporu.</a:t>
            </a:r>
            <a:br/>
            <a:r>
              <a:t>Resmi belge formati.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840480"/>
            <a:ext cx="274320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39319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BBF24"/>
                </a:solidFill>
              </a:defRPr>
            </a:pPr>
            <a:r>
              <a:t>🤖  AI Ders Plani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4297680"/>
            <a:ext cx="2468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Gunluk ders plani</a:t>
            </a:r>
            <a:br/>
            <a:r>
              <a:t>olusturucu. MEB</a:t>
            </a:r>
            <a:br/>
            <a:r>
              <a:t>kazanimlarına uygun.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89720" y="3840480"/>
            <a:ext cx="274320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0" y="39319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BBF24"/>
                </a:solidFill>
              </a:defRPr>
            </a:pPr>
            <a:r>
              <a:t>🤖  AI Erken Uyari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4297680"/>
            <a:ext cx="2468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10 bilesikli risk</a:t>
            </a:r>
            <a:br/>
            <a:r>
              <a:t>hesaplama. Otomatik</a:t>
            </a:r>
            <a:br/>
            <a:r>
              <a:t>mudahale tetikleyici.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Teknik Altyapi &amp; Guvenlik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</a:defRPr>
            </a:pPr>
            <a:r>
              <a:t>Enterprise-Grade, Olceklenebilir, Guvenli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47472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B6D4"/>
                </a:solidFill>
              </a:defRPr>
            </a:pPr>
            <a:r>
              <a:t>🔒  Multi-Tenant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Her okul kendi izole</a:t>
            </a:r>
            <a:br/>
            <a:r>
              <a:t>veri alaninda.</a:t>
            </a:r>
            <a:br/>
            <a:r>
              <a:t>Veri karisma riski sifir.</a:t>
            </a:r>
            <a:br/>
            <a:r>
              <a:t>Sinirsiz okul destegi.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188720"/>
            <a:ext cx="347472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280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B6D4"/>
                </a:solidFill>
              </a:defRPr>
            </a:pPr>
            <a:r>
              <a:t>🔒  Rol Bazli Erisim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4592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SuperAdmin, Yonetici,</a:t>
            </a:r>
            <a:br/>
            <a:r>
              <a:t>Ogretmen, Ogrenci, Veli.</a:t>
            </a:r>
            <a:br/>
            <a:r>
              <a:t>Modul bazli yetkilendirme.</a:t>
            </a:r>
            <a:br/>
            <a:r>
              <a:t>Ozel izin tanimlama.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188720"/>
            <a:ext cx="347472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280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B6D4"/>
                </a:solidFill>
              </a:defRPr>
            </a:pPr>
            <a:r>
              <a:t>🔒  KVKK Uyumluluk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64592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Kisisel veri koruma.</a:t>
            </a:r>
            <a:br/>
            <a:r>
              <a:t>Onam yonetimi.</a:t>
            </a:r>
            <a:br/>
            <a:r>
              <a:t>Veri silme/anonim.</a:t>
            </a:r>
            <a:br/>
            <a:r>
              <a:t>Log kaydi.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840480"/>
            <a:ext cx="347472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931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B6D4"/>
                </a:solidFill>
              </a:defRPr>
            </a:pPr>
            <a:r>
              <a:t>🔒  %100 Yerli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29768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Turkce arayuz.</a:t>
            </a:r>
            <a:br/>
            <a:r>
              <a:t>MEB mufredati entegre.</a:t>
            </a:r>
            <a:br/>
            <a:r>
              <a:t>Turkiye'ye ozel ozellikler.</a:t>
            </a:r>
            <a:br/>
            <a:r>
              <a:t>Yerel destek.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3840480"/>
            <a:ext cx="347472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931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B6D4"/>
                </a:solidFill>
              </a:defRPr>
            </a:pPr>
            <a:r>
              <a:t>🔒  Cloud/On-Premise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29768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Bulut veya sunucu.</a:t>
            </a:r>
            <a:br/>
            <a:r>
              <a:t>Otomatik yedekleme.</a:t>
            </a:r>
            <a:br/>
            <a:r>
              <a:t>SSL/TLS sifreleme.</a:t>
            </a:r>
            <a:br/>
            <a:r>
              <a:t>%99.9 uptime.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3840480"/>
            <a:ext cx="347472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3931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B6D4"/>
                </a:solidFill>
              </a:defRPr>
            </a:pPr>
            <a:r>
              <a:t>🔒  API &amp; Entegrasyon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429768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LTI 1.3 (Moodle/Canvas).</a:t>
            </a:r>
            <a:br/>
            <a:r>
              <a:t>QTI 2.1 import/export.</a:t>
            </a:r>
            <a:br/>
            <a:r>
              <a:t>REST API.</a:t>
            </a:r>
            <a:br/>
            <a:r>
              <a:t>Webhook destegi.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Neden SmartCampus AI?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</a:defRPr>
            </a:pPr>
            <a:r>
              <a:t>Rakiplerden Farki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Ozellik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234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SmartCampus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234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Diger Yazilimlar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91640"/>
            <a:ext cx="11247120" cy="438912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737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Modul Sayisi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17373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0B981"/>
                </a:solidFill>
              </a:defRPr>
            </a:pPr>
            <a:r>
              <a:t>✓  27 entegre modul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7373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4444"/>
                </a:solidFill>
              </a:defRPr>
            </a:pPr>
            <a:r>
              <a:t>✗  5-10 ayri yazilim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148840"/>
            <a:ext cx="11247120" cy="438912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1945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AI Destegi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194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0B981"/>
                </a:solidFill>
              </a:defRPr>
            </a:pPr>
            <a:r>
              <a:t>✓  40+ AI fonksiyon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194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4444"/>
                </a:solidFill>
              </a:defRPr>
            </a:pPr>
            <a:r>
              <a:t>✗  Yok veya sinirli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606040"/>
            <a:ext cx="11247120" cy="438912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651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Kayit Pipeline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6517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0B981"/>
                </a:solidFill>
              </a:defRPr>
            </a:pPr>
            <a:r>
              <a:t>✓  7 asamali + AI scoring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6517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4444"/>
                </a:solidFill>
              </a:defRPr>
            </a:pPr>
            <a:r>
              <a:t>✗  Manuel Excel takibi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063240"/>
            <a:ext cx="11247120" cy="438912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1089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Olcme &amp; Degerlendirme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31089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0B981"/>
                </a:solidFill>
              </a:defRPr>
            </a:pPr>
            <a:r>
              <a:t>✓  IRT + CAT + Psikometrik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31089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4444"/>
                </a:solidFill>
              </a:defRPr>
            </a:pPr>
            <a:r>
              <a:t>✗  Sadece not girisi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520440"/>
            <a:ext cx="11247120" cy="438912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5661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Ogrenci Zeka Merkezi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35661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0B981"/>
                </a:solidFill>
              </a:defRPr>
            </a:pPr>
            <a:r>
              <a:t>✓  360 Profil + Risk Analizi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35661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4444"/>
                </a:solidFill>
              </a:defRPr>
            </a:pPr>
            <a:r>
              <a:t>✗  Yok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977640"/>
            <a:ext cx="11247120" cy="438912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023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Erken Uyari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40233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0B981"/>
                </a:solidFill>
              </a:defRPr>
            </a:pPr>
            <a:r>
              <a:t>✓  10 bilesikli AI risk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40233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4444"/>
                </a:solidFill>
              </a:defRPr>
            </a:pPr>
            <a:r>
              <a:t>✗  Yok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34840"/>
            <a:ext cx="11247120" cy="438912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4805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Yabanci Dil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0" y="4480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0B981"/>
                </a:solidFill>
              </a:defRPr>
            </a:pPr>
            <a:r>
              <a:t>✓  CEFR + 5 dil + Speaking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4480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4444"/>
                </a:solidFill>
              </a:defRPr>
            </a:pPr>
            <a:r>
              <a:t>✗  Yok veya harici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892040"/>
            <a:ext cx="11247120" cy="438912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4937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Veli Paneli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0" y="49377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0B981"/>
                </a:solidFill>
              </a:defRPr>
            </a:pPr>
            <a:r>
              <a:t>✓  Canli takip + online sinav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0" y="49377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4444"/>
                </a:solidFill>
              </a:defRPr>
            </a:pPr>
            <a:r>
              <a:t>✗  Sinirli bilgi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349240"/>
            <a:ext cx="11247120" cy="438912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53949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Multi-Tenant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0" y="53949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0B981"/>
                </a:solidFill>
              </a:defRPr>
            </a:pPr>
            <a:r>
              <a:t>✓  Sinirsiz okul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53949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4444"/>
                </a:solidFill>
              </a:defRPr>
            </a:pPr>
            <a:r>
              <a:t>✗  Tek okul lisansi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806440"/>
            <a:ext cx="11247120" cy="438912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8640" y="58521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Fiyat/Deger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0" y="58521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0B981"/>
                </a:solidFill>
              </a:defRPr>
            </a:pPr>
            <a:r>
              <a:t>✓  All-in-one tek fiyat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58521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4444"/>
                </a:solidFill>
              </a:defRPr>
            </a:pPr>
            <a:r>
              <a:t>✗  Modul basina ucret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Yatirim Getirisi (ROI)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</a:defRPr>
            </a:pPr>
            <a:r>
              <a:t>SmartCampus AI Kendini Ne Kadar Surede Oduyor?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2651760" cy="29260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2651760" cy="54864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</a:defRPr>
            </a:pPr>
            <a:r>
              <a:t>Kayit Donusum +%40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1168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Sifir kayip pipeline + AI scoring</a:t>
            </a:r>
            <a:br/>
            <a:r>
              <a:t>ile daha fazla ogrenci kaydi.</a:t>
            </a:r>
            <a:br/>
            <a:r>
              <a:t>250 ogr x %40 = 100 ek kayit.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188720"/>
            <a:ext cx="2651760" cy="29260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83280" y="1188720"/>
            <a:ext cx="2651760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37160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</a:defRPr>
            </a:pPr>
            <a:r>
              <a:t>Ogretmen Suresi -%60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201168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Manuel isler otomasyona.</a:t>
            </a:r>
            <a:br/>
            <a:r>
              <a:t>Haftalik 10+ saat tasarruf.</a:t>
            </a:r>
            <a:br/>
            <a:r>
              <a:t>50 ogretmen = 500 saat/hafta.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188720"/>
            <a:ext cx="2651760" cy="29260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09360" y="1188720"/>
            <a:ext cx="2651760" cy="54864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37160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</a:defRPr>
            </a:pPr>
            <a:r>
              <a:t>Veli Memnuniyeti +%35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01168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Seffaf bilgi erisimi.</a:t>
            </a:r>
            <a:br/>
            <a:r>
              <a:t>Anlik bildirimler.</a:t>
            </a:r>
            <a:br/>
            <a:r>
              <a:t>Dusuk kayip orani.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1188720"/>
            <a:ext cx="2651760" cy="29260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235440" y="1188720"/>
            <a:ext cx="2651760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600" y="137160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CF6"/>
                </a:solidFill>
              </a:defRPr>
            </a:pPr>
            <a:r>
              <a:t>Operasyonel Verimlilik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201168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Tek platform, sifir Excel.</a:t>
            </a:r>
            <a:br/>
            <a:r>
              <a:t>10 ayri yazilim → 1.</a:t>
            </a:r>
            <a:br/>
            <a:r>
              <a:t>IT maliyeti -%70.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28800" y="4572000"/>
            <a:ext cx="8503920" cy="13716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11680" y="4709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59E0B"/>
                </a:solidFill>
              </a:defRPr>
            </a:pPr>
            <a:r>
              <a:t>Ortalama Geri Odeme Suresi: 3-6 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5212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</a:defRPr>
            </a:pPr>
            <a:r>
              <a:t>Sadece kayit donusum artisiyla bile yillik yatirim kendini amorti eder.</a:t>
            </a:r>
            <a:br/>
            <a:r>
              <a:t>Diger tasarruflar (zaman, personel, veli memnuniyeti) bonus.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Veli &amp; Ogrenci Paneli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</a:defRPr>
            </a:pPr>
            <a:r>
              <a:t>Veliye Seffaflik, Ogrenciye Ozgurluk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188720"/>
            <a:ext cx="5669280" cy="52120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" y="1188720"/>
            <a:ext cx="5669280" cy="54864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B82F6"/>
                </a:solidFill>
              </a:defRPr>
            </a:pPr>
            <a:r>
              <a:t>VELI PANELI — 21 Sekme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Gunluk Bulten — Cocugunun gunu nasil gecti?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031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Canli Not &amp; Devamsizlik Takibi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231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Sinav Sonuclari &amp; Kazanim Analizi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743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Online Sinav Cozme (evden)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63239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Ders Programi &amp; Yemek Menusu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38328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Servis Takibi — Guzergah &amp; saat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7033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Randevu Sistemi — Online randevu 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023359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Belge Talep — Ogrenci belgesi iste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3434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Mesaj Sistemi — Ogretmenle iletisim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66344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Rehberlik &amp; Saglik Kayitlari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8348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AI Ogrenme Platformu erisimi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3035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Memnuniyet Anketi &amp; Geri Bildirim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623559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Matematik Koyu + Sanat Sokagi + Bilisim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9436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Smarti AI Asistan — 7/24 destek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188720"/>
            <a:ext cx="5669280" cy="52120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17920" y="1188720"/>
            <a:ext cx="5669280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1325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</a:defRPr>
            </a:pPr>
            <a:r>
              <a:t>OGRENCI PANELI — 14 Sekme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178308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Notlarim — Ders bazli not takibi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21031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Devamsizligim — Ozurlu/ozursuz detay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4231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Odevlerim — Teslim + puan goruntule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743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Sinav Sonuclarim — OD + YD + KYT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3063239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Kazanim Borclarim — Nerede eksigim?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338328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Telafi Gorevlerim — Kapatilacak borclar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7033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Ogrenci Defterim — AI profil analizi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4023359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KYT Sorulari — Gunluk kazanim yoklama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3434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AI Ogrenme Platformu — Dijital + AI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466344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Matematik Koyu — 20 oyun + bulmaca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498348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Sanat Sokagi — Ebru, muzik, yazarlik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53035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Bilisim Vadisi — Kodlama + deney lab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5623559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Smarti AI — Akilli ogrenme asistani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59436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  Yabanci Dil — Quiz + CEFR + Speaking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Yabanci Dil Ekosistemi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</a:defRPr>
            </a:pPr>
            <a:r>
              <a:t>5 Dil, CEFR, Speaking, Gamification — Eksiksiz Dil Ogretimi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188720"/>
            <a:ext cx="2743200" cy="24688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B6D4"/>
                </a:solidFill>
              </a:defRPr>
            </a:pPr>
            <a:r>
              <a:t>CEFR Seviye Sistemi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645920"/>
            <a:ext cx="2468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Pre-A1'den C1'e tam entegre.</a:t>
            </a:r>
            <a:br/>
            <a:r>
              <a:t>Otomatik seviye belirleme sinavi.</a:t>
            </a:r>
            <a:br/>
            <a:r>
              <a:t>Listening + Reading + Writing.</a:t>
            </a:r>
            <a:br/>
            <a:r>
              <a:t>Sinif bazli hedef CEFR atama.</a:t>
            </a:r>
            <a:br/>
            <a:r>
              <a:t>Ilerleme takibi + raporlama.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1188720"/>
            <a:ext cx="2743200" cy="24688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280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B6D4"/>
                </a:solidFill>
              </a:defRPr>
            </a:pPr>
            <a:r>
              <a:t>4 Sinav Formati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645920"/>
            <a:ext cx="2468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Haftalik Degerlendirme (10 soru)</a:t>
            </a:r>
            <a:br/>
            <a:r>
              <a:t>Quiz (15 soru)</a:t>
            </a:r>
            <a:br/>
            <a:r>
              <a:t>Yazili Sinav (25 soru)</a:t>
            </a:r>
            <a:br/>
            <a:r>
              <a:t>Deneme Sinavi (40 soru)</a:t>
            </a:r>
            <a:br/>
            <a:r>
              <a:t>Otomatik puanlama + analiz.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188720"/>
            <a:ext cx="2743200" cy="24688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280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B6D4"/>
                </a:solidFill>
              </a:defRPr>
            </a:pPr>
            <a:r>
              <a:t>Speaking Assessment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645920"/>
            <a:ext cx="2468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Sesli konusma degerlendirme.</a:t>
            </a:r>
            <a:br/>
            <a:r>
              <a:t>WPM (dakikada kelime) olcumu.</a:t>
            </a:r>
            <a:br/>
            <a:r>
              <a:t>Akicilik + telaffuz + gramer.</a:t>
            </a:r>
            <a:br/>
            <a:r>
              <a:t>CEFR seviye eslestirme.</a:t>
            </a:r>
            <a:br/>
            <a:r>
              <a:t>En iyi skor takibi.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89720" y="1188720"/>
            <a:ext cx="2743200" cy="24688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1280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5 Dil Destegi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1645920"/>
            <a:ext cx="2468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Ingilizce (tam kapsamli)</a:t>
            </a:r>
            <a:br/>
            <a:r>
              <a:t>Almanca (104 unite)</a:t>
            </a:r>
            <a:br/>
            <a:r>
              <a:t>Fransizca (fonetik + gramer)</a:t>
            </a:r>
            <a:br/>
            <a:r>
              <a:t>Ispanyolca</a:t>
            </a:r>
            <a:br/>
            <a:r>
              <a:t>Italyanca</a:t>
            </a:r>
            <a:br/>
            <a:r>
              <a:t>Her dil: kelime + gramer + okuma.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" y="3931920"/>
            <a:ext cx="2743200" cy="24688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023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Gamification Sistemi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389120"/>
            <a:ext cx="2468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XP kazanma + seviye atlama.</a:t>
            </a:r>
            <a:br/>
            <a:r>
              <a:t>Rozet koleksiyonu.</a:t>
            </a:r>
            <a:br/>
            <a:r>
              <a:t>Haftalik siralama tablosu.</a:t>
            </a:r>
            <a:br/>
            <a:r>
              <a:t>Calisma serisi (streak) takibi.</a:t>
            </a:r>
            <a:br/>
            <a:r>
              <a:t>Basari animasyonlari.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46120" y="3931920"/>
            <a:ext cx="2743200" cy="24688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83280" y="4023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Kisisel Dil Gelisimi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4389120"/>
            <a:ext cx="2468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Adaptif icerik secimi.</a:t>
            </a:r>
            <a:br/>
            <a:r>
              <a:t>Ogrenme stili analizi (VARK).</a:t>
            </a:r>
            <a:br/>
            <a:r>
              <a:t>Bireysel kelime bankasi.</a:t>
            </a:r>
            <a:br/>
            <a:r>
              <a:t>Zayif beceri odakli tekrar.</a:t>
            </a:r>
            <a:br/>
            <a:r>
              <a:t>AI tavsiye motoru.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931920"/>
            <a:ext cx="2743200" cy="24688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4023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</a:defRPr>
            </a:pPr>
            <a:r>
              <a:t>Interaktif Icerik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4389120"/>
            <a:ext cx="2468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Fonetik alfabe egitimi.</a:t>
            </a:r>
            <a:br/>
            <a:r>
              <a:t>Dinleme + anlama alistirmalari.</a:t>
            </a:r>
            <a:br/>
            <a:r>
              <a:t>Gramer kural kutuphanesi.</a:t>
            </a:r>
            <a:br/>
            <a:r>
              <a:t>Gunluk kelime + cumle.</a:t>
            </a:r>
            <a:br/>
            <a:r>
              <a:t>Flashcard + tekrar sistemi.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89720" y="3931920"/>
            <a:ext cx="2743200" cy="24688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0" y="4023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</a:defRPr>
            </a:pPr>
            <a:r>
              <a:t>Ogretmen Paneli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4389120"/>
            <a:ext cx="2468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Sinif bazli sonuc raporu.</a:t>
            </a:r>
            <a:br/>
            <a:r>
              <a:t>Beceri bazli analiz (4 skill).</a:t>
            </a:r>
            <a:br/>
            <a:r>
              <a:t>Odev atama + takip.</a:t>
            </a:r>
            <a:br/>
            <a:r>
              <a:t>CEFR ilerleme tablosu.</a:t>
            </a:r>
            <a:br/>
            <a:r>
              <a:t>AI soru uretimi.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AI Ogrenme Platformu — Dijital Kutuphane + AI Egitim Dunyasi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</a:defRPr>
            </a:pPr>
            <a:r>
              <a:t>Okumak, Kodlamak, Cizmek, Kesfetmek — Tek Platformda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2651760" cy="25603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5CF6"/>
                </a:solidFill>
              </a:defRPr>
            </a:pPr>
            <a:r>
              <a:t>📚  E-Kitap Kutuphanesi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2377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Kademe bazli dijital kitaplar.</a:t>
            </a:r>
            <a:br/>
            <a:r>
              <a:t>Okuma listesi + tavsiyeler.</a:t>
            </a:r>
            <a:br/>
            <a:r>
              <a:t>Ogretmen atamali okumalar.</a:t>
            </a:r>
            <a:br/>
            <a:r>
              <a:t>Okuma suresi takibi.</a:t>
            </a:r>
            <a:br/>
            <a:r>
              <a:t>Kitap degerlendirme.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188720"/>
            <a:ext cx="2651760" cy="25603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2801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</a:defRPr>
            </a:pPr>
            <a:r>
              <a:t>💻  Scratch Kodlama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645920"/>
            <a:ext cx="2377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MIT Scratch entegrasyonu.</a:t>
            </a:r>
            <a:br/>
            <a:r>
              <a:t>Hazir proje sablonlari.</a:t>
            </a:r>
            <a:br/>
            <a:r>
              <a:t>Adim adim rehberli projeler.</a:t>
            </a:r>
            <a:br/>
            <a:r>
              <a:t>Ogrenci proje galerisi.</a:t>
            </a:r>
            <a:br/>
            <a:r>
              <a:t>Kod paylasim + yorum.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188720"/>
            <a:ext cx="2651760" cy="25603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2801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🎨  Cizim Studyosu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645920"/>
            <a:ext cx="2377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15+ profesyonel cizim araci.</a:t>
            </a:r>
            <a:br/>
            <a:r>
              <a:t>Farkli firca + renk paleti.</a:t>
            </a:r>
            <a:br/>
            <a:r>
              <a:t>Katman destegi.</a:t>
            </a:r>
            <a:br/>
            <a:r>
              <a:t>PNG export.</a:t>
            </a:r>
            <a:br/>
            <a:r>
              <a:t>Portfolyo entegrasyonu.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5440" y="1188720"/>
            <a:ext cx="2651760" cy="25603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12801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✏️  Rehberli Cizim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1645920"/>
            <a:ext cx="2377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Adim adim cizim dersleri.</a:t>
            </a:r>
            <a:br/>
            <a:r>
              <a:t>Yas grubuna uygun seviye.</a:t>
            </a:r>
            <a:br/>
            <a:r>
              <a:t>Video + animasyon rehber.</a:t>
            </a:r>
            <a:br/>
            <a:r>
              <a:t>Tamamlama rozeti.</a:t>
            </a:r>
            <a:br/>
            <a:r>
              <a:t>Ogretmen degerlendirme.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114800"/>
            <a:ext cx="1124712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25196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59E0B"/>
                </a:solidFill>
              </a:defRPr>
            </a:pPr>
            <a:r>
              <a:t>Ogrenci Galerisi &amp; Portfolyo Sistemi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70916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</a:defRPr>
            </a:pPr>
            <a:r>
              <a:t>Her ogrencinin dijital portfolyosu otomatik olusur. Cizimler, kodlama projeleri, sanat eserleri,</a:t>
            </a:r>
            <a:br/>
            <a:r>
              <a:t>okuma listeleri — hepsi tek yerde. Veli goruntuleyebilir, ogretmen degerlendirebilir.</a:t>
            </a:r>
            <a:br/>
            <a:r>
              <a:t>Yil sonu portfolyo PDF raporu ile ogrenci gelisimi somut olarak gosterilir.</a:t>
            </a:r>
            <a:br/>
            <a:br/>
            <a:r>
              <a:t>Haftalik vitrin secimi ile en iyi eserler okul genelinde sergilenir — motivasyon + gurur.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Interaktif Ogrenme Dunyalari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</a:defRPr>
            </a:pPr>
            <a:r>
              <a:t>Matematik Koyu | Bilisim Vadisi | Sanat Sokagi — Ogrenmek Eglence Olsun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188720"/>
            <a:ext cx="3749039" cy="50292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" y="1188720"/>
            <a:ext cx="3749039" cy="54864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</a:defRPr>
            </a:pPr>
            <a:r>
              <a:t>🏘️ Matematik Koyu — 20 Modul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Oyun Parki — 10+ matematik oyunu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Bulmaca Kulesi — Sudoku, piramit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2316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Olimpiyat Arenasi — Zor problemler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74320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3D Geometri Laboratuvari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063239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Carpim Hiz Yarisi — Refleks oyunu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38328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Kesir Lab — Pizza, pasta ile ogren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0332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Denklem Terazisi — Gorsel algebra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023359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Dikkat Gelistirme Sistemi (DGS)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4340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LGS/YKS Soru Bankasi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66344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Gunluk Maraton — Her gun 10 soru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98348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Turnuva Sahasi — Siniflar arasi yarisma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30352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Formul Kutuphanesi + Sozluk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623559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Adim Adim Cozum — Video rehber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Ogrenci Raporu — Ilerleme analizi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06240" y="1188720"/>
            <a:ext cx="3749039" cy="50292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06240" y="1188720"/>
            <a:ext cx="3749039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13258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</a:defRPr>
            </a:pPr>
            <a:r>
              <a:t>💻 Bilisim Vadisi — 16+ Modul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178308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Kodlamaya Giris — Blok + metin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210312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Python Lab — Kod yaz &amp; calistir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242316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Algoritma Lab — Siralama, arama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274320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Bug Hunter — Hata bulma oyunu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3063239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Fizik Lab — Devre simulasyonu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338328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Kimya Lab — Deney simule 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370332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Biyoloji Lab — Insan vucudu 3D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4023359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Uzay &amp; Evren — Gunes sistemi 3D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0" y="434340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Periyodik Tablo — Interaktif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66344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Bilim Insanlari — Biyografi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0" y="498348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Bilim Tarihi — Zaman cizelgesi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530352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Eglenceli Bilim — Deney videolari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5623559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Bilim Quizi — Test bilgini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594360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Kavramlar Kutuphanesi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38160" y="1188720"/>
            <a:ext cx="3749039" cy="50292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138160" y="1188720"/>
            <a:ext cx="3749039" cy="54864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21040" y="13258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</a:defRPr>
            </a:pPr>
            <a:r>
              <a:t>🎨 Sanat Sokagi — 14 Modul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178308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Dijital Ebru — Geleneksel sanat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210312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Renk Dunyasi — Karistirma + oyun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242316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Muzik Atolyesi — Piyano + teori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274320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Yaratici Yazarlik — Hikaye + siir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3063239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Fotograf &amp; Kompozisyon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40" y="338328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Sanat Muzesi — Ressamlar + akimlar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370332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El Sanatlari — Origami, kolaj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4023359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Sinema &amp; Animasyon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1040" y="434340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Mimari &amp; Tasarim — Unlu yapilar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466344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Kaligrafi &amp; Hat Sanati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498348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Tiyatro Sahnesi — Oyun yazma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40" y="530352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Sanat Gunlugu &amp; Portfolyo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5623559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Hibrit Muzik — Radyo + sentez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594360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Bireysel Ilerleme Takibi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AI Treni &amp; Okul Oncesi / Ilkokul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</a:defRPr>
            </a:pPr>
            <a:r>
              <a:t>Her Yas Grubuna Ozel Deneyim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188720"/>
            <a:ext cx="5669280" cy="24688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" y="1188720"/>
            <a:ext cx="5669280" cy="54864"/>
          </a:xfrm>
          <a:prstGeom prst="round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BBF24"/>
                </a:solidFill>
              </a:defRPr>
            </a:pPr>
            <a:r>
              <a:t>🚂 AI Treni — Interaktif AI Ogrenme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Yapay zeka destekli egitim istasyonlari:</a:t>
            </a:r>
            <a:br/>
            <a:r>
              <a:t>  Bilgi Istasyonu — AI ile soru-cevap, arastirma</a:t>
            </a:r>
            <a:br/>
            <a:r>
              <a:t>  Yaratici Istasyon — Hikaye, siir, kompozisyon uretimi</a:t>
            </a:r>
            <a:br/>
            <a:r>
              <a:t>  Matematik Istasyonu — Adim adim problem cozumu</a:t>
            </a:r>
            <a:br/>
            <a:r>
              <a:t>  Dil Istasyonu — Ceviri, gramer, kelime calismasi</a:t>
            </a:r>
            <a:br/>
            <a:r>
              <a:t>  Fen Istasyonu — Deney planlama, kavram aciklama</a:t>
            </a:r>
            <a:br/>
            <a:r>
              <a:t>  Sinav Istasyonu — Konu bazli pratik soru uretimi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188720"/>
            <a:ext cx="5669280" cy="24688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188720"/>
            <a:ext cx="5669280" cy="54864"/>
          </a:xfrm>
          <a:prstGeom prst="roundRect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325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9B4"/>
                </a:solidFill>
              </a:defRPr>
            </a:pPr>
            <a:r>
              <a:t>🎨 Okul Oncesi — Gunu Nasil Gecti?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783080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Veliye gunluk dijital bulten:</a:t>
            </a:r>
            <a:br/>
            <a:r>
              <a:t>  Etkinlikler — Bugün ne yaptik?</a:t>
            </a:r>
            <a:br/>
            <a:r>
              <a:t>  Beslenme — Ne yedi, ne icti?</a:t>
            </a:r>
            <a:br/>
            <a:r>
              <a:t>  Duygular — Mutlu/uzgun/heyecanli</a:t>
            </a:r>
            <a:br/>
            <a:r>
              <a:t>  Arkadaslik — Kimlerle oynadi?</a:t>
            </a:r>
            <a:br/>
            <a:r>
              <a:t>  Davranis — Kurallara uyum</a:t>
            </a:r>
            <a:br/>
            <a:r>
              <a:t>  Ayrilma — Veli ayriligi nasil gecti?</a:t>
            </a:r>
            <a:br/>
            <a:r>
              <a:t>  Tuvalet &amp; Uyku — Gunluk rutin</a:t>
            </a:r>
            <a:br/>
            <a:r>
              <a:t>  Odev — Eve verilecek etkinlik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3931920"/>
            <a:ext cx="11612880" cy="23774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3931920"/>
            <a:ext cx="11612880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069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</a:defRPr>
            </a:pPr>
            <a:r>
              <a:t>📚 Ilkokul Modulu — Yas Grubuna Ozel Arayuz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52628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Gunluk Rapor</a:t>
            </a:r>
            <a:br/>
            <a:r>
              <a:t>Veli Geri Bildirim</a:t>
            </a:r>
            <a:br/>
            <a:r>
              <a:t>Kazanim Borc Bankasi</a:t>
            </a:r>
            <a:br/>
            <a:r>
              <a:t>Devamsizlik Takibi</a:t>
            </a:r>
            <a:br/>
            <a:r>
              <a:t>Odev Yonetimi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452628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Kazanim Odevleri</a:t>
            </a:r>
            <a:br/>
            <a:r>
              <a:t>Saglik Kayitlari</a:t>
            </a:r>
            <a:br/>
            <a:r>
              <a:t>Rehberlik Destek</a:t>
            </a:r>
            <a:br/>
            <a:r>
              <a:t>Test Sonuclari</a:t>
            </a:r>
            <a:br/>
            <a:r>
              <a:t>Revir Kayitlari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452628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Mesaj Sistemi</a:t>
            </a:r>
            <a:br/>
            <a:r>
              <a:t>Ders Programi</a:t>
            </a:r>
            <a:br/>
            <a:r>
              <a:t>Dijital Kutuphane</a:t>
            </a:r>
            <a:br/>
            <a:r>
              <a:t>Yabanci Dil</a:t>
            </a:r>
            <a:br/>
            <a:r>
              <a:t>Etkinlik Takvimi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452628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Yemek Menusu</a:t>
            </a:r>
            <a:br/>
            <a:r>
              <a:t>Servis Takibi</a:t>
            </a:r>
            <a:br/>
            <a:r>
              <a:t>Randevu Sistemi</a:t>
            </a:r>
            <a:br/>
            <a:r>
              <a:t>Belge Talep</a:t>
            </a:r>
            <a:br/>
            <a:r>
              <a:t>Smarti AI Asistan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Gunluk Yonetici &amp; Veli Raporu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</a:defRPr>
            </a:pPr>
            <a:r>
              <a:t>Her Sabah Otomatik — Hicbir Seyi Kacirmayin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188720"/>
            <a:ext cx="5669280" cy="50292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" y="1188720"/>
            <a:ext cx="5669280" cy="54864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9E0B"/>
                </a:solidFill>
              </a:defRPr>
            </a:pPr>
            <a:r>
              <a:t>📊 Yonetici Gunluk Raporu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</a:defRPr>
            </a:pPr>
            <a:r>
              <a:t>Gorev Durumu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783080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Planlanan vs tamamlanan isler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128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</a:defRPr>
            </a:pPr>
            <a:r>
              <a:t>Modul Operasyonlari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21284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Hangi ogretmen ne yapti?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42615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</a:defRPr>
            </a:pPr>
            <a:r>
              <a:t>Kayit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642615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Bugun kac arama, kac kayit?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072384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</a:defRPr>
            </a:pPr>
            <a:r>
              <a:t>Devamsizlik Ozeti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072384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Bugun kac ogrenci gelmedi?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50215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</a:defRPr>
            </a:pPr>
            <a:r>
              <a:t>Risk Uyarilari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502152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Kritik risk ogrenci listesi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</a:defRPr>
            </a:pPr>
            <a:r>
              <a:t>Ogretmen Izinleri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931920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Bugun kimler yok?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36168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</a:defRPr>
            </a:pPr>
            <a:r>
              <a:t>Nobet Durumu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436168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Bugunku nobetciler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791456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</a:defRPr>
            </a:pPr>
            <a:r>
              <a:t>Veli Randevulari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791456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Bugunun randevulari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221224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</a:defRPr>
            </a:pPr>
            <a:r>
              <a:t>Etkinlik Takvimi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5221224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Yaklasan etkinlikler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65099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</a:defRPr>
            </a:pPr>
            <a:r>
              <a:t>Otomatik PDF Rapor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650992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E-posta ile gonderim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1188720"/>
            <a:ext cx="5669280" cy="50292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0" y="1188720"/>
            <a:ext cx="5669280" cy="54864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1325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B82F6"/>
                </a:solidFill>
              </a:defRPr>
            </a:pPr>
            <a:r>
              <a:t>👨‍👩‍👧 Veli Paneli (29 kart)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17830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</a:defRPr>
            </a:pPr>
            <a:r>
              <a:t>Cocugunuz Bugun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1783080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Hangi derslere girdi?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22128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</a:defRPr>
            </a:pPr>
            <a:r>
              <a:t>Not Bildirimi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221284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Yeni not girildiginde anlik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2642615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</a:defRPr>
            </a:pPr>
            <a:r>
              <a:t>Devamsizlik Uyarisi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2642615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Gelmediginde otomatik SMS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3072384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</a:defRPr>
            </a:pPr>
            <a:r>
              <a:t>Odev Hatirlatma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3072384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Teslim tarihi yaklasanlar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350215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</a:defRPr>
            </a:pPr>
            <a:r>
              <a:t>Sinav Sonucu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3502152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Sonuc aciklaninca bildirim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39319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</a:defRPr>
            </a:pPr>
            <a:r>
              <a:t>Saglik Uyarisi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3931920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Revir ziyareti bilgilendirme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436168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</a:defRPr>
            </a:pPr>
            <a:r>
              <a:t>Yemek Menusu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0" y="436168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Bugunun menusu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0" y="4791456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</a:defRPr>
            </a:pPr>
            <a:r>
              <a:t>Servis Bildirimi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4791456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Binis/inis saatleri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5221224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</a:defRPr>
            </a:pPr>
            <a:r>
              <a:t>Rehberlik Notu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5221224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Gorusme ozeti (izinli)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92240" y="565099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</a:defRPr>
            </a:pPr>
            <a:r>
              <a:t>Haftalik Ozet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5650992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Cuma gunu haftalik rapor PDF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Mezunlar, Sosyal Medya &amp; Kurum Tanitimi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</a:defRPr>
            </a:pPr>
            <a:r>
              <a:t>Okul Sonrasinda da Baglilik — Dijital Pazarlama Gucu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188720"/>
            <a:ext cx="2743200" cy="4114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" y="1188720"/>
            <a:ext cx="2743200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371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</a:defRPr>
            </a:pPr>
            <a:r>
              <a:t>🎓  Mezunlar &amp; Kariyer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828800"/>
            <a:ext cx="2468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Mezun veritabani.</a:t>
            </a:r>
            <a:br/>
            <a:r>
              <a:t>Kariyer takibi.</a:t>
            </a:r>
            <a:br/>
            <a:r>
              <a:t>Basari hikayeleri.</a:t>
            </a:r>
            <a:br/>
            <a:r>
              <a:t>Mezun bulusmasi planlama.</a:t>
            </a:r>
            <a:br/>
            <a:r>
              <a:t>Mentorluk eslestirme.</a:t>
            </a:r>
            <a:br/>
            <a:r>
              <a:t>Istatistik raporlar.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1188720"/>
            <a:ext cx="2743200" cy="4114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46120" y="1188720"/>
            <a:ext cx="2743200" cy="54864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371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</a:defRPr>
            </a:pPr>
            <a:r>
              <a:t>📱  Sosyal Medya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828800"/>
            <a:ext cx="2468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Icerik takvimi planlama.</a:t>
            </a:r>
            <a:br/>
            <a:r>
              <a:t>AI post/caption uretimi.</a:t>
            </a:r>
            <a:br/>
            <a:r>
              <a:t>Coklu platform (IG/FB/TW).</a:t>
            </a:r>
            <a:br/>
            <a:r>
              <a:t>Otomatik gorsellestirme.</a:t>
            </a:r>
            <a:br/>
            <a:r>
              <a:t>Analitik &amp; performans.</a:t>
            </a:r>
            <a:br/>
            <a:r>
              <a:t>Hashtag onerici.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188720"/>
            <a:ext cx="2743200" cy="4114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0" y="1188720"/>
            <a:ext cx="2743200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371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</a:defRPr>
            </a:pPr>
            <a:r>
              <a:t>📢  Halkla Iliskiler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828800"/>
            <a:ext cx="2468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Basin bulteni olusturucu.</a:t>
            </a:r>
            <a:br/>
            <a:r>
              <a:t>Etkinlik planlama.</a:t>
            </a:r>
            <a:br/>
            <a:r>
              <a:t>E-Dergi olusturucu (AI).</a:t>
            </a:r>
            <a:br/>
            <a:r>
              <a:t>Kurum tanitim dokumanlari.</a:t>
            </a:r>
            <a:br/>
            <a:r>
              <a:t>Medya takip.</a:t>
            </a:r>
            <a:br/>
            <a:r>
              <a:t>Kriz iletisim plani.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9720" y="1188720"/>
            <a:ext cx="2743200" cy="4114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89720" y="1188720"/>
            <a:ext cx="2743200" cy="54864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1371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B6D4"/>
                </a:solidFill>
              </a:defRPr>
            </a:pPr>
            <a:r>
              <a:t>📅  Akademik Takvim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1828800"/>
            <a:ext cx="2468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Yillik takvim planlama.</a:t>
            </a:r>
            <a:br/>
            <a:r>
              <a:t>Sinav + etkinlik + tatil.</a:t>
            </a:r>
            <a:br/>
            <a:r>
              <a:t>Gorevli atama.</a:t>
            </a:r>
            <a:br/>
            <a:r>
              <a:t>Otomatik hatirlatma.</a:t>
            </a:r>
            <a:br/>
            <a:r>
              <a:t>PDF cikti.</a:t>
            </a:r>
            <a:br/>
            <a:r>
              <a:t>Moduller arasi entegre.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731520"/>
            <a:ext cx="112772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Sayilarla SmartCampus AI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97280"/>
            <a:ext cx="246888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59E0B"/>
                </a:solidFill>
              </a:defRPr>
            </a:pPr>
            <a:r>
              <a:t>35+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</a:defRPr>
            </a:pPr>
            <a:r>
              <a:t>Entegre</a:t>
            </a:r>
            <a:br/>
            <a:r>
              <a:t>Modul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1097280"/>
            <a:ext cx="246888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37160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3B82F6"/>
                </a:solidFill>
              </a:defRPr>
            </a:pPr>
            <a:r>
              <a:t>170+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28600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</a:defRPr>
            </a:pPr>
            <a:r>
              <a:t>Ekran &amp;</a:t>
            </a:r>
            <a:br/>
            <a:r>
              <a:t>Sekme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097280"/>
            <a:ext cx="246888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37160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0B981"/>
                </a:solidFill>
              </a:defRPr>
            </a:pPr>
            <a:r>
              <a:t>500+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28600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</a:defRPr>
            </a:pPr>
            <a:r>
              <a:t>Ozellik &amp;</a:t>
            </a:r>
            <a:br/>
            <a:r>
              <a:t>Fonksiyon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35440" y="1097280"/>
            <a:ext cx="246888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0" y="137160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8B5CF6"/>
                </a:solidFill>
              </a:defRPr>
            </a:pPr>
            <a:r>
              <a:t>40+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228600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</a:defRPr>
            </a:pPr>
            <a:r>
              <a:t>AI</a:t>
            </a:r>
            <a:br/>
            <a:r>
              <a:t>Fonksiyon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657600"/>
            <a:ext cx="246888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9319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6B6D4"/>
                </a:solidFill>
              </a:defRPr>
            </a:pPr>
            <a:r>
              <a:t>50+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4632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</a:defRPr>
            </a:pPr>
            <a:r>
              <a:t>Interaktif</a:t>
            </a:r>
            <a:br/>
            <a:r>
              <a:t>Oyun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66160" y="3657600"/>
            <a:ext cx="246888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39319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BBF24"/>
                </a:solidFill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484632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</a:defRPr>
            </a:pPr>
            <a:r>
              <a:t>Dil</a:t>
            </a:r>
            <a:br/>
            <a:r>
              <a:t>Destegi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3657600"/>
            <a:ext cx="246888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9319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0B981"/>
                </a:solidFill>
              </a:defRPr>
            </a:pPr>
            <a:r>
              <a:t>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84632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</a:defRPr>
            </a:pPr>
            <a:r>
              <a:t>MEB Dijital</a:t>
            </a:r>
            <a:br/>
            <a:r>
              <a:t>Form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35440" y="3657600"/>
            <a:ext cx="2468880" cy="2194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0" y="39319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3B82F6"/>
                </a:solidFill>
              </a:defRPr>
            </a:pPr>
            <a:r>
              <a:t>K-12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484632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</a:defRPr>
            </a:pPr>
            <a:r>
              <a:t>Tum</a:t>
            </a:r>
            <a:br/>
            <a:r>
              <a:t>Kademeler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Vaka Calismasi: Bir Okulun Donusumu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</a:defRPr>
            </a:pPr>
            <a:r>
              <a:t>SmartCampus AI Oncesi vs Sonrasi — Gercek Rakamlar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188720"/>
            <a:ext cx="5669280" cy="50292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" y="1188720"/>
            <a:ext cx="5669280" cy="54864"/>
          </a:xfrm>
          <a:prstGeom prst="round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F4444"/>
                </a:solidFill>
              </a:defRPr>
            </a:pPr>
            <a:r>
              <a:t>ONCE — Dagnik Sistem Donemi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</a:defRPr>
            </a:pPr>
            <a:r>
              <a:t>Kayit Donusum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17830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%8 — Excel ile takip, veli kaybolur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1284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</a:defRPr>
            </a:pPr>
            <a:r>
              <a:t>Yillik Kayit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21284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150 ogrenci — hedefin %60'i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42615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</a:defRPr>
            </a:pPr>
            <a:r>
              <a:t>Ogretmen Rapor Suresi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642615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Haftada 8 saat — kagit + Excel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07238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</a:defRPr>
            </a:pPr>
            <a:r>
              <a:t>Veli Sikayeti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3072384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Ayda 25+ — 'bilgi alamiyoruz'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50215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</a:defRPr>
            </a:pPr>
            <a:r>
              <a:t>Yazilim Maliyeti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350215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8 ayri program — 180.000 TL/yil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</a:defRPr>
            </a:pPr>
            <a:r>
              <a:t>Ogrenci Kaybi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393192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%12 — memnuniyetsizlik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36168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</a:defRPr>
            </a:pPr>
            <a:r>
              <a:t>Risk Tespiti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0320" y="436168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Yok — sorun buyuyunce fark edilir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791456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</a:defRPr>
            </a:pPr>
            <a:r>
              <a:t>Sinav Analizi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4791456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Sadece not — kazanim analizi yok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22122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</a:defRPr>
            </a:pPr>
            <a:r>
              <a:t>Veli Iletisimi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0320" y="5221224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Yilda 2 kez — karne toplantisi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65099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</a:defRPr>
            </a:pPr>
            <a:r>
              <a:t>Kayit Sureci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565099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Ort. 23 gun — takip kopuklugu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1188720"/>
            <a:ext cx="5669280" cy="50292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0" y="1188720"/>
            <a:ext cx="5669280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1325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</a:defRPr>
            </a:pPr>
            <a:r>
              <a:t>SONRA — SmartCampus AI 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178308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</a:defRPr>
            </a:pPr>
            <a:r>
              <a:t>Kayit Donusum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17830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%22 — pipeline + AI scoring (+%175)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221284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</a:defRPr>
            </a:pPr>
            <a:r>
              <a:t>Yillik Kayit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21284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250 ogrenci — hedefin %100'u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2642615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</a:defRPr>
            </a:pPr>
            <a:r>
              <a:t>Ogretmen Rapor Suresi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2642615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Haftada 1.5 saat (-%82)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307238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</a:defRPr>
            </a:pPr>
            <a:r>
              <a:t>Veli Sikayeti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3072384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Ayda 3 — seffaflik memnuniyeti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350215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</a:defRPr>
            </a:pPr>
            <a:r>
              <a:t>Yazilim Maliyeti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50215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Tek platform — %65 tasarruf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393192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</a:defRPr>
            </a:pPr>
            <a:r>
              <a:t>Ogrenci Kaybi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393192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%4 — erken uyari + mudahale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436168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</a:defRPr>
            </a:pPr>
            <a:r>
              <a:t>Risk Tespiti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03920" y="436168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Otomatik — 10 bilesikli AI risk skoru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0" y="4791456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</a:defRPr>
            </a:pPr>
            <a:r>
              <a:t>Sinav Analizi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03920" y="4791456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IRT + Bloom + kazanim + telafi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522122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</a:defRPr>
            </a:pPr>
            <a:r>
              <a:t>Veli Iletisimi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0" y="5221224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Gunluk — otomatik bulten + mesaj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92240" y="565099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</a:defRPr>
            </a:pPr>
            <a:r>
              <a:t>Kayit Sureci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565099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Ort. 9 gun — otomatik takip (-%61)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Toplam Sahip Olma Maliyeti (TCO)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</a:defRPr>
            </a:pPr>
            <a:r>
              <a:t>10 Ayri Yazilim mi, 1 Platform mu?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188720"/>
            <a:ext cx="5669280" cy="4114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" y="1188720"/>
            <a:ext cx="5669280" cy="54864"/>
          </a:xfrm>
          <a:prstGeom prst="round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F4444"/>
                </a:solidFill>
              </a:defRPr>
            </a:pPr>
            <a:r>
              <a:t>MEVCUT DURUM — Parcali Sistemler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E-Okul / SBS yazilimi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78308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35.000 TL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67128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Online sinav platformu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2167128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25.000 TL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551176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Kayit CRM yazilimi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551176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20.000 TL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935224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Muhasebe / butce yazilimi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935224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15.000 TL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319272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Veli iletisim uygulamasi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31927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18.000 TL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703320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Yabanci dil platformu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0332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22.000 TL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087368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IK / ozluk yazilimi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4087368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12.000 TL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471416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Kutuphane yazilimi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471416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8.000 TL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855464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IT destek + bakim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4855464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25.000 TL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239512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TOPLAM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523951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F4444"/>
                </a:solidFill>
              </a:defRPr>
            </a:pPr>
            <a:r>
              <a:t>180.000 TL/yil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1188720"/>
            <a:ext cx="5669280" cy="4114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0" y="1188720"/>
            <a:ext cx="5669280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1325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</a:defRPr>
            </a:pPr>
            <a:r>
              <a:t>SMARTCAMPUS AI — Hepsi Dahil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1783080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  27 modul tek lisansta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2167128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  Sinirsiz kullanici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2551176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  Sinirsiz veri depolama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2935224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  Otomatik guncelleme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3319272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  7/24 teknik destek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703320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  Egitim + onboarding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4087368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  Ozel gelistirme talepleri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4471416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  KVKK danismanligi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8463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%65 DAHA UCUZ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5577840"/>
            <a:ext cx="11247120" cy="7315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56692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59E0B"/>
                </a:solidFill>
              </a:defRPr>
            </a:pPr>
            <a:r>
              <a:t>Ayrica:  10 ayri programa giris sifresi yok  |  10 ayri destek hatti yok  |  Veri uyumsuzlugu yok  |  Egitim maliyeti %80 az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Okul Sahibinin Gunu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</a:defRPr>
            </a:pPr>
            <a:r>
              <a:t>Her Sabah 2 Dakikada Okulunuzun Tam Resmi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188720"/>
            <a:ext cx="11612880" cy="10972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</a:defRPr>
            </a:pPr>
            <a:r>
              <a:t>Sabah 08:00 — Telefonunuza gelen gunluk rapor: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"Bugun 3 yeni kayit aday, 195/200 ogrenci okulda, 2 risk uyarisi, 4 veli randevusu, ogretmen devamsizlik 0, bu ayki kayit donusum %18, butce durumu pozitif, yemek menusu yuklendi, 3 etkinlik bu hafta."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468880"/>
            <a:ext cx="274320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25603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🎯 Kayit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92608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Aylik Hedef: 30</a:t>
            </a:r>
            <a:br/>
            <a:r>
              <a:t>Gerceklesen: 22</a:t>
            </a:r>
            <a:br/>
            <a:r>
              <a:t>Donusum: %18</a:t>
            </a:r>
            <a:br/>
            <a:r>
              <a:t>Sicak Aday: 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2468880"/>
            <a:ext cx="274320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25603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</a:defRPr>
            </a:pPr>
            <a:r>
              <a:t>📚 Akademik Durum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92608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Ortalama: 72.4</a:t>
            </a:r>
            <a:br/>
            <a:r>
              <a:t>Basarisiz: 12 ogr</a:t>
            </a:r>
            <a:br/>
            <a:r>
              <a:t>Risk: 8 ogr</a:t>
            </a:r>
            <a:br/>
            <a:r>
              <a:t>Devamsiz: 5 ogr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468880"/>
            <a:ext cx="274320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5603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💰 Mali Durum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92608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Gelir: 2.4M TL</a:t>
            </a:r>
            <a:br/>
            <a:r>
              <a:t>Gider: 1.8M TL</a:t>
            </a:r>
            <a:br/>
            <a:r>
              <a:t>Kar: 600K TL</a:t>
            </a:r>
            <a:br/>
            <a:r>
              <a:t>Tahsilat: %92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9720" y="2468880"/>
            <a:ext cx="274320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25603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5CF6"/>
                </a:solidFill>
              </a:defRPr>
            </a:pPr>
            <a:r>
              <a:t>👨‍👩‍👧 Veli Memnuniyet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292608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Puan: 4.2/5</a:t>
            </a:r>
            <a:br/>
            <a:r>
              <a:t>Sikayet: 3</a:t>
            </a:r>
            <a:br/>
            <a:r>
              <a:t>Oneri: 7</a:t>
            </a:r>
            <a:br/>
            <a:r>
              <a:t>Tesekkur: 12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" y="4572000"/>
            <a:ext cx="274320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46634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B6D4"/>
                </a:solidFill>
              </a:defRPr>
            </a:pPr>
            <a:r>
              <a:t>👥 Personel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502920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Aktif: 65/65</a:t>
            </a:r>
            <a:br/>
            <a:r>
              <a:t>Izinli: 0</a:t>
            </a:r>
            <a:br/>
            <a:r>
              <a:t>Nobetci: 4</a:t>
            </a:r>
            <a:br/>
            <a:r>
              <a:t>Toplanti: 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46120" y="4572000"/>
            <a:ext cx="274320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83280" y="46634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</a:defRPr>
            </a:pPr>
            <a:r>
              <a:t>📊 Ogretmen Performans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502920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Plan Tamamlama: %94</a:t>
            </a:r>
            <a:br/>
            <a:r>
              <a:t>Ders Defteri: %88</a:t>
            </a:r>
            <a:br/>
            <a:r>
              <a:t>Odev Atama: %91</a:t>
            </a:r>
            <a:br/>
            <a:r>
              <a:t>KYT: %76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4572000"/>
            <a:ext cx="274320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46634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F4444"/>
                </a:solidFill>
              </a:defRPr>
            </a:pPr>
            <a:r>
              <a:t>🔒 Guvenlik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502920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Ziyaretci: 3</a:t>
            </a:r>
            <a:br/>
            <a:r>
              <a:t>Servis: 8/8 aktif</a:t>
            </a:r>
            <a:br/>
            <a:r>
              <a:t>Kamera: OK</a:t>
            </a:r>
            <a:br/>
            <a:r>
              <a:t>Acil Durum: Yok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89720" y="4572000"/>
            <a:ext cx="2743200" cy="18288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0" y="46634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📋 Bu Haftaki Isler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0" y="502920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Veli toplantisi: Carsamba</a:t>
            </a:r>
            <a:br/>
            <a:r>
              <a:t>Bursluluk sinavi: Cuma</a:t>
            </a:r>
            <a:br/>
            <a:r>
              <a:t>Acik kapi: Cumartesi</a:t>
            </a:r>
            <a:br/>
            <a:r>
              <a:t>Rapor teslim: Pazartesi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Rekabet Avantajiniz: Veliye Ne Satiyorsunuz?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</a:defRPr>
            </a:pPr>
            <a:r>
              <a:t>Diger Okullardan Farkli Olmanin Yolu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188720"/>
            <a:ext cx="11612880" cy="9144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</a:defRPr>
            </a:pPr>
            <a:r>
              <a:t>Veli okulunuza geldiginde sorar: "Diger okullardan farkiniz ne?"</a:t>
            </a:r>
            <a:br/>
            <a:r>
              <a:t>SmartCampus AI ile cevabiniz somut, olculebilir ve etkileyici olur: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2377440"/>
            <a:ext cx="2743200" cy="25603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4320" y="2377440"/>
            <a:ext cx="2743200" cy="54864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2514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</a:defRPr>
            </a:pPr>
            <a:r>
              <a:t>📱  Seffaflik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971800"/>
            <a:ext cx="2468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Veli cocugunun her anini canli</a:t>
            </a:r>
            <a:br/>
            <a:r>
              <a:t>takip eder. Gizli kalan</a:t>
            </a:r>
            <a:br/>
            <a:r>
              <a:t>hicbir sey yok. Not, devamsizlik,</a:t>
            </a:r>
            <a:br/>
            <a:r>
              <a:t>saglik, davranis — anlik.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2377440"/>
            <a:ext cx="2743200" cy="25603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46120" y="2377440"/>
            <a:ext cx="2743200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2514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</a:defRPr>
            </a:pPr>
            <a:r>
              <a:t>🎯  Bireysel Takip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971800"/>
            <a:ext cx="2468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Her ogrenci icin 43 kaynaktan</a:t>
            </a:r>
            <a:br/>
            <a:r>
              <a:t>360° profil. Guclu/zayif yon</a:t>
            </a:r>
            <a:br/>
            <a:r>
              <a:t>tespiti. AI destekli bireysel</a:t>
            </a:r>
            <a:br/>
            <a:r>
              <a:t>egitim plani.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377440"/>
            <a:ext cx="2743200" cy="25603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7920" y="2377440"/>
            <a:ext cx="2743200" cy="54864"/>
          </a:xfrm>
          <a:prstGeom prst="round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2514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F4444"/>
                </a:solidFill>
              </a:defRPr>
            </a:pPr>
            <a:r>
              <a:t>🛡️  Erken Mudahale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971800"/>
            <a:ext cx="2468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Sorun buyumeden tespit.</a:t>
            </a:r>
            <a:br/>
            <a:r>
              <a:t>10 bilesikli risk skoru.</a:t>
            </a:r>
            <a:br/>
            <a:r>
              <a:t>Otomatik veli bildirim.</a:t>
            </a:r>
            <a:br/>
            <a:r>
              <a:t>%67 daha az basarisizlik.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89720" y="2377440"/>
            <a:ext cx="2743200" cy="25603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89720" y="2377440"/>
            <a:ext cx="2743200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2514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CF6"/>
                </a:solidFill>
              </a:defRPr>
            </a:pPr>
            <a:r>
              <a:t>📊  Olculebilir Kalite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971800"/>
            <a:ext cx="2468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Kazanim bazli olcme.</a:t>
            </a:r>
            <a:br/>
            <a:r>
              <a:t>IRT psikometrik analiz.</a:t>
            </a:r>
            <a:br/>
            <a:r>
              <a:t>Telafi sistemi.</a:t>
            </a:r>
            <a:br/>
            <a:r>
              <a:t>Her ogrenci ilerliyor.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71600" y="5212080"/>
            <a:ext cx="9418320" cy="9144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54480" y="5303520"/>
            <a:ext cx="9052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59E0B"/>
                </a:solidFill>
              </a:defRPr>
            </a:pPr>
            <a:r>
              <a:t>"Biz sadece ogretmiyoruz — her ogrenciyi bireysel olarak takip ediyoruz,</a:t>
            </a:r>
            <a:br/>
            <a:r>
              <a:t>sorunlari buyumeden tespit ediyoruz, ve veliye her gun hesap veriyoruz.</a:t>
            </a:r>
            <a:br/>
            <a:r>
              <a:t>Bunu teknolojimizle yapiyoruz."  — Bu, veli icin karar noktasi.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Implementasyon Yol Haritasi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</a:defRPr>
            </a:pPr>
            <a:r>
              <a:t>4 Haftada Canli — Sifir Kesinti, Tam Destek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188720"/>
            <a:ext cx="2743200" cy="32004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5840" y="1051560"/>
            <a:ext cx="1280160" cy="365760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05156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20617"/>
                </a:solidFill>
              </a:defRPr>
            </a:pPr>
            <a:r>
              <a:t>1. HAFTA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508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B82F6"/>
                </a:solidFill>
              </a:defRPr>
            </a:pPr>
            <a:r>
              <a:t>Kurulum &amp;</a:t>
            </a:r>
            <a:br/>
            <a:r>
              <a:t>Veri Aktarimi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03120"/>
            <a:ext cx="2468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Tenant olusturma</a:t>
            </a:r>
            <a:br/>
            <a:r>
              <a:t>Ogrenci/ogretmen import</a:t>
            </a:r>
            <a:br/>
            <a:r>
              <a:t>Ders programi yukleme</a:t>
            </a:r>
            <a:br/>
            <a:r>
              <a:t>Rol + yetki tanimlama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1188720"/>
            <a:ext cx="2743200" cy="32004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977640" y="1051560"/>
            <a:ext cx="1280160" cy="3657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77640" y="105156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20617"/>
                </a:solidFill>
              </a:defRPr>
            </a:pPr>
            <a:r>
              <a:t>2. HAFTA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1508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Egitim &amp;</a:t>
            </a:r>
            <a:br/>
            <a:r>
              <a:t>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103120"/>
            <a:ext cx="2468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Yonetici egitimi (2 gun)</a:t>
            </a:r>
            <a:br/>
            <a:r>
              <a:t>Ogretmen egitimi (2 gun)</a:t>
            </a:r>
            <a:br/>
            <a:r>
              <a:t>Modul bazli test</a:t>
            </a:r>
            <a:br/>
            <a:r>
              <a:t>Veri dogrulama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188720"/>
            <a:ext cx="2743200" cy="32004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949440" y="1051560"/>
            <a:ext cx="1280160" cy="36576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0" y="105156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20617"/>
                </a:solidFill>
              </a:defRPr>
            </a:pPr>
            <a:r>
              <a:t>3. HAFTA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1508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8B5CF6"/>
                </a:solidFill>
              </a:defRPr>
            </a:pPr>
            <a:r>
              <a:t>Pilot &amp;</a:t>
            </a:r>
            <a:br/>
            <a:r>
              <a:t>Ince Ayar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103120"/>
            <a:ext cx="2468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Secili siniflarla pilot</a:t>
            </a:r>
            <a:br/>
            <a:r>
              <a:t>Veli panel testi</a:t>
            </a:r>
            <a:br/>
            <a:r>
              <a:t>Geri bildirim toplama</a:t>
            </a:r>
            <a:br/>
            <a:r>
              <a:t>Ozellestirme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1188720"/>
            <a:ext cx="2743200" cy="32004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921240" y="1051560"/>
            <a:ext cx="1280160" cy="36576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21240" y="105156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20617"/>
                </a:solidFill>
              </a:defRPr>
            </a:pPr>
            <a:r>
              <a:t>4. HAFTA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1508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Canli</a:t>
            </a:r>
            <a:br/>
            <a:r>
              <a:t>Yayin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2103120"/>
            <a:ext cx="2468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Tum siniflar aktif</a:t>
            </a:r>
            <a:br/>
            <a:r>
              <a:t>Veli davet SMS</a:t>
            </a:r>
            <a:br/>
            <a:r>
              <a:t>Destek masasi aktif</a:t>
            </a:r>
            <a:br/>
            <a:r>
              <a:t>Performans izleme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17520" y="2468880"/>
            <a:ext cx="274320" cy="54864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989320" y="2468880"/>
            <a:ext cx="274320" cy="54864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961120" y="2468880"/>
            <a:ext cx="274320" cy="54864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57200" y="4754880"/>
            <a:ext cx="11247120" cy="15544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892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59E0B"/>
                </a:solidFill>
              </a:defRPr>
            </a:pPr>
            <a:r>
              <a:t>Garanti &amp; Destek Paketi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34924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30 Gun Memnuniyet Garantisi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6235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Memnun kalmazsiniz iade — soru sorulmaz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534924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7/24 Teknik Destek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56235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Uzaktan masaustu + telefon + ticket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34924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Sinirsiz Egitim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6235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Yeni personel icin ucretsiz tekrar egitim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0" y="534924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Ucretsiz Guncelleme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5440" y="56235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Yeni moduller + ozellikler otomatik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731520"/>
            <a:ext cx="112772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Neden Simdi?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F4444"/>
                </a:solidFill>
              </a:defRPr>
            </a:pPr>
            <a:r>
              <a:t>Her gecen gun kaybedilen bir kayit, fark edilmeyen bir risk, memnuniyetsiz bir veli demek.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097280"/>
            <a:ext cx="5669280" cy="24688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" y="1097280"/>
            <a:ext cx="73152" cy="24688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</a:defRPr>
            </a:pPr>
            <a:r>
              <a:t>📅  Kayit Sezonu Basladi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45920"/>
            <a:ext cx="5212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Mart-Agustos arasinda Turkiye'de ozel okul kayitlarinin %70'i yapilir.</a:t>
            </a:r>
            <a:br/>
            <a:r>
              <a:t>Her gun pipeline'siz gecen gun = kaybedilen ogrenci.</a:t>
            </a:r>
            <a:br/>
            <a:r>
              <a:t>Rakipleriniz dijitallesirken siz hala Excel mi kullanacaksiniz?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097280"/>
            <a:ext cx="5669280" cy="24688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097280"/>
            <a:ext cx="73152" cy="24688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2344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</a:defRPr>
            </a:pPr>
            <a:r>
              <a:t>⭐  Erken Adopter Avantaji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45920"/>
            <a:ext cx="5212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Ilk 10 okula ozel:</a:t>
            </a:r>
            <a:br/>
            <a:r>
              <a:t>  Implementasyon ucreti: UCRETSIZ</a:t>
            </a:r>
            <a:br/>
            <a:r>
              <a:t>  1 yil teknik destek: UCRETSIZ</a:t>
            </a:r>
            <a:br/>
            <a:r>
              <a:t>  Ozel modüul gelistirme: ONCELIKLI</a:t>
            </a:r>
            <a:br/>
            <a:r>
              <a:t>  Referans okul statüsü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3840480"/>
            <a:ext cx="5669280" cy="24688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3840480"/>
            <a:ext cx="73152" cy="2468880"/>
          </a:xfrm>
          <a:prstGeom prst="round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9776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F4444"/>
                </a:solidFill>
              </a:defRPr>
            </a:pPr>
            <a:r>
              <a:t>🏃  Rakipleriniz Harekete Gecti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389120"/>
            <a:ext cx="5212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Istanbul'da 50+ ozel okul dijital donusum baslattti.</a:t>
            </a:r>
            <a:br/>
            <a:r>
              <a:t>Veliler artik teknoloji arıyor.</a:t>
            </a:r>
            <a:br/>
            <a:r>
              <a:t>'Veli paneli var mi?' sorusu artik standart.</a:t>
            </a:r>
            <a:br/>
            <a:r>
              <a:t>SmartCampus AI ile 1 adim onde olun.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840480"/>
            <a:ext cx="5669280" cy="24688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0" y="3840480"/>
            <a:ext cx="73152" cy="2468880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9776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</a:defRPr>
            </a:pPr>
            <a:r>
              <a:t>💰  3 Ayda Kendini Oder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389120"/>
            <a:ext cx="5212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Sadece kayit donusum artisiyla:</a:t>
            </a:r>
            <a:br/>
            <a:r>
              <a:t>  +50 ek kayit x 85.000 TL = 4.25M TL gelir</a:t>
            </a:r>
            <a:br/>
            <a:r>
              <a:t>  -70% IT maliyeti tasarruf</a:t>
            </a:r>
            <a:br/>
            <a:r>
              <a:t>  -82% ogretmen rapor suresi</a:t>
            </a:r>
            <a:br/>
            <a:r>
              <a:t>  Yatirim ilk yil kendini oduyor.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Paket Secenekleri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</a:defRPr>
            </a:pPr>
            <a:r>
              <a:t>Her Okula Uygun Cozum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188720"/>
            <a:ext cx="2743200" cy="50292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" y="1188720"/>
            <a:ext cx="2743200" cy="457200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188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20617"/>
                </a:solidFill>
              </a:defRPr>
            </a:pPr>
            <a:r>
              <a:t>STARTER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73736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B82F6"/>
                </a:solidFill>
              </a:defRPr>
            </a:pPr>
            <a:r>
              <a:t>Temel Moduller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0312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Kayit Modulu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377439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Akademik Takip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65176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Veli Paneli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926079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Ogrenci Paneli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320040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IK Yonetimi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347472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Kurum Hizmetleri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749039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Butce &amp; Gelir-Gider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297679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10 modul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457200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50 AI fonksiyon/ay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52120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Kucuk okullar icin</a:t>
            </a:r>
            <a:br/>
            <a:r>
              <a:t>ideal baslangic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46120" y="1188720"/>
            <a:ext cx="2743200" cy="50292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246120" y="1188720"/>
            <a:ext cx="2743200" cy="4572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46120" y="1188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20617"/>
                </a:solidFill>
              </a:defRPr>
            </a:pPr>
            <a:r>
              <a:t>PROFESSIONAL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173736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Tam Akademik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210312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Starter'daki her sey 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2377439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Olcme &amp; Degerlendirme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265176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Rehberlik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2926079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Yabanci Dil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320040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Erken Uyari Sistemi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347472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Ogrenci Zeka Merkezi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3749039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Egitim Koclugu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80" y="402336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Okul Sagligi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83280" y="4297679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22 modul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457200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Sinirsiz AI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3280" y="52120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Orta olcekli okullar</a:t>
            </a:r>
            <a:br/>
            <a:r>
              <a:t>icin tam cozum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1188720"/>
            <a:ext cx="2743200" cy="50292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17920" y="1188720"/>
            <a:ext cx="2743200" cy="45720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17920" y="1188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20617"/>
                </a:solidFill>
              </a:defRPr>
            </a:pPr>
            <a:r>
              <a:t>ENTERPRISE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173736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8B5CF6"/>
                </a:solidFill>
              </a:defRPr>
            </a:pPr>
            <a:r>
              <a:t>Hepsi Dahil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210312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Professional'daki her sey +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2377439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AI Bireysel Egitim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265176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Matematik Koyu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2926079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Bilisim Vadisi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80" y="320040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Sanat Sokagi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347472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AI Treni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3749039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Dijital Kutuphane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402336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Sosyal Medya AI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5080" y="4297679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27 modul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5080" y="457200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Sinirsiz her sey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52120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Buyuk kampusler</a:t>
            </a:r>
            <a:br/>
            <a:r>
              <a:t>icin premium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89720" y="1188720"/>
            <a:ext cx="2743200" cy="50292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189720" y="1188720"/>
            <a:ext cx="2743200" cy="457200"/>
          </a:xfrm>
          <a:prstGeom prst="round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89720" y="1188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20617"/>
                </a:solidFill>
              </a:defRPr>
            </a:pPr>
            <a:r>
              <a:t>DIAMOND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326880" y="173736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BBF24"/>
                </a:solidFill>
              </a:defRPr>
            </a:pPr>
            <a:r>
              <a:t>Ozel Uretim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210312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Enterprise'daki her sey +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26880" y="2377439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Ozel modul gelistirme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26880" y="265176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Oncelikli destek (SLA 1 saat)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326880" y="2926079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Ozel entegrasyon (ERP/LMS)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326880" y="320040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Yerinde egitim (5 gun)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326880" y="347472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Aylik strateji toplantisi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6880" y="3749039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Ozel raporlama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326880" y="402336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Dedicated sunucu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326880" y="4297679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Sinirsiz ozel talep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26880" y="457200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  Beyaz etiket secenegi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326880" y="52120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Lider kurumlara</a:t>
            </a:r>
            <a:br/>
            <a:r>
              <a:t>ozel cozum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731520"/>
            <a:ext cx="112772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Simdi Bir Hesap Yapalim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F4444"/>
                </a:solidFill>
              </a:defRPr>
            </a:pPr>
            <a:r>
              <a:t>Bu rakamlar sizin okulunuzun gercegi — her satir kanayan bir yara.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005840"/>
            <a:ext cx="11612880" cy="5029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7899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Kayip Turu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07899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Yillik Kayip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07899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SmartCampus 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107899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Kurtarilan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554480"/>
            <a:ext cx="11612880" cy="50292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62763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Kayit olmayan adaylar (pipeline yok)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62763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4444"/>
                </a:solidFill>
              </a:defRPr>
            </a:pPr>
            <a:r>
              <a:t>~120 ogrenci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62763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0B981"/>
                </a:solidFill>
              </a:defRPr>
            </a:pPr>
            <a:r>
              <a:t>~50 ogrenci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162763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</a:defRPr>
            </a:pPr>
            <a:r>
              <a:t>70 ogrenci x 85K = 5.95M TL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2103120"/>
            <a:ext cx="11612880" cy="502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217627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Memnuniyetsiz veli kaybi (%12→%4)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217627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4444"/>
                </a:solidFill>
              </a:defRPr>
            </a:pPr>
            <a:r>
              <a:t>24 ogrenci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217627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0B981"/>
                </a:solidFill>
              </a:defRPr>
            </a:pPr>
            <a:r>
              <a:t>8 ogrenci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17627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</a:defRPr>
            </a:pPr>
            <a:r>
              <a:t>16 ogrenci x 85K = 1.36M TL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" y="2651759"/>
            <a:ext cx="11612880" cy="50292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724911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Ogretmen verimsiz suresi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2724911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4444"/>
                </a:solidFill>
              </a:defRPr>
            </a:pPr>
            <a:r>
              <a:t>400 saat/ay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2724911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0B981"/>
                </a:solidFill>
              </a:defRPr>
            </a:pPr>
            <a:r>
              <a:t>70 saat/ay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724911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</a:defRPr>
            </a:pPr>
            <a:r>
              <a:t>330 saat = ~3 tam personel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3200400"/>
            <a:ext cx="11612880" cy="502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27355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Fark edilmeyen risk (basarisiz ogrenci)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1920" y="32735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4444"/>
                </a:solidFill>
              </a:defRPr>
            </a:pPr>
            <a:r>
              <a:t>30 ogrenci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32735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0B981"/>
                </a:solidFill>
              </a:defRPr>
            </a:pPr>
            <a:r>
              <a:t>10 ogrenci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327355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B82F6"/>
                </a:solidFill>
              </a:defRPr>
            </a:pPr>
            <a:r>
              <a:t>20 ogrenci kurtarildi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" y="3749040"/>
            <a:ext cx="11612880" cy="50292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382219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IT coklu yazilim maliyeti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31920" y="382219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4444"/>
                </a:solidFill>
              </a:defRPr>
            </a:pPr>
            <a:r>
              <a:t>180.000 TL/yil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382219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0B981"/>
                </a:solidFill>
              </a:defRPr>
            </a:pPr>
            <a:r>
              <a:t>63.000 TL/yil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382219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</a:defRPr>
            </a:pPr>
            <a:r>
              <a:t>117.000 TL tasarruf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4320" y="4297679"/>
            <a:ext cx="11612880" cy="502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4370831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Veli sikayet islem suresi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31920" y="4370831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4444"/>
                </a:solidFill>
              </a:defRPr>
            </a:pPr>
            <a:r>
              <a:t>Ort. 5 gun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26480" y="4370831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0B981"/>
                </a:solidFill>
              </a:defRPr>
            </a:pPr>
            <a:r>
              <a:t>Ort. 4 saat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4370831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6B6D4"/>
                </a:solidFill>
              </a:defRPr>
            </a:pPr>
            <a:r>
              <a:t>%96 hizlanma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4320" y="5394960"/>
            <a:ext cx="11612880" cy="502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546811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</a:defRPr>
            </a:pPr>
            <a:r>
              <a:t>TOPLAM KURTARILAN DEGER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31920" y="546811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</a:p>
        </p:txBody>
      </p:sp>
      <p:sp>
        <p:nvSpPr>
          <p:cNvPr id="43" name="TextBox 42"/>
          <p:cNvSpPr txBox="1"/>
          <p:nvPr/>
        </p:nvSpPr>
        <p:spPr>
          <a:xfrm>
            <a:off x="6126480" y="546811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</a:p>
        </p:txBody>
      </p:sp>
      <p:sp>
        <p:nvSpPr>
          <p:cNvPr id="44" name="TextBox 43"/>
          <p:cNvSpPr txBox="1"/>
          <p:nvPr/>
        </p:nvSpPr>
        <p:spPr>
          <a:xfrm>
            <a:off x="8321040" y="546811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9E0B"/>
                </a:solidFill>
              </a:defRPr>
            </a:pPr>
            <a:r>
              <a:t>7.4M+ TL / YIL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828800" y="5760720"/>
            <a:ext cx="8503920" cy="8229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011680" y="58064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SmartCampus AI'nin yillik lisans bedeli bu tablodaki TEK BIR SATIRIN</a:t>
            </a:r>
            <a:br/>
            <a:r>
              <a:t>kurtardigi degerin bile altinda. Yatirim degil — kaybi durdurma karari.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Referans Okullarimiz Ne Diyor?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</a:defRPr>
            </a:pPr>
            <a:r>
              <a:t>Gercek Kullanicilar, Gercek Sonuclar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188720"/>
            <a:ext cx="5669280" cy="24688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" y="1188720"/>
            <a:ext cx="73152" cy="24688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59E0B"/>
                </a:solidFill>
              </a:defRPr>
            </a:pPr>
            <a: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Kayit donusumumuz %8'den %21'e cikti.</a:t>
            </a:r>
            <a:br/>
            <a:r>
              <a:t>Sadece pipeline modulu bile</a:t>
            </a:r>
            <a:br/>
            <a:r>
              <a:t>yillik lisans bedelini</a:t>
            </a:r>
            <a:br/>
            <a:r>
              <a:t>ilk ayda cikardi.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175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</a:defRPr>
            </a:pPr>
            <a:r>
              <a:t>— Ahmet 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Kurucu Mudur</a:t>
            </a:r>
            <a:br/>
            <a:r>
              <a:t>Ozel Yildiz Koleji, Istanbul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188720"/>
            <a:ext cx="5669280" cy="24688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188720"/>
            <a:ext cx="73152" cy="2468880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23444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3B82F6"/>
                </a:solidFill>
              </a:defRPr>
            </a:pPr>
            <a:r>
              <a:t>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5544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Veli paneli hayat kurtardi.</a:t>
            </a:r>
            <a:br/>
            <a:r>
              <a:t>Sikayet sayimiz ayda 25'ten 3'e</a:t>
            </a:r>
            <a:br/>
            <a:r>
              <a:t>dustu. Veliler artik</a:t>
            </a:r>
            <a:br/>
            <a:r>
              <a:t>bize guven duyuyor.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0175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B82F6"/>
                </a:solidFill>
              </a:defRPr>
            </a:pPr>
            <a:r>
              <a:t>— Selin 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2918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Genel Mudur</a:t>
            </a:r>
            <a:br/>
            <a:r>
              <a:t>Ozel Basari Okullari, Ankara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" y="3931920"/>
            <a:ext cx="5669280" cy="24688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74320" y="3931920"/>
            <a:ext cx="73152" cy="24688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97764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10B981"/>
                </a:solidFill>
              </a:defRPr>
            </a:pPr>
            <a:r>
              <a:t>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976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Ogretmenlerimiz haftada 8 saatlik</a:t>
            </a:r>
            <a:br/>
            <a:r>
              <a:t>rapor isini 1.5 saate indirdi.</a:t>
            </a:r>
            <a:br/>
            <a:r>
              <a:t>O zaman artik ogrenciye</a:t>
            </a:r>
            <a:br/>
            <a:r>
              <a:t>daha cok zaman ayiriyorlar.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7607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</a:defRPr>
            </a:pPr>
            <a:r>
              <a:t>— Mehmet 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0350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Yonetim Kurulu Baskani</a:t>
            </a:r>
            <a:br/>
            <a:r>
              <a:t>Ozel Gelecek Koleji, Izmir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931920"/>
            <a:ext cx="5669280" cy="24688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217920" y="3931920"/>
            <a:ext cx="73152" cy="246888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397764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8B5CF6"/>
                </a:solidFill>
              </a:defRPr>
            </a:pPr>
            <a:r>
              <a:t>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2976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Erken uyari sistemi bir</a:t>
            </a:r>
            <a:br/>
            <a:r>
              <a:t>ogrencimizin okul terkini</a:t>
            </a:r>
            <a:br/>
            <a:r>
              <a:t>onledi. Ailesiyle mudahale</a:t>
            </a:r>
            <a:br/>
            <a:r>
              <a:t>ettik, simdi sinif birincisi.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7607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B5CF6"/>
                </a:solidFill>
              </a:defRPr>
            </a:pPr>
            <a:r>
              <a:t>— Zeynep 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60350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Rehberlik Koordinatoru</a:t>
            </a:r>
            <a:br/>
            <a:r>
              <a:t>Ozel Doga Okullari, Bursa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EF4444"/>
                </a:solidFill>
              </a:defRPr>
            </a:pPr>
            <a:r>
              <a:t>Ya Bu Karari Vermezseniz?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371600"/>
            <a:ext cx="3657600" cy="23774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371600"/>
            <a:ext cx="3657600" cy="54864"/>
          </a:xfrm>
          <a:prstGeom prst="round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5087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F4444"/>
                </a:solidFill>
              </a:defRPr>
            </a:pPr>
            <a:r>
              <a:t>X  Kayit sezonunda pipeline'siz kalinir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920240"/>
            <a:ext cx="3383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Her aranmayan veli = kaybedilen 85.000 TL.</a:t>
            </a:r>
            <a:br/>
            <a:r>
              <a:t>1250 adayin %8'i yerine %2'si kayit olur.</a:t>
            </a:r>
            <a:br/>
            <a:r>
              <a:t>Rakip okul o veliyi alir.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371600"/>
            <a:ext cx="3657600" cy="23774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06240" y="1371600"/>
            <a:ext cx="3657600" cy="54864"/>
          </a:xfrm>
          <a:prstGeom prst="round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5087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F4444"/>
                </a:solidFill>
              </a:defRPr>
            </a:pPr>
            <a:r>
              <a:t>X  Ogrenci basarisizligi gec fark edilir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920240"/>
            <a:ext cx="3383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Risk puani olmadan sorunlar buyur.</a:t>
            </a:r>
            <a:br/>
            <a:r>
              <a:t>30 basarisiz ogrenci → 30 memnuniyetsiz veli.</a:t>
            </a:r>
            <a:br/>
            <a:r>
              <a:t>Memnuniyetsiz veli = gelecek yil kayip.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657600" cy="23774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38160" y="1371600"/>
            <a:ext cx="3657600" cy="54864"/>
          </a:xfrm>
          <a:prstGeom prst="round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5087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F4444"/>
                </a:solidFill>
              </a:defRPr>
            </a:pPr>
            <a:r>
              <a:t>X  Veli memnuniyetsizligi yayilir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1920240"/>
            <a:ext cx="3383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1 mutsuz veli 11 kisiye anlatir.</a:t>
            </a:r>
            <a:br/>
            <a:r>
              <a:t>Sosyal medyada olumsuz yorum.</a:t>
            </a:r>
            <a:br/>
            <a:r>
              <a:t>'Bilgi alamiyoruz' → okul degisikligi.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4023360"/>
            <a:ext cx="3657600" cy="23774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74320" y="4023360"/>
            <a:ext cx="3657600" cy="54864"/>
          </a:xfrm>
          <a:prstGeom prst="round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41605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F4444"/>
                </a:solidFill>
              </a:defRPr>
            </a:pPr>
            <a:r>
              <a:t>X  Ogretmen tukenmisligi artar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572000"/>
            <a:ext cx="3383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Kagit is yuku → motivasyon dususu.</a:t>
            </a:r>
            <a:br/>
            <a:r>
              <a:t>Nitelikli ogretmen ayrilir.</a:t>
            </a:r>
            <a:br/>
            <a:r>
              <a:t>Kalite dususu → kayit dususu → gelir dususu.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06240" y="4023360"/>
            <a:ext cx="3657600" cy="23774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06240" y="4023360"/>
            <a:ext cx="3657600" cy="54864"/>
          </a:xfrm>
          <a:prstGeom prst="round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400" y="41605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F4444"/>
                </a:solidFill>
              </a:defRPr>
            </a:pPr>
            <a:r>
              <a:t>X  Rakipler fark acar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4572000"/>
            <a:ext cx="3383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Dijitallesen okul = modern veli tercihi.</a:t>
            </a:r>
            <a:br/>
            <a:r>
              <a:t>SmartCampus kullanan rakip, veliye</a:t>
            </a:r>
            <a:br/>
            <a:r>
              <a:t>seffaflik sunar — siz sunamazsiniz.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4023360"/>
            <a:ext cx="3657600" cy="23774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138160" y="4023360"/>
            <a:ext cx="3657600" cy="54864"/>
          </a:xfrm>
          <a:prstGeom prst="round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20" y="41605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F4444"/>
                </a:solidFill>
              </a:defRPr>
            </a:pPr>
            <a:r>
              <a:t>X  Her gecen gun maliyet artar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4572000"/>
            <a:ext cx="3383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Gecis maliyeti zamanla buyur.</a:t>
            </a:r>
            <a:br/>
            <a:r>
              <a:t>Veri biriktikce migrasyon zorlasir.</a:t>
            </a:r>
            <a:br/>
            <a:r>
              <a:t>Simdi 4 hafta — 1 yil sonra 4 ay.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Kendinize 3 Soru Sorun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640080" cy="6400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20617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417320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Okulunuzda kac aday pipeline'dan dusuyor</a:t>
            </a:r>
            <a:br/>
            <a:r>
              <a:t>ve bunun yillik maliyeti ne kadar?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1371600"/>
            <a:ext cx="6217920" cy="15544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54864" cy="15544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7880" y="1463040"/>
            <a:ext cx="5852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Ortalama ozel okul: yilda 120+ kayip aday.</a:t>
            </a:r>
            <a:br/>
            <a:r>
              <a:t>120 x 85.000 TL = 10.2 Milyon TL potansiyel gelir kaybi.</a:t>
            </a:r>
            <a:br/>
            <a:r>
              <a:t>SmartCampus ile bunun %60'ini kurtarabilirsiniz.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154680"/>
            <a:ext cx="640080" cy="640080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32004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20617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200400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Bir ogrenci basarisiz olunca</a:t>
            </a:r>
            <a:br/>
            <a:r>
              <a:t>bunu kac gunde fark ediyorsunuz?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3154680"/>
            <a:ext cx="6217920" cy="15544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0" y="3154680"/>
            <a:ext cx="54864" cy="1554480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80" y="3246120"/>
            <a:ext cx="5852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Sistem olmadan: Karne sonrasi (45-90 gun gecikme).</a:t>
            </a:r>
            <a:br/>
            <a:r>
              <a:t>SmartCampus ile: 48 saat icinde otomatik uyari.</a:t>
            </a:r>
            <a:br/>
            <a:r>
              <a:t>Erken mudahale = ogrenci kurtarma = veli memnuniyeti.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937760"/>
            <a:ext cx="640080" cy="6400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98348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20617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983480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Veliniz cocugunun durumunu</a:t>
            </a:r>
            <a:br/>
            <a:r>
              <a:t>ogrenmek icin ne yapiyor?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4937760"/>
            <a:ext cx="6217920" cy="15544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0" y="4937760"/>
            <a:ext cx="54864" cy="15544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7880" y="5029200"/>
            <a:ext cx="5852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Sistem olmadan: Ogretmeni arar, cevaplanamaz.</a:t>
            </a:r>
            <a:br/>
            <a:r>
              <a:t>SmartCampus ile: Telefonundan anlik gorur.</a:t>
            </a:r>
            <a:br/>
            <a:r>
              <a:t>Seffaflik = guven = sadakat = referans = yeni kayit.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6784848"/>
            <a:ext cx="12191695" cy="73152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59E0B"/>
                </a:solidFill>
              </a:defRPr>
            </a:pPr>
            <a:r>
              <a:t>Ozel Lansman Teklifi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F4444"/>
                </a:solidFill>
              </a:defRPr>
            </a:pPr>
            <a:r>
              <a:t>Ilk 10 Okula Ozel — Sinirli Sureli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737360"/>
            <a:ext cx="2651760" cy="29260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737360"/>
            <a:ext cx="2651760" cy="54864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1920240"/>
            <a:ext cx="1737360" cy="4114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20617"/>
                </a:solidFill>
              </a:defRPr>
            </a:pPr>
            <a:r>
              <a:t>UCRETSIZ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4688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Implementasyon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3464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Normalde 50.000 TL</a:t>
            </a:r>
            <a:br/>
            <a:r>
              <a:t>4 haftalik kurulum +</a:t>
            </a:r>
            <a:br/>
            <a:r>
              <a:t>veri aktarimi + egitim</a:t>
            </a:r>
            <a:br/>
            <a:r>
              <a:t>tamami dahil.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1737360"/>
            <a:ext cx="2651760" cy="29260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83280" y="1737360"/>
            <a:ext cx="2651760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40480" y="1920240"/>
            <a:ext cx="1737360" cy="4114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0" y="19202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20617"/>
                </a:solidFill>
              </a:defRPr>
            </a:pPr>
            <a:r>
              <a:t>UCRETSIZ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4688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 Yil Destek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83464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7/24 teknik destek.</a:t>
            </a:r>
            <a:br/>
            <a:r>
              <a:t>Uzaktan masaustu.</a:t>
            </a:r>
            <a:br/>
            <a:r>
              <a:t>Sinirsiz ticket.</a:t>
            </a:r>
            <a:br/>
            <a:r>
              <a:t>Telefon + chat.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737360"/>
            <a:ext cx="2651760" cy="29260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09360" y="1737360"/>
            <a:ext cx="2651760" cy="54864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66560" y="1920240"/>
            <a:ext cx="1737360" cy="411480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19202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20617"/>
                </a:solidFill>
              </a:defRPr>
            </a:pPr>
            <a:r>
              <a:t>ONCELIKLI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4688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Ozel Modul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83464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Okulunuza ozel modul</a:t>
            </a:r>
            <a:br/>
            <a:r>
              <a:t>gelistirme istekleriniz</a:t>
            </a:r>
            <a:br/>
            <a:r>
              <a:t>oncelikli siraya alinir.</a:t>
            </a:r>
            <a:br/>
            <a:r>
              <a:t>Ucretsiz 2 ozel modul.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35440" y="1737360"/>
            <a:ext cx="2651760" cy="29260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35440" y="1737360"/>
            <a:ext cx="2651760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692640" y="1920240"/>
            <a:ext cx="1737360" cy="41148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92640" y="19202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20617"/>
                </a:solidFill>
              </a:defRPr>
            </a:pPr>
            <a:r>
              <a:t>RISK SIFIR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24688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30 Gun Garanti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283464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</a:defRPr>
            </a:pPr>
            <a:r>
              <a:t>30 gun icerisinde</a:t>
            </a:r>
            <a:br/>
            <a:r>
              <a:t>memnun kalmazsiniz?</a:t>
            </a:r>
            <a:br/>
            <a:r>
              <a:t>Tam iade — soru</a:t>
            </a:r>
            <a:br/>
            <a:r>
              <a:t>sorulmaz, sart aranmaz.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86000" y="4937760"/>
            <a:ext cx="7589520" cy="13716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286000" y="4937760"/>
            <a:ext cx="7589520" cy="54864"/>
          </a:xfrm>
          <a:prstGeom prst="round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468880" y="5074920"/>
            <a:ext cx="7223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F4444"/>
                </a:solidFill>
              </a:defRPr>
            </a:pPr>
            <a:r>
              <a:t>Kalan Kontenjan: 10 Okuldan 7'si Doldu — 3 Yer Kaldi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68880" y="5486400"/>
            <a:ext cx="7223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59E0B"/>
                </a:solidFill>
              </a:defRPr>
            </a:pPr>
            <a:r>
              <a:t>Bu teklif sadece ilk 10 okula ozeldir ve kontenjan doldugunda sona erer.</a:t>
            </a:r>
            <a:br/>
            <a:r>
              <a:t>Karar vermek icin beklemeyin — demoyu BUGUN talep edin.</a:t>
            </a:r>
            <a:br/>
            <a:r>
              <a:t>Yarin bu fiyat ve bu avantajlar gecerli olmayabilir.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11247120" cy="109728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59E0B"/>
                </a:solidFill>
              </a:defRPr>
            </a:pPr>
            <a:r>
              <a:t>VERSIYON 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9 GUNDE 50+ BUYUK GUNCELLEME — TUM YAZILIM YENILENDI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5486400" cy="1600200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4 YENI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31720"/>
            <a:ext cx="5029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Veli Gunluk Kapsul</a:t>
            </a:r>
            <a:br/>
            <a:r>
              <a:t>Akademik Takvim</a:t>
            </a:r>
            <a:br/>
            <a:r>
              <a:t>STEAM Merkezi</a:t>
            </a:r>
            <a:br/>
            <a:r>
              <a:t>Dijital Kutuphane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828800"/>
            <a:ext cx="5486400" cy="16002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920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12 SUPER OZELLIK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331720"/>
            <a:ext cx="5029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Ihbar Hatti, Mood Check-in</a:t>
            </a:r>
            <a:br/>
            <a:r>
              <a:t>Ders Plani Copilot</a:t>
            </a:r>
            <a:br/>
            <a:r>
              <a:t>Akilli Yoklama, AR Harita</a:t>
            </a:r>
            <a:br/>
            <a:r>
              <a:t>Ve 7 ozellik daha...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11880"/>
            <a:ext cx="5486400" cy="16002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7033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26 SMARTI AI ASISTAN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114800"/>
            <a:ext cx="5029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4 batch tamamlandi</a:t>
            </a:r>
            <a:br/>
            <a:r>
              <a:t>Hafiza, Bildirim, Rapor</a:t>
            </a:r>
            <a:br/>
            <a:r>
              <a:t>Veli, Gorev, Analiz</a:t>
            </a:r>
            <a:br/>
            <a:r>
              <a:t>Koc, Kriz, Agent...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611880"/>
            <a:ext cx="5486400" cy="160020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37033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28+ TASARIM KATMANI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4114800"/>
            <a:ext cx="5029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OKLCH renk uzayi</a:t>
            </a:r>
            <a:br/>
            <a:r>
              <a:t>APCA WCAG 3.0</a:t>
            </a:r>
            <a:br/>
            <a:r>
              <a:t>Adaptive Vibrancy</a:t>
            </a:r>
            <a:br/>
            <a:r>
              <a:t>Aurora, Holographic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486400"/>
            <a:ext cx="11247120" cy="91440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577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59E0B"/>
                </a:solidFill>
              </a:defRPr>
            </a:pPr>
            <a:r>
              <a:t>40+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080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Modul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5577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59E0B"/>
                </a:solidFill>
              </a:defRPr>
            </a:pPr>
            <a:r>
              <a:t>1.200+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080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Sekme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5577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59E0B"/>
                </a:solidFill>
              </a:defRPr>
            </a:pPr>
            <a:r>
              <a:t>138+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6080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AI Ozellik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199" y="5577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59E0B"/>
                </a:solidFill>
              </a:defRPr>
            </a:pPr>
            <a:r>
              <a:t>28+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199" y="6080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Tasarim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5577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59E0B"/>
                </a:solidFill>
              </a:defRPr>
            </a:pPr>
            <a:r>
              <a:t>33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0" y="6080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Canonical Modul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Smarti AI — 26 Asistan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</a:defRPr>
            </a:pPr>
            <a:r>
              <a:t>Her Rol Icin Bir Yapay Zeka Yardimcisi — 4 Batch Tamamlandi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1554480" cy="82296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Hafiza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</a:defRPr>
            </a:pPr>
            <a:r>
              <a:t>#1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84832" y="1280160"/>
            <a:ext cx="1554480" cy="82296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84832" y="14173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Bildirim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84832" y="17830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</a:defRPr>
            </a:pPr>
            <a:r>
              <a:t>#2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12464" y="1280160"/>
            <a:ext cx="1554480" cy="8229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12464" y="14173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Rapor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2464" y="17830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</a:defRPr>
            </a:pPr>
            <a:r>
              <a:t>#3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40096" y="1280160"/>
            <a:ext cx="1554480" cy="82296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096" y="14173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Veli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096" y="17830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</a:defRPr>
            </a:pPr>
            <a:r>
              <a:t>#4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67728" y="1280160"/>
            <a:ext cx="1554480" cy="822960"/>
          </a:xfrm>
          <a:prstGeom prst="round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67728" y="14173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Gorev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67728" y="17830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</a:defRPr>
            </a:pPr>
            <a:r>
              <a:t>#5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95360" y="1280160"/>
            <a:ext cx="1554480" cy="822960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0" y="14173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Analiz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17830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</a:defRPr>
            </a:pPr>
            <a:r>
              <a:t>#6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22992" y="1280160"/>
            <a:ext cx="1554480" cy="82296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2992" y="14173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Toplanti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17830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</a:defRPr>
            </a:pPr>
            <a:r>
              <a:t>#7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2240280"/>
            <a:ext cx="1554480" cy="82296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237744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7432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</a:defRPr>
            </a:pPr>
            <a:r>
              <a:t>#8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084832" y="2240280"/>
            <a:ext cx="1554480" cy="822960"/>
          </a:xfrm>
          <a:prstGeom prst="round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84832" y="237744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Transkript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84832" y="27432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</a:defRPr>
            </a:pPr>
            <a:r>
              <a:t>#9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712464" y="2240280"/>
            <a:ext cx="1554480" cy="8229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12464" y="237744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Koc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12464" y="27432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</a:defRPr>
            </a:pPr>
            <a:r>
              <a:t>#10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340096" y="2240280"/>
            <a:ext cx="1554480" cy="822960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40096" y="237744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Gorsel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40096" y="27432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</a:defRPr>
            </a:pPr>
            <a:r>
              <a:t>#11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67728" y="2240280"/>
            <a:ext cx="1554480" cy="82296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67728" y="237744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Bench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67728" y="27432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</a:defRPr>
            </a:pPr>
            <a:r>
              <a:t>#12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595360" y="2240280"/>
            <a:ext cx="1554480" cy="82296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95360" y="237744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Kriz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60" y="27432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</a:defRPr>
            </a:pPr>
            <a:r>
              <a:t>#13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222992" y="2240280"/>
            <a:ext cx="1554480" cy="82296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22992" y="237744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Gunluk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22992" y="27432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</a:defRPr>
            </a:pPr>
            <a:r>
              <a:t>#14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7200" y="3200400"/>
            <a:ext cx="1554480" cy="822960"/>
          </a:xfrm>
          <a:prstGeom prst="round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333756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Duygu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37033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</a:defRPr>
            </a:pPr>
            <a:r>
              <a:t>#15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084832" y="3200400"/>
            <a:ext cx="1554480" cy="82296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84832" y="333756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Takvim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84832" y="37033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</a:defRPr>
            </a:pPr>
            <a:r>
              <a:t>#16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712464" y="3200400"/>
            <a:ext cx="1554480" cy="82296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712464" y="333756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Kampus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12464" y="37033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</a:defRPr>
            </a:pPr>
            <a:r>
              <a:t>#17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340096" y="3200400"/>
            <a:ext cx="1554480" cy="8229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40096" y="333756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Tahmin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40096" y="37033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</a:defRPr>
            </a:pPr>
            <a:r>
              <a:t>#18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967728" y="3200400"/>
            <a:ext cx="1554480" cy="82296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967728" y="333756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Agent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967728" y="37033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</a:defRPr>
            </a:pPr>
            <a:r>
              <a:t>#19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595360" y="3200400"/>
            <a:ext cx="1554480" cy="822960"/>
          </a:xfrm>
          <a:prstGeom prst="round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595360" y="333756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Dokuman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95360" y="37033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</a:defRPr>
            </a:pPr>
            <a:r>
              <a:t>#20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222992" y="3200400"/>
            <a:ext cx="1554480" cy="822960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222992" y="333756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Ceviri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222992" y="37033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</a:defRPr>
            </a:pPr>
            <a:r>
              <a:t>#21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57200" y="4160520"/>
            <a:ext cx="1554480" cy="82296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42976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Ogretmen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" y="46634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</a:defRPr>
            </a:pPr>
            <a:r>
              <a:t>#22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084832" y="4160520"/>
            <a:ext cx="1554480" cy="82296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084832" y="42976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Entegrasyon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084832" y="46634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</a:defRPr>
            </a:pPr>
            <a:r>
              <a:t>#23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712464" y="4160520"/>
            <a:ext cx="1554480" cy="822960"/>
          </a:xfrm>
          <a:prstGeom prst="round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712464" y="42976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Ders Plani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712464" y="46634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</a:defRPr>
            </a:pPr>
            <a:r>
              <a:t>#24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340096" y="4160520"/>
            <a:ext cx="1554480" cy="8229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340096" y="42976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Mood Widget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340096" y="46634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</a:defRPr>
            </a:pPr>
            <a:r>
              <a:t>#25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967728" y="4160520"/>
            <a:ext cx="1554480" cy="822960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967728" y="42976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PDF Cikar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967728" y="46634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</a:defRPr>
            </a:pPr>
            <a:r>
              <a:t>#26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57200" y="5577840"/>
            <a:ext cx="11247120" cy="9144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31520" y="56692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59E0B"/>
                </a:solidFill>
              </a:defRPr>
            </a:pPr>
            <a:r>
              <a:t>26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31520" y="61264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Asistan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926080" y="56692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59E0B"/>
                </a:solidFill>
              </a:defRPr>
            </a:pPr>
            <a:r>
              <a:t>23+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926080" y="61264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Tab Araci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120640" y="56692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59E0B"/>
                </a:solidFill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120640" y="61264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Batch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15199" y="56692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59E0B"/>
                </a:solidFill>
              </a:defRPr>
            </a:pPr>
            <a:r>
              <a:t>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15199" y="61264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Rol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509760" y="56692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59E0B"/>
                </a:solidFill>
              </a:defRPr>
            </a:pPr>
            <a:r>
              <a:t>Saniye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509760" y="61264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Sonuc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12 Super Ozellik — 4 Faz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</a:defRPr>
            </a:pPr>
            <a:r>
              <a:t>9 Gunde 12 Yeni Ozellik — Mevcut Modullere Tam Entegre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097280"/>
            <a:ext cx="2788920" cy="1645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097280"/>
            <a:ext cx="2788920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</a:defRPr>
            </a:pPr>
            <a:r>
              <a:t>Ihbar Hatti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25603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Anonim ihbar — 8 kategori</a:t>
            </a:r>
            <a:br/>
            <a:r>
              <a:t>(zorbalik, intihar, madde,</a:t>
            </a:r>
            <a:br/>
            <a:r>
              <a:t>taciz...) SSG + Rehberlik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097280"/>
            <a:ext cx="2788920" cy="1645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91840" y="1097280"/>
            <a:ext cx="2788920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120700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</a:defRPr>
            </a:pPr>
            <a:r>
              <a:t>Mood Check-in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1554480"/>
            <a:ext cx="25603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Gunluk duygu girisi</a:t>
            </a:r>
            <a:br/>
            <a:r>
              <a:t>5 seviye + 12 etiket</a:t>
            </a:r>
            <a:br/>
            <a:r>
              <a:t>Erken uyari widget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097280"/>
            <a:ext cx="2788920" cy="1645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0" y="1097280"/>
            <a:ext cx="2788920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20700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</a:defRPr>
            </a:pPr>
            <a:r>
              <a:t>Ders Plani Copilot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554480"/>
            <a:ext cx="25603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AI ders plani uretici</a:t>
            </a:r>
            <a:br/>
            <a:r>
              <a:t>5 bilesen: plan, quiz,</a:t>
            </a:r>
            <a:br/>
            <a:r>
              <a:t>etkinlik, slayt, kaynak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1097280"/>
            <a:ext cx="2788920" cy="1645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0" y="1097280"/>
            <a:ext cx="2788920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1160" y="120700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</a:defRPr>
            </a:pPr>
            <a:r>
              <a:t>Veli Yetenek Bankasi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1160" y="1554480"/>
            <a:ext cx="25603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13 meslek kategorisi</a:t>
            </a:r>
            <a:br/>
            <a:r>
              <a:t>81 tanimli meslek</a:t>
            </a:r>
            <a:br/>
            <a:r>
              <a:t>KOI'ye entegre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2880360"/>
            <a:ext cx="2788920" cy="1645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5760" y="2880360"/>
            <a:ext cx="2788920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29900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</a:defRPr>
            </a:pPr>
            <a:r>
              <a:t>Dijital Pasaport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337560"/>
            <a:ext cx="25603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Ogrenci kimlik kart</a:t>
            </a:r>
            <a:br/>
            <a:r>
              <a:t>QR ile dogrulanir</a:t>
            </a:r>
            <a:br/>
            <a:r>
              <a:t>Basari + zaman cizgisi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91840" y="2880360"/>
            <a:ext cx="2788920" cy="1645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291840" y="2880360"/>
            <a:ext cx="2788920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29000" y="29900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</a:defRPr>
            </a:pPr>
            <a:r>
              <a:t>Basari Duvari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3337560"/>
            <a:ext cx="25603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Ogrenci basari sergisi</a:t>
            </a:r>
            <a:br/>
            <a:r>
              <a:t>Fotograf + aciklama</a:t>
            </a:r>
            <a:br/>
            <a:r>
              <a:t>Veli yorum opsiyonu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2880360"/>
            <a:ext cx="2788920" cy="1645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217920" y="2880360"/>
            <a:ext cx="2788920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80" y="29900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</a:defRPr>
            </a:pPr>
            <a:r>
              <a:t>Karsilastirmali Karne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3337560"/>
            <a:ext cx="25603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Ay/donem bazli karne</a:t>
            </a:r>
            <a:br/>
            <a:r>
              <a:t>Gorsel grafikler</a:t>
            </a:r>
            <a:br/>
            <a:r>
              <a:t>Sinif ortalamasi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0" y="2880360"/>
            <a:ext cx="2788920" cy="1645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144000" y="2880360"/>
            <a:ext cx="2788920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81160" y="29900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</a:defRPr>
            </a:pPr>
            <a:r>
              <a:t>Akilli Yoklama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1160" y="3337560"/>
            <a:ext cx="25603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5 yontem: hizli toplu,</a:t>
            </a:r>
            <a:br/>
            <a:r>
              <a:t>tek tek, QR, yuz tanima,</a:t>
            </a:r>
            <a:br/>
            <a:r>
              <a:t>sesli komut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5760" y="4663440"/>
            <a:ext cx="2788920" cy="1645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65760" y="4663440"/>
            <a:ext cx="2788920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477316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</a:defRPr>
            </a:pPr>
            <a:r>
              <a:t>Is Yuku Dengeleyici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5120640"/>
            <a:ext cx="25603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10 yuk tipi</a:t>
            </a:r>
            <a:br/>
            <a:r>
              <a:t>4 durum (burnout/dikkat/</a:t>
            </a:r>
            <a:br/>
            <a:r>
              <a:t>ideal/dusuk)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91840" y="4663440"/>
            <a:ext cx="2788920" cy="1645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291840" y="4663440"/>
            <a:ext cx="2788920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29000" y="477316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</a:defRPr>
            </a:pPr>
            <a:r>
              <a:t>Kampus Wiki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29000" y="5120640"/>
            <a:ext cx="25603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12 kategori</a:t>
            </a:r>
            <a:br/>
            <a:r>
              <a:t>Dahili bilgi tabani</a:t>
            </a:r>
            <a:br/>
            <a:r>
              <a:t>YTE Raporlar alti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17920" y="4663440"/>
            <a:ext cx="2788920" cy="1645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217920" y="4663440"/>
            <a:ext cx="2788920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5080" y="477316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</a:defRPr>
            </a:pPr>
            <a:r>
              <a:t>AR Kampus Haritasi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5120640"/>
            <a:ext cx="25603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15 lokasyon SVG harita</a:t>
            </a:r>
            <a:br/>
            <a:r>
              <a:t>QR ile yonlendirme</a:t>
            </a:r>
            <a:br/>
            <a:r>
              <a:t>Randevu Ziyaretci alti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44000" y="4663440"/>
            <a:ext cx="2788920" cy="1645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144000" y="4663440"/>
            <a:ext cx="2788920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281160" y="477316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</a:defRPr>
            </a:pPr>
            <a:r>
              <a:t>Erken Uyari +3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81160" y="5120640"/>
            <a:ext cx="25603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</a:defRPr>
            </a:pPr>
            <a:r>
              <a:t>Basari Haritasi,</a:t>
            </a:r>
            <a:br/>
            <a:r>
              <a:t>Cross-Alert, Kariyer Pusula</a:t>
            </a:r>
            <a:br/>
            <a:r>
              <a:t>EU modulune entegre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</a:defRPr>
            </a:pPr>
            <a:r>
              <a:t>★ Hicbir ozellik ayri menu degil — dogal akista, mevcut modullere derinlemesine entegre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Premium Tasarim Sistemi 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</a:defRPr>
            </a:pPr>
            <a:r>
              <a:t>28+ Tasarim Katmani — OKLCH, APCA, Canonical, Adaptive Vibrancy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61188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11880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9E0B"/>
                </a:solidFill>
              </a:defRPr>
            </a:pPr>
            <a:r>
              <a:t>OKLCH Renk Uzayi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Algisal homojen renkler</a:t>
            </a:r>
            <a:br/>
            <a:r>
              <a:t>Display-P3 wide gamut</a:t>
            </a:r>
            <a:br/>
            <a:r>
              <a:t>Ayni parlaklik degerleri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188720"/>
            <a:ext cx="361188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97680" y="1188720"/>
            <a:ext cx="3611880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3258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9E0B"/>
                </a:solidFill>
              </a:defRPr>
            </a:pPr>
            <a:r>
              <a:t>APCA WCAG 3.0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7830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Lc -107 = A+ rating</a:t>
            </a:r>
            <a:br/>
            <a:r>
              <a:t>Kontrast standardi</a:t>
            </a:r>
            <a:br/>
            <a:r>
              <a:t>Tum metinler okunabilir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188720"/>
            <a:ext cx="361188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38160" y="1188720"/>
            <a:ext cx="3611880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3258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9E0B"/>
                </a:solidFill>
              </a:defRPr>
            </a:pPr>
            <a:r>
              <a:t>Canonical Palette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17830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16 hue x 7 shade = 112</a:t>
            </a:r>
            <a:br/>
            <a:r>
              <a:t>Tailwind 600-level</a:t>
            </a:r>
            <a:br/>
            <a:r>
              <a:t>33 modul mapping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383280"/>
            <a:ext cx="361188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" y="3383280"/>
            <a:ext cx="3611880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5204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9E0B"/>
                </a:solidFill>
              </a:defRPr>
            </a:pPr>
            <a:r>
              <a:t>Adaptive Vibrancy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97764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Chroma bazli hiyerarsi</a:t>
            </a:r>
            <a:br/>
            <a:r>
              <a:t>Icerik onem skorundan</a:t>
            </a:r>
            <a:br/>
            <a:r>
              <a:t>renk yogunluğu otomatik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3383280"/>
            <a:ext cx="361188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97680" y="3383280"/>
            <a:ext cx="3611880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60" y="35204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9E0B"/>
                </a:solidFill>
              </a:defRPr>
            </a:pPr>
            <a:r>
              <a:t>Living Numbers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397764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Sayilar nefes alir</a:t>
            </a:r>
            <a:br/>
            <a:r>
              <a:t>Kinetic Typography</a:t>
            </a:r>
            <a:br/>
            <a:r>
              <a:t>Magnetic Buttons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3383280"/>
            <a:ext cx="361188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138160" y="3383280"/>
            <a:ext cx="3611880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35204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9E0B"/>
                </a:solidFill>
              </a:defRPr>
            </a:pPr>
            <a:r>
              <a:t>Aurora &amp; Holographic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397764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Aurora Borealis arka plan</a:t>
            </a:r>
            <a:br/>
            <a:r>
              <a:t>Holographic kartlar</a:t>
            </a:r>
            <a:br/>
            <a:r>
              <a:t>Gradient Mesh, Liquid Blobs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760720"/>
            <a:ext cx="11247120" cy="77724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8521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59E0B"/>
                </a:solidFill>
              </a:defRPr>
            </a:pPr>
            <a:r>
              <a:t>28+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626364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Katman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80" y="58521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59E0B"/>
                </a:solidFill>
              </a:defRPr>
            </a:pPr>
            <a:r>
              <a:t>OKLCH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26080" y="626364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Renk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58521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59E0B"/>
                </a:solidFill>
              </a:defRPr>
            </a:pPr>
            <a:r>
              <a:t>WCAG 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0640" y="626364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Erisim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199" y="58521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59E0B"/>
                </a:solidFill>
              </a:defRPr>
            </a:pPr>
            <a:r>
              <a:t>33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199" y="626364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Modul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09760" y="58521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59E0B"/>
                </a:solidFill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09760" y="626364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Bagimlilik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Veli Gunluk Kapsul 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</a:defRPr>
            </a:pPr>
            <a:r>
              <a:t>Yeni Mustakil Modul — Veli icin Tek Kapsulde Gunun Tamami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611880" cy="2103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📦  Gunluk AI Ozet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3337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Her aksam saat 18:00</a:t>
            </a:r>
            <a:br/>
            <a:r>
              <a:t>Veli icin AI ozeti</a:t>
            </a:r>
            <a:br/>
            <a:r>
              <a:t>Whatsapp/SMS opsiyonel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188720"/>
            <a:ext cx="3611880" cy="2103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28016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📦  Cocugun Gunu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45920"/>
            <a:ext cx="3337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Bugun ne ogrendi?</a:t>
            </a:r>
            <a:br/>
            <a:r>
              <a:t>Nasil hissetti?</a:t>
            </a:r>
            <a:br/>
            <a:r>
              <a:t>Hangi etkinlige katildi?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188720"/>
            <a:ext cx="3611880" cy="2103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28016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📦  Akademik Anlik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645920"/>
            <a:ext cx="3337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Bugunku notlar</a:t>
            </a:r>
            <a:br/>
            <a:r>
              <a:t>Devamsizlik durumu</a:t>
            </a:r>
            <a:br/>
            <a:r>
              <a:t>Odev teslim, sinav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74720"/>
            <a:ext cx="3611880" cy="2103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6616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📦  Sosyal-Duygusal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931920"/>
            <a:ext cx="3337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Mood check-in sonucu</a:t>
            </a:r>
            <a:br/>
            <a:r>
              <a:t>Davranis bildirimleri</a:t>
            </a:r>
            <a:br/>
            <a:r>
              <a:t>Rehber notu (varsa)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3474720"/>
            <a:ext cx="3611880" cy="2103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56616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📦  Yarin Hazirligi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3931920"/>
            <a:ext cx="3337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Yarin getirilecekler</a:t>
            </a:r>
            <a:br/>
            <a:r>
              <a:t>Dersler ve etutler</a:t>
            </a:r>
            <a:br/>
            <a:r>
              <a:t>Ozel etkinlikler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3474720"/>
            <a:ext cx="3611880" cy="2103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356616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📦  Ozel 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3931920"/>
            <a:ext cx="3337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Gunun en guzel ani</a:t>
            </a:r>
            <a:br/>
            <a:r>
              <a:t>Ogretmen yorumu</a:t>
            </a:r>
            <a:br/>
            <a:r>
              <a:t>Fotograf opsiyonel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943600"/>
            <a:ext cx="11247120" cy="64008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"Velinin her gun 50 mesaja ihtiyaci yok. Ozenle hazirlanmis 1 ozetin huzuruna ihtiyaci var."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Akademik Takvim 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</a:defRPr>
            </a:pPr>
            <a:r>
              <a:t>Yeni Mustakil Modul — Tum Akademik Yili Tek Takvimde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611880" cy="2103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📅  Yillik Takvim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3337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MEB egitim takvimi</a:t>
            </a:r>
            <a:br/>
            <a:r>
              <a:t>Tatil ve aralar</a:t>
            </a:r>
            <a:br/>
            <a:r>
              <a:t>Resmi tatiller, ozel gunler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188720"/>
            <a:ext cx="3611880" cy="2103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28016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📅  Sinav Programi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45920"/>
            <a:ext cx="3337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Yazili tarihleri</a:t>
            </a:r>
            <a:br/>
            <a:r>
              <a:t>Deneme programi</a:t>
            </a:r>
            <a:br/>
            <a:r>
              <a:t>TYT/AYT/LGS</a:t>
            </a:r>
            <a:br/>
            <a:r>
              <a:t>Proje teslim tarihleri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188720"/>
            <a:ext cx="3611880" cy="2103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28016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📅  Etkinlik Takvimi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645920"/>
            <a:ext cx="3337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Kulup etkinlikleri</a:t>
            </a:r>
            <a:br/>
            <a:r>
              <a:t>Veli toplantilari</a:t>
            </a:r>
            <a:br/>
            <a:r>
              <a:t>Gezi programlari</a:t>
            </a:r>
            <a:br/>
            <a:r>
              <a:t>Konferans/seminer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74720"/>
            <a:ext cx="3611880" cy="2103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6616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📅  Filtreleme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931920"/>
            <a:ext cx="3337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Sinif/sube bazli</a:t>
            </a:r>
            <a:br/>
            <a:r>
              <a:t>Ders/ogretmen bazli</a:t>
            </a:r>
            <a:br/>
            <a:r>
              <a:t>Kategori bazli</a:t>
            </a:r>
            <a:br/>
            <a:r>
              <a:t>Kisisellestirilebilir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3474720"/>
            <a:ext cx="3611880" cy="2103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56616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📅  ICS Export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3931920"/>
            <a:ext cx="3337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Google Calendar</a:t>
            </a:r>
            <a:br/>
            <a:r>
              <a:t>Apple Calendar</a:t>
            </a:r>
            <a:br/>
            <a:r>
              <a:t>Outlook destegi</a:t>
            </a:r>
            <a:br/>
            <a:r>
              <a:t>Gunluk senkron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3474720"/>
            <a:ext cx="3611880" cy="2103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356616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📅  Hatirlatici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3931920"/>
            <a:ext cx="3337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Otomatik bildirim</a:t>
            </a:r>
            <a:br/>
            <a:r>
              <a:t>1 gun once / 1 saat once</a:t>
            </a:r>
            <a:br/>
            <a:r>
              <a:t>Veli + ogrenci</a:t>
            </a:r>
            <a:br/>
            <a:r>
              <a:t>Iptal/erteleme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943600"/>
            <a:ext cx="11247120" cy="64008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"Bir okulun zamanini yoneten, gelecegini yonetir."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STEAM Merkezi 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</a:defRPr>
            </a:pPr>
            <a:r>
              <a:t>Yeni Mustakil Modul — Bilim, Teknoloji, Muhendislik, Sanat, Matematik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611880" cy="2103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🔬  Bilim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3337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Fizik, kimya, biyoloji</a:t>
            </a:r>
            <a:br/>
            <a:r>
              <a:t>Deneyler ve laboratuvar</a:t>
            </a:r>
            <a:br/>
            <a:r>
              <a:t>200+ etkinlik</a:t>
            </a:r>
            <a:br/>
            <a:r>
              <a:t>VR/AR destekli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188720"/>
            <a:ext cx="3611880" cy="2103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28016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🔬  Teknoloji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45920"/>
            <a:ext cx="3337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Kodlama (Python, JS)</a:t>
            </a:r>
            <a:br/>
            <a:r>
              <a:t>3D modelleme</a:t>
            </a:r>
            <a:br/>
            <a:r>
              <a:t>Robotik temelleri</a:t>
            </a:r>
            <a:br/>
            <a:r>
              <a:t>AI ve makine ogrenmesi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188720"/>
            <a:ext cx="3611880" cy="2103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28016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🔬  Muhendislik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645920"/>
            <a:ext cx="3337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Mekanik tasarım</a:t>
            </a:r>
            <a:br/>
            <a:r>
              <a:t>Elektronik prototipler</a:t>
            </a:r>
            <a:br/>
            <a:r>
              <a:t>Kopru insa, robotik</a:t>
            </a:r>
            <a:br/>
            <a:r>
              <a:t>Problem cozme atelyesi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74720"/>
            <a:ext cx="3611880" cy="2103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6616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🔬  Sanat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931920"/>
            <a:ext cx="3337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Dijital sanat, grafik</a:t>
            </a:r>
            <a:br/>
            <a:r>
              <a:t>Animasyon, video</a:t>
            </a:r>
            <a:br/>
            <a:r>
              <a:t>3D heykeltraslik</a:t>
            </a:r>
            <a:br/>
            <a:r>
              <a:t>Muzik prodüksiyon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3474720"/>
            <a:ext cx="3611880" cy="2103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56616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🔬  Matematik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3931920"/>
            <a:ext cx="3337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Modelleme, gorsellestirme</a:t>
            </a:r>
            <a:br/>
            <a:r>
              <a:t>GeoGebra, Desmos</a:t>
            </a:r>
            <a:br/>
            <a:r>
              <a:t>Istatistik ve veri</a:t>
            </a:r>
            <a:br/>
            <a:r>
              <a:t>Reel hayat uygulamalar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3474720"/>
            <a:ext cx="3611880" cy="2103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356616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🔬  Proje Bazli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3931920"/>
            <a:ext cx="3337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Tasarim odakli ogrenme</a:t>
            </a:r>
            <a:br/>
            <a:r>
              <a:t>Grup projeler</a:t>
            </a:r>
            <a:br/>
            <a:r>
              <a:t>TUBITAK proje destegi</a:t>
            </a:r>
            <a:br/>
            <a:r>
              <a:t>Bilim fuari hazirligi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943600"/>
            <a:ext cx="11247120" cy="64008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"21. yuzyil yeteneklerini ezberle degil, yaparak ogrenirsiniz. STEAM bunu kurumsallastirir."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54864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6803136"/>
            <a:ext cx="12191695" cy="54864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Gelecegin Okulu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59E0B"/>
                </a:solidFill>
              </a:defRPr>
            </a:pPr>
            <a:r>
              <a:t>Bugun Basliyor.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92608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</a:defRPr>
            </a:pPr>
            <a:r>
              <a:t>SmartCampus AI ile okulunuzu dijital caga tasiyin.</a:t>
            </a:r>
            <a:br/>
            <a:r>
              <a:t>40+ modul, 1.200+ sekme, 138+ AI ozellik, 28+ tasarim katmani — tek platformda.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4389120"/>
            <a:ext cx="2468880" cy="50292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438912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20617"/>
                </a:solidFill>
              </a:defRPr>
            </a:pPr>
            <a:r>
              <a:t>Ucretsiz Demo Talep Edin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4389120"/>
            <a:ext cx="2468880" cy="502920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438912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Canli Sunum Randevusu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4389120"/>
            <a:ext cx="2468880" cy="50292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438912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Fiyat Teklifi Alin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303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</a:defRPr>
            </a:pPr>
            <a:r>
              <a:t>info@smartcampus.ai  |  +90 (212) 555 0000  |  www.smartcampus.ai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943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9E0B"/>
                </a:solidFill>
              </a:defRPr>
            </a:pPr>
            <a:r>
              <a:t>SmartCampus AI — Turkiye'nin En Kapsamli Egitim Yonetim Platformu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